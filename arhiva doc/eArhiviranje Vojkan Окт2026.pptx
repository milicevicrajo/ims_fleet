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8" r:id="rId3"/>
    <p:sldId id="713" r:id="rId4"/>
    <p:sldId id="1118" r:id="rId5"/>
    <p:sldId id="1145" r:id="rId6"/>
    <p:sldId id="1146" r:id="rId7"/>
    <p:sldId id="1147" r:id="rId8"/>
    <p:sldId id="1149" r:id="rId9"/>
    <p:sldId id="1148" r:id="rId10"/>
    <p:sldId id="1150" r:id="rId11"/>
    <p:sldId id="1151" r:id="rId12"/>
    <p:sldId id="1152" r:id="rId13"/>
    <p:sldId id="1153" r:id="rId14"/>
    <p:sldId id="1144" r:id="rId15"/>
    <p:sldId id="1068" r:id="rId16"/>
    <p:sldId id="828" r:id="rId17"/>
    <p:sldId id="829" r:id="rId18"/>
    <p:sldId id="1069" r:id="rId19"/>
    <p:sldId id="1070" r:id="rId20"/>
    <p:sldId id="1071" r:id="rId21"/>
    <p:sldId id="1072" r:id="rId22"/>
    <p:sldId id="1233" r:id="rId23"/>
    <p:sldId id="1234" r:id="rId24"/>
    <p:sldId id="1073" r:id="rId25"/>
    <p:sldId id="1074" r:id="rId26"/>
    <p:sldId id="1077" r:id="rId27"/>
    <p:sldId id="1076" r:id="rId28"/>
    <p:sldId id="1078" r:id="rId29"/>
    <p:sldId id="1079" r:id="rId30"/>
    <p:sldId id="1080" r:id="rId31"/>
    <p:sldId id="1081" r:id="rId32"/>
    <p:sldId id="1135" r:id="rId33"/>
    <p:sldId id="1082" r:id="rId34"/>
    <p:sldId id="1136" r:id="rId35"/>
    <p:sldId id="1137" r:id="rId36"/>
    <p:sldId id="1138" r:id="rId37"/>
    <p:sldId id="1139" r:id="rId38"/>
    <p:sldId id="1140" r:id="rId39"/>
    <p:sldId id="1142" r:id="rId40"/>
    <p:sldId id="1083" r:id="rId41"/>
    <p:sldId id="1084" r:id="rId42"/>
    <p:sldId id="1085" r:id="rId43"/>
    <p:sldId id="1086" r:id="rId44"/>
    <p:sldId id="1087" r:id="rId45"/>
    <p:sldId id="1088" r:id="rId46"/>
    <p:sldId id="1089" r:id="rId47"/>
    <p:sldId id="1090" r:id="rId48"/>
    <p:sldId id="1091" r:id="rId49"/>
    <p:sldId id="852" r:id="rId50"/>
    <p:sldId id="1075" r:id="rId52"/>
    <p:sldId id="1106" r:id="rId53"/>
    <p:sldId id="1105" r:id="rId54"/>
    <p:sldId id="1107" r:id="rId55"/>
    <p:sldId id="905" r:id="rId56"/>
    <p:sldId id="882" r:id="rId57"/>
    <p:sldId id="883" r:id="rId58"/>
    <p:sldId id="884" r:id="rId59"/>
    <p:sldId id="961" r:id="rId60"/>
    <p:sldId id="988" r:id="rId61"/>
    <p:sldId id="991" r:id="rId62"/>
    <p:sldId id="962" r:id="rId63"/>
    <p:sldId id="963" r:id="rId64"/>
    <p:sldId id="964" r:id="rId65"/>
    <p:sldId id="969" r:id="rId66"/>
    <p:sldId id="1098" r:id="rId67"/>
    <p:sldId id="970" r:id="rId68"/>
    <p:sldId id="998" r:id="rId69"/>
    <p:sldId id="1123" r:id="rId70"/>
    <p:sldId id="1124" r:id="rId71"/>
    <p:sldId id="993" r:id="rId72"/>
    <p:sldId id="827" r:id="rId73"/>
    <p:sldId id="844" r:id="rId74"/>
    <p:sldId id="845" r:id="rId75"/>
    <p:sldId id="1127" r:id="rId76"/>
    <p:sldId id="914" r:id="rId77"/>
    <p:sldId id="915" r:id="rId78"/>
    <p:sldId id="928" r:id="rId79"/>
    <p:sldId id="929" r:id="rId80"/>
    <p:sldId id="930" r:id="rId81"/>
    <p:sldId id="931" r:id="rId82"/>
    <p:sldId id="932" r:id="rId83"/>
    <p:sldId id="922" r:id="rId84"/>
    <p:sldId id="771" r:id="rId85"/>
    <p:sldId id="923" r:id="rId86"/>
    <p:sldId id="924" r:id="rId87"/>
    <p:sldId id="925" r:id="rId88"/>
    <p:sldId id="933" r:id="rId89"/>
    <p:sldId id="934" r:id="rId90"/>
    <p:sldId id="935" r:id="rId91"/>
    <p:sldId id="937" r:id="rId92"/>
    <p:sldId id="774" r:id="rId93"/>
    <p:sldId id="775" r:id="rId94"/>
    <p:sldId id="315" r:id="rId9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lan Negovanovic" initials="M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79" autoAdjust="0"/>
    <p:restoredTop sz="92308" autoAdjust="0"/>
  </p:normalViewPr>
  <p:slideViewPr>
    <p:cSldViewPr snapToGrid="0">
      <p:cViewPr varScale="1">
        <p:scale>
          <a:sx n="68" d="100"/>
          <a:sy n="68" d="100"/>
        </p:scale>
        <p:origin x="452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commentAuthors" Target="commentAuthors.xml"/><Relationship Id="rId98" Type="http://schemas.openxmlformats.org/officeDocument/2006/relationships/tableStyles" Target="tableStyles.xml"/><Relationship Id="rId97" Type="http://schemas.openxmlformats.org/officeDocument/2006/relationships/viewProps" Target="viewProps.xml"/><Relationship Id="rId96" Type="http://schemas.openxmlformats.org/officeDocument/2006/relationships/presProps" Target="presProps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  <a:endParaRPr lang="en-US" altLang="zh-CN" noProof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  <a:endParaRPr lang="en-US" altLang="zh-CN" noProof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mailto:stankovic.Vojkan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1968" y="1106424"/>
            <a:ext cx="10064432" cy="2445409"/>
          </a:xfrm>
        </p:spPr>
        <p:txBody>
          <a:bodyPr>
            <a:noAutofit/>
          </a:bodyPr>
          <a:lstStyle/>
          <a:p>
            <a:r>
              <a:rPr lang="sr-Cyrl-RS" altLang="sr-Cyrl-RS" b="1" dirty="0"/>
              <a:t>еАРХИВИРАЊЕ</a:t>
            </a:r>
            <a:br>
              <a:rPr lang="sr-Cyrl-RS" b="1" dirty="0"/>
            </a:br>
            <a:br>
              <a:rPr lang="sr-Cyrl-RS" b="1" dirty="0"/>
            </a:br>
            <a:r>
              <a:rPr lang="en-US" altLang="sr-Cyrl-RS" b="1" dirty="0">
                <a:solidFill>
                  <a:srgbClr val="FFC000"/>
                </a:solidFill>
              </a:rPr>
              <a:t>ПОСТУПАЊА И</a:t>
            </a:r>
            <a:r>
              <a:rPr lang="sr-Cyrl-RS" b="1" dirty="0">
                <a:solidFill>
                  <a:srgbClr val="FFC000"/>
                </a:solidFill>
              </a:rPr>
              <a:t> РЕАЛН</a:t>
            </a:r>
            <a:r>
              <a:rPr lang="en-US" altLang="sr-Cyrl-RS" b="1" dirty="0">
                <a:solidFill>
                  <a:srgbClr val="FFC000"/>
                </a:solidFill>
              </a:rPr>
              <a:t>А</a:t>
            </a:r>
            <a:r>
              <a:rPr lang="sr-Cyrl-RS" b="1" dirty="0">
                <a:solidFill>
                  <a:srgbClr val="FFC000"/>
                </a:solidFill>
              </a:rPr>
              <a:t> РЕШЕЊА</a:t>
            </a:r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87015" y="4141152"/>
            <a:ext cx="7344816" cy="1752600"/>
          </a:xfrm>
        </p:spPr>
        <p:txBody>
          <a:bodyPr/>
          <a:lstStyle/>
          <a:p>
            <a:endParaRPr lang="sr-Cyrl-RS" sz="3600" b="1" dirty="0"/>
          </a:p>
          <a:p>
            <a:r>
              <a:rPr lang="en-US" altLang="sr-Cyrl-RS" sz="3600" b="1" dirty="0">
                <a:solidFill>
                  <a:schemeClr val="tx1"/>
                </a:solidFill>
              </a:rPr>
              <a:t>Војкан Станковић</a:t>
            </a:r>
            <a:endParaRPr lang="sr-Cyrl-RS" sz="3600" b="1" dirty="0">
              <a:solidFill>
                <a:schemeClr val="tx1"/>
              </a:solidFill>
            </a:endParaRPr>
          </a:p>
          <a:p>
            <a:endParaRPr lang="sr-Cyrl-RS" sz="3600" b="1" dirty="0"/>
          </a:p>
          <a:p>
            <a:r>
              <a:rPr lang="en-US" altLang="sr-Cyrl-RS" sz="3600" dirty="0"/>
              <a:t>Јул 2021</a:t>
            </a:r>
            <a:endParaRPr lang="en-US" altLang="sr-Cyrl-RS" sz="3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536" y="0"/>
            <a:ext cx="8229600" cy="778098"/>
          </a:xfrm>
        </p:spPr>
        <p:txBody>
          <a:bodyPr/>
          <a:lstStyle/>
          <a:p>
            <a:r>
              <a:rPr lang="en-US" b="1" dirty="0"/>
              <a:t>САДРЖАЈ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360" y="1230312"/>
            <a:ext cx="11480800" cy="4397375"/>
          </a:xfrm>
        </p:spPr>
        <p:txBody>
          <a:bodyPr/>
          <a:lstStyle/>
          <a:p>
            <a:r>
              <a:rPr lang="sr-Cyrl-RS" altLang="sr-Cyrl-RS" dirty="0"/>
              <a:t>еАрхив – обавезе поступања и начин коришћења</a:t>
            </a:r>
            <a:endParaRPr lang="en-US" altLang="sr-Cyrl-RS" dirty="0"/>
          </a:p>
          <a:p>
            <a:r>
              <a:rPr lang="sr-Cyrl-RS" altLang="sr-Cyrl-RS" dirty="0"/>
              <a:t>Услови и оквири коришћења еАрхивирање</a:t>
            </a:r>
            <a:endParaRPr lang="sr-Cyrl-RS" altLang="sr-Cyrl-RS" dirty="0"/>
          </a:p>
          <a:p>
            <a:r>
              <a:rPr lang="en-US" altLang="sr-Cyrl-RS" dirty="0" err="1"/>
              <a:t>Специфичност</a:t>
            </a:r>
            <a:r>
              <a:rPr lang="en-US" altLang="sr-Cyrl-RS" dirty="0"/>
              <a:t> </a:t>
            </a:r>
            <a:r>
              <a:rPr lang="sr-Cyrl-RS" altLang="sr-Cyrl-RS" dirty="0"/>
              <a:t>обраде</a:t>
            </a:r>
            <a:r>
              <a:rPr lang="en-US" altLang="sr-Cyrl-RS" dirty="0"/>
              <a:t> </a:t>
            </a:r>
            <a:r>
              <a:rPr lang="en-US" altLang="sr-Cyrl-RS" dirty="0" err="1"/>
              <a:t>појединих</a:t>
            </a:r>
            <a:r>
              <a:rPr lang="en-US" altLang="sr-Cyrl-RS" dirty="0"/>
              <a:t> </a:t>
            </a:r>
            <a:r>
              <a:rPr lang="sr-Cyrl-RS" altLang="sr-Cyrl-RS" dirty="0"/>
              <a:t>еД</a:t>
            </a:r>
            <a:r>
              <a:rPr lang="en-US" altLang="sr-Cyrl-RS" dirty="0" err="1"/>
              <a:t>окумената</a:t>
            </a:r>
            <a:endParaRPr lang="en-US" altLang="sr-Cyrl-RS" dirty="0"/>
          </a:p>
          <a:p>
            <a:r>
              <a:rPr lang="en-US" altLang="sr-Cyrl-RS" dirty="0" err="1"/>
              <a:t>Услови</a:t>
            </a:r>
            <a:r>
              <a:rPr lang="en-US" altLang="sr-Cyrl-RS" dirty="0"/>
              <a:t> </a:t>
            </a:r>
            <a:r>
              <a:rPr lang="en-US" altLang="sr-Cyrl-RS" dirty="0" err="1"/>
              <a:t>израде</a:t>
            </a:r>
            <a:r>
              <a:rPr lang="en-US" altLang="sr-Cyrl-RS" dirty="0"/>
              <a:t> </a:t>
            </a:r>
            <a:r>
              <a:rPr lang="en-US" altLang="sr-Cyrl-RS" dirty="0" err="1"/>
              <a:t>копија</a:t>
            </a:r>
            <a:r>
              <a:rPr lang="en-US" altLang="sr-Cyrl-RS" dirty="0"/>
              <a:t> </a:t>
            </a:r>
            <a:r>
              <a:rPr lang="sr-Cyrl-RS" altLang="sr-Cyrl-RS" dirty="0"/>
              <a:t>дигитализованих и еДокумената</a:t>
            </a:r>
            <a:endParaRPr lang="en-US" altLang="sr-Cyrl-RS" dirty="0"/>
          </a:p>
          <a:p>
            <a:r>
              <a:rPr lang="en-US" altLang="sr-Cyrl-RS" dirty="0"/>
              <a:t>Примери процедура обраде и </a:t>
            </a:r>
            <a:r>
              <a:rPr lang="sr-Cyrl-RS" altLang="sr-Cyrl-RS" dirty="0"/>
              <a:t>еА</a:t>
            </a:r>
            <a:r>
              <a:rPr lang="en-US" altLang="sr-Cyrl-RS" dirty="0" err="1"/>
              <a:t>рхивирања</a:t>
            </a:r>
            <a:endParaRPr lang="sr-Cyrl-RS" altLang="sr-Cyrl-RS" dirty="0"/>
          </a:p>
          <a:p>
            <a:r>
              <a:rPr lang="sr-Cyrl-RS" altLang="sr-Cyrl-RS" dirty="0"/>
              <a:t>Практични примери еПисарнице, еДеловодника и еАрхиве</a:t>
            </a:r>
            <a:endParaRPr lang="en-US" altLang="sr-Cyrl-R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1578" y="1669058"/>
            <a:ext cx="9144000" cy="1851025"/>
          </a:xfrm>
        </p:spPr>
        <p:txBody>
          <a:bodyPr>
            <a:noAutofit/>
          </a:bodyPr>
          <a:lstStyle/>
          <a:p>
            <a:r>
              <a:rPr lang="sr-Cyrl-RS" altLang="en-US" sz="4400" b="1" dirty="0"/>
              <a:t>Информациони систем</a:t>
            </a:r>
            <a:br>
              <a:rPr lang="sr-Cyrl-RS" altLang="en-US" sz="4400" b="1" dirty="0"/>
            </a:br>
            <a:r>
              <a:rPr lang="sr-Cyrl-RS" altLang="en-US" sz="4400" b="1" dirty="0"/>
              <a:t>еАРХИВ</a:t>
            </a:r>
            <a:endParaRPr lang="en-US" altLang="sr-Cyrl-RS" sz="3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ПРИЈАВА ПРАВНИХ ЛИЦА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44339" y="895546"/>
            <a:ext cx="10028926" cy="5771954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еИД за Одговорно лице-Заступника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27" y="927386"/>
            <a:ext cx="11044897" cy="59306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ОБАВЕЗЕ У 2026 години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93040" lvl="1" indent="-193040" algn="just">
              <a:buFont typeface="Wingdings" panose="05000000000000000000" pitchFamily="2" charset="2"/>
              <a:buChar char="§"/>
            </a:pPr>
            <a:r>
              <a:rPr lang="sr-Cyrl-RS" b="1" dirty="0">
                <a:latin typeface="Cambria" panose="02040503050406030204" pitchFamily="18" charset="0"/>
              </a:rPr>
              <a:t>Израда нове или усклађивање Листе категорија архивске грађе на основу Каталога поступака</a:t>
            </a:r>
            <a:endParaRPr lang="sr-Cyrl-RS" b="1" dirty="0">
              <a:latin typeface="Cambria" panose="02040503050406030204" pitchFamily="18" charset="0"/>
            </a:endParaRPr>
          </a:p>
          <a:p>
            <a:pPr marL="0" lvl="1" indent="0" algn="just">
              <a:buNone/>
            </a:pPr>
            <a:r>
              <a:rPr lang="sr-Cyrl-RS" dirty="0">
                <a:latin typeface="Cambria" panose="02040503050406030204" pitchFamily="18" charset="0"/>
              </a:rPr>
              <a:t>*напомена: за органе управе </a:t>
            </a:r>
            <a:r>
              <a:rPr lang="sr-Cyrl-RS" b="1" dirty="0">
                <a:latin typeface="Cambria" panose="02040503050406030204" pitchFamily="18" charset="0"/>
              </a:rPr>
              <a:t>листа се аутоматски креира у еАрхиву на основу поступака учитаних у Писарницу </a:t>
            </a:r>
            <a:r>
              <a:rPr lang="sr-Cyrl-RS" dirty="0">
                <a:latin typeface="Cambria" panose="02040503050406030204" pitchFamily="18" charset="0"/>
              </a:rPr>
              <a:t>(Каталог поступака)</a:t>
            </a:r>
            <a:endParaRPr lang="sr-Cyrl-RS" dirty="0">
              <a:latin typeface="Cambria" panose="02040503050406030204" pitchFamily="18" charset="0"/>
            </a:endParaRPr>
          </a:p>
          <a:p>
            <a:pPr marL="0" lvl="1" indent="0" algn="just">
              <a:buNone/>
            </a:pPr>
            <a:endParaRPr lang="sr-Cyrl-RS" dirty="0">
              <a:latin typeface="Cambria" panose="02040503050406030204" pitchFamily="18" charset="0"/>
            </a:endParaRPr>
          </a:p>
          <a:p>
            <a:pPr marL="193040" lvl="1" indent="-193040" algn="just">
              <a:buFont typeface="Wingdings" panose="05000000000000000000" pitchFamily="2" charset="2"/>
              <a:buChar char="§"/>
            </a:pPr>
            <a:r>
              <a:rPr lang="sr-Cyrl-RS" dirty="0">
                <a:latin typeface="Cambria" panose="02040503050406030204" pitchFamily="18" charset="0"/>
              </a:rPr>
              <a:t>У случају да поседујете одобрену Листу категорија, није потребно креирати нову али је треба учитати у ИС еАрхив</a:t>
            </a:r>
            <a:endParaRPr lang="sr-Cyrl-RS" dirty="0">
              <a:latin typeface="Cambria" panose="02040503050406030204" pitchFamily="18" charset="0"/>
            </a:endParaRPr>
          </a:p>
          <a:p>
            <a:pPr marL="193040" lvl="1" indent="-193040" algn="just">
              <a:buFont typeface="Wingdings" panose="05000000000000000000" pitchFamily="2" charset="2"/>
              <a:buChar char="§"/>
            </a:pPr>
            <a:endParaRPr lang="sr-Cyrl-RS" dirty="0">
              <a:latin typeface="Cambria" panose="02040503050406030204" pitchFamily="18" charset="0"/>
            </a:endParaRPr>
          </a:p>
          <a:p>
            <a:pPr marL="193040" lvl="1" indent="-193040" algn="just">
              <a:buFont typeface="Wingdings" panose="05000000000000000000" pitchFamily="2" charset="2"/>
              <a:buChar char="§"/>
            </a:pPr>
            <a:r>
              <a:rPr lang="sr-Cyrl-RS" dirty="0">
                <a:latin typeface="Cambria" panose="02040503050406030204" pitchFamily="18" charset="0"/>
              </a:rPr>
              <a:t>Препоручује се израда нове Листе категорија јер користи у даљем раду у ИС еАрхив</a:t>
            </a:r>
            <a:endParaRPr lang="sr-Cyrl-RS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КАТАЛОГ ПОСТУПАКА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94" y="1351205"/>
            <a:ext cx="12126012" cy="51781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ОБАВЕЗЕ </a:t>
            </a:r>
            <a:r>
              <a:rPr lang="en-US" altLang="sr-Cyrl-RS" dirty="0"/>
              <a:t>ДО АПРИЛА</a:t>
            </a:r>
            <a:r>
              <a:rPr lang="sr-Cyrl-RS" dirty="0"/>
              <a:t> 202</a:t>
            </a:r>
            <a:r>
              <a:rPr lang="en-US" altLang="sr-Cyrl-RS" dirty="0"/>
              <a:t>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 algn="just">
              <a:buNone/>
            </a:pPr>
            <a:endParaRPr lang="sr-Cyrl-RS" sz="2000" dirty="0">
              <a:latin typeface="Cambria" panose="02040503050406030204" pitchFamily="18" charset="0"/>
            </a:endParaRPr>
          </a:p>
          <a:p>
            <a:pPr marL="193040" lvl="1" indent="-193040" algn="just">
              <a:buFont typeface="Wingdings" panose="05000000000000000000" pitchFamily="2" charset="2"/>
              <a:buChar char="§"/>
            </a:pPr>
            <a:r>
              <a:rPr lang="sr-Cyrl-RS" sz="2400" b="1" dirty="0">
                <a:latin typeface="Cambria" panose="02040503050406030204" pitchFamily="18" charset="0"/>
              </a:rPr>
              <a:t>слање захтева </a:t>
            </a:r>
            <a:r>
              <a:rPr lang="sr-Cyrl-RS" sz="2400" dirty="0">
                <a:latin typeface="Cambria" panose="02040503050406030204" pitchFamily="18" charset="0"/>
              </a:rPr>
              <a:t>за одобравање приступа софтверском решењу еАрхив (овлашћено лице стваралаца / ималаца које ће обављати послове архивара)</a:t>
            </a:r>
            <a:endParaRPr lang="en-GB" sz="2400" dirty="0">
              <a:latin typeface="Cambria" panose="02040503050406030204" pitchFamily="18" charset="0"/>
            </a:endParaRPr>
          </a:p>
          <a:p>
            <a:pPr marL="193040" lvl="1" indent="-193040" algn="just">
              <a:buFont typeface="Wingdings" panose="05000000000000000000" pitchFamily="2" charset="2"/>
              <a:buChar char="§"/>
            </a:pPr>
            <a:endParaRPr lang="sr-Cyrl-RS" sz="3200" dirty="0">
              <a:latin typeface="Cambria" panose="02040503050406030204" pitchFamily="18" charset="0"/>
            </a:endParaRPr>
          </a:p>
          <a:p>
            <a:pPr marL="193040" lvl="1" indent="-193040" algn="just">
              <a:buFont typeface="Wingdings" panose="05000000000000000000" pitchFamily="2" charset="2"/>
              <a:buChar char="§"/>
            </a:pPr>
            <a:r>
              <a:rPr lang="sr-Cyrl-RS" sz="2400" b="1" dirty="0">
                <a:latin typeface="Cambria" panose="02040503050406030204" pitchFamily="18" charset="0"/>
              </a:rPr>
              <a:t>предаја Листе</a:t>
            </a:r>
            <a:r>
              <a:rPr lang="sr-Cyrl-RS" sz="2400" dirty="0">
                <a:latin typeface="Cambria" panose="02040503050406030204" pitchFamily="18" charset="0"/>
              </a:rPr>
              <a:t> категориј</a:t>
            </a:r>
            <a:r>
              <a:rPr lang="en-GB" sz="2400" dirty="0">
                <a:latin typeface="Cambria" panose="02040503050406030204" pitchFamily="18" charset="0"/>
              </a:rPr>
              <a:t>a </a:t>
            </a:r>
            <a:r>
              <a:rPr lang="sr-Cyrl-RS" sz="2400" dirty="0">
                <a:latin typeface="Cambria" panose="02040503050406030204" pitchFamily="18" charset="0"/>
              </a:rPr>
              <a:t>архивске грађе и документарног материјала са предложеним роковима чувања шаље се </a:t>
            </a:r>
            <a:r>
              <a:rPr lang="sr-Cyrl-RS" sz="2400" b="1" dirty="0">
                <a:latin typeface="Cambria" panose="02040503050406030204" pitchFamily="18" charset="0"/>
              </a:rPr>
              <a:t>на одобравање </a:t>
            </a:r>
            <a:r>
              <a:rPr lang="sr-Cyrl-RS" sz="2400" dirty="0">
                <a:latin typeface="Cambria" panose="02040503050406030204" pitchFamily="18" charset="0"/>
              </a:rPr>
              <a:t>надлежном јавном архиву (путем еАрхива)</a:t>
            </a:r>
            <a:endParaRPr lang="sr-Cyrl-RS" sz="2400" dirty="0">
              <a:latin typeface="Cambria" panose="02040503050406030204" pitchFamily="18" charset="0"/>
            </a:endParaRPr>
          </a:p>
          <a:p>
            <a:pPr marL="593090" lvl="2" indent="-193040" algn="just">
              <a:buFont typeface="Wingdings" panose="05000000000000000000" pitchFamily="2" charset="2"/>
              <a:buChar char="§"/>
            </a:pPr>
            <a:endParaRPr lang="en-GB" sz="2800" dirty="0">
              <a:latin typeface="Cambria" panose="02040503050406030204" pitchFamily="18" charset="0"/>
            </a:endParaRPr>
          </a:p>
          <a:p>
            <a:pPr marL="193040" lvl="1" indent="-193040" algn="just">
              <a:buFont typeface="Wingdings" panose="05000000000000000000" pitchFamily="2" charset="2"/>
              <a:buChar char="§"/>
            </a:pPr>
            <a:r>
              <a:rPr lang="sr-Cyrl-RS" sz="2400" b="1" dirty="0">
                <a:latin typeface="Cambria" panose="02040503050406030204" pitchFamily="18" charset="0"/>
              </a:rPr>
              <a:t>учитавање Архивске књиге у електронском формату </a:t>
            </a:r>
            <a:r>
              <a:rPr lang="sr-Cyrl-RS" sz="2400" dirty="0">
                <a:latin typeface="Cambria" panose="02040503050406030204" pitchFamily="18" charset="0"/>
              </a:rPr>
              <a:t>путем еАрхива за претходну, 202</a:t>
            </a:r>
            <a:r>
              <a:rPr lang="en-US" altLang="sr-Cyrl-RS" sz="2400" dirty="0">
                <a:latin typeface="Cambria" panose="02040503050406030204" pitchFamily="18" charset="0"/>
              </a:rPr>
              <a:t>6</a:t>
            </a:r>
            <a:r>
              <a:rPr lang="sr-Cyrl-RS" sz="2400" dirty="0">
                <a:latin typeface="Cambria" panose="02040503050406030204" pitchFamily="18" charset="0"/>
              </a:rPr>
              <a:t>. годину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r="32108"/>
          <a:stretch>
            <a:fillRect/>
          </a:stretch>
        </p:blipFill>
        <p:spPr>
          <a:xfrm>
            <a:off x="1559709" y="0"/>
            <a:ext cx="9460224" cy="68521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r="28753"/>
          <a:stretch>
            <a:fillRect/>
          </a:stretch>
        </p:blipFill>
        <p:spPr>
          <a:xfrm>
            <a:off x="1227434" y="-28641"/>
            <a:ext cx="10354966" cy="68866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rcRect r="19378"/>
          <a:stretch>
            <a:fillRect/>
          </a:stretch>
        </p:blipFill>
        <p:spPr>
          <a:xfrm>
            <a:off x="1556994" y="-34618"/>
            <a:ext cx="9078012" cy="69272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r="32899"/>
          <a:stretch>
            <a:fillRect/>
          </a:stretch>
        </p:blipFill>
        <p:spPr>
          <a:xfrm>
            <a:off x="1242570" y="0"/>
            <a:ext cx="10242819" cy="6846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1578" y="1669058"/>
            <a:ext cx="9144000" cy="1851025"/>
          </a:xfrm>
        </p:spPr>
        <p:txBody>
          <a:bodyPr>
            <a:noAutofit/>
          </a:bodyPr>
          <a:lstStyle/>
          <a:p>
            <a:r>
              <a:rPr lang="sr-Cyrl-RS" altLang="en-US" sz="4400" b="1" dirty="0"/>
              <a:t>еАРХИВИРАЊЕ</a:t>
            </a:r>
            <a:endParaRPr lang="en-US" altLang="sr-Cyrl-RS" sz="36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9723" y="593970"/>
            <a:ext cx="10349572" cy="2957586"/>
          </a:xfrm>
        </p:spPr>
        <p:txBody>
          <a:bodyPr>
            <a:noAutofit/>
          </a:bodyPr>
          <a:lstStyle/>
          <a:p>
            <a:r>
              <a:rPr lang="en-US" altLang="en-US" sz="3200" b="1" dirty="0"/>
              <a:t>УРЕДБА О ЈЕДИНСТВЕНИМ ТЕХНИЧКО-ТЕХНОЛОШКИМ ЗАХТЕВИМА И ПРОЦЕДУРАМА ЗА ЧУВАЊЕ И ЗАШТИТУ АРХИВСКЕ ГРАЂЕ И ДОКУМЕНТАРНОГ МАТЕРИЈАЛА У ЕЛЕКТРОНСКОМ ОБЛИКУ</a:t>
            </a:r>
            <a:br>
              <a:rPr lang="en-US" altLang="en-US" sz="3200" b="1" dirty="0"/>
            </a:br>
            <a:r>
              <a:rPr lang="en-US" altLang="en-US" sz="3200" b="1" dirty="0"/>
              <a:t>верзија 116/2023</a:t>
            </a:r>
            <a:endParaRPr lang="en-US" altLang="en-US" sz="32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ПРЕДМЕТ УРЕДБЕ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Члан 1</a:t>
            </a:r>
            <a:endParaRPr lang="en-US"/>
          </a:p>
          <a:p>
            <a:pPr marL="0" indent="0">
              <a:buNone/>
            </a:pPr>
            <a:r>
              <a:rPr lang="en-US" altLang="en-US"/>
              <a:t>Овом уредбом уређују се јединствени техничко-технолошки захтеви и процедуре које треба да испуне ствараоци и имаоци архивске грађе и документарног материјала (у даљем тексту: ствараоци и имаоци) при чувању и заштити архивске грађе и документарног материјала </a:t>
            </a:r>
            <a:r>
              <a:rPr lang="en-US" altLang="en-US">
                <a:solidFill>
                  <a:srgbClr val="FF0000"/>
                </a:solidFill>
              </a:rPr>
              <a:t>у електронском облику</a:t>
            </a:r>
            <a:endParaRPr lang="en-US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645" y="174625"/>
            <a:ext cx="10972800" cy="582613"/>
          </a:xfrm>
        </p:spPr>
        <p:txBody>
          <a:bodyPr/>
          <a:lstStyle/>
          <a:p>
            <a:r>
              <a:rPr lang="en-US" altLang="en-US"/>
              <a:t>ЧУВАЊЕ еДОКУМЕНТА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 err="1"/>
              <a:t>Члан</a:t>
            </a:r>
            <a:r>
              <a:rPr lang="en-US" altLang="en-US" dirty="0"/>
              <a:t> 2, </a:t>
            </a:r>
            <a:r>
              <a:rPr lang="en-US" altLang="en-US" dirty="0" err="1"/>
              <a:t>став</a:t>
            </a:r>
            <a:r>
              <a:rPr lang="en-US" altLang="en-US" dirty="0"/>
              <a:t> 1: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Ствараоци</a:t>
            </a:r>
            <a:r>
              <a:rPr lang="en-US" dirty="0"/>
              <a:t> и </a:t>
            </a:r>
            <a:r>
              <a:rPr lang="en-US" dirty="0" err="1"/>
              <a:t>имаоци</a:t>
            </a:r>
            <a:r>
              <a:rPr lang="en-US" dirty="0"/>
              <a:t> </a:t>
            </a:r>
            <a:r>
              <a:rPr lang="en-US" dirty="0" err="1"/>
              <a:t>документарног</a:t>
            </a:r>
            <a:r>
              <a:rPr lang="en-US" dirty="0"/>
              <a:t> </a:t>
            </a:r>
            <a:r>
              <a:rPr lang="en-US" dirty="0" err="1"/>
              <a:t>материјала</a:t>
            </a:r>
            <a:r>
              <a:rPr lang="en-US" dirty="0"/>
              <a:t> </a:t>
            </a:r>
            <a:r>
              <a:rPr lang="en-US" dirty="0" err="1"/>
              <a:t>који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трајно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чува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у </a:t>
            </a:r>
            <a:r>
              <a:rPr lang="en-US" dirty="0" err="1"/>
              <a:t>електронском</a:t>
            </a:r>
            <a:r>
              <a:rPr lang="en-US" dirty="0"/>
              <a:t> </a:t>
            </a:r>
            <a:r>
              <a:rPr lang="en-US" dirty="0" err="1"/>
              <a:t>облику</a:t>
            </a:r>
            <a:r>
              <a:rPr lang="en-US" dirty="0"/>
              <a:t> </a:t>
            </a:r>
            <a:r>
              <a:rPr lang="en-US" dirty="0" err="1"/>
              <a:t>дужни</a:t>
            </a:r>
            <a:r>
              <a:rPr lang="en-US" dirty="0"/>
              <a:t> </a:t>
            </a:r>
            <a:r>
              <a:rPr lang="en-US" dirty="0" err="1"/>
              <a:t>су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предаје</a:t>
            </a:r>
            <a:r>
              <a:rPr lang="en-US" dirty="0"/>
              <a:t> </a:t>
            </a:r>
            <a:r>
              <a:rPr lang="en-US" dirty="0" err="1"/>
              <a:t>надлежном</a:t>
            </a:r>
            <a:r>
              <a:rPr lang="en-US" dirty="0"/>
              <a:t> </a:t>
            </a:r>
            <a:r>
              <a:rPr lang="en-US" dirty="0" err="1"/>
              <a:t>архиву</a:t>
            </a:r>
            <a:r>
              <a:rPr lang="en-US" dirty="0"/>
              <a:t>, </a:t>
            </a:r>
            <a:r>
              <a:rPr lang="en-US" dirty="0" err="1"/>
              <a:t>осигурају</a:t>
            </a:r>
            <a:r>
              <a:rPr lang="en-US" dirty="0"/>
              <a:t> </a:t>
            </a:r>
            <a:r>
              <a:rPr lang="en-US" dirty="0" err="1"/>
              <a:t>његово</a:t>
            </a:r>
            <a:r>
              <a:rPr lang="en-US" dirty="0"/>
              <a:t> </a:t>
            </a:r>
            <a:r>
              <a:rPr lang="en-US" dirty="0" err="1"/>
              <a:t>поуздано</a:t>
            </a:r>
            <a:r>
              <a:rPr lang="en-US" dirty="0"/>
              <a:t> </a:t>
            </a:r>
            <a:r>
              <a:rPr lang="en-US" dirty="0" err="1"/>
              <a:t>електронско</a:t>
            </a:r>
            <a:r>
              <a:rPr lang="en-US" dirty="0"/>
              <a:t> </a:t>
            </a:r>
            <a:r>
              <a:rPr lang="en-US" dirty="0" err="1"/>
              <a:t>чување</a:t>
            </a:r>
            <a:r>
              <a:rPr lang="en-US" dirty="0"/>
              <a:t> у </a:t>
            </a:r>
            <a:r>
              <a:rPr lang="en-US" dirty="0" err="1"/>
              <a:t>складу</a:t>
            </a:r>
            <a:r>
              <a:rPr lang="en-US" dirty="0"/>
              <a:t> </a:t>
            </a:r>
            <a:r>
              <a:rPr lang="en-US" dirty="0" err="1"/>
              <a:t>са</a:t>
            </a:r>
            <a:r>
              <a:rPr lang="en-US" dirty="0"/>
              <a:t> </a:t>
            </a:r>
            <a:r>
              <a:rPr lang="en-US" dirty="0" err="1"/>
              <a:t>прописом</a:t>
            </a:r>
            <a:r>
              <a:rPr lang="en-US" dirty="0"/>
              <a:t> </a:t>
            </a:r>
            <a:r>
              <a:rPr lang="en-US" dirty="0" err="1"/>
              <a:t>којим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уређују</a:t>
            </a:r>
            <a:r>
              <a:rPr lang="en-US" dirty="0"/>
              <a:t> </a:t>
            </a:r>
            <a:r>
              <a:rPr lang="en-US" dirty="0" err="1"/>
              <a:t>услови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припрему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поуздано</a:t>
            </a:r>
            <a:r>
              <a:rPr lang="en-US" dirty="0"/>
              <a:t> </a:t>
            </a:r>
            <a:r>
              <a:rPr lang="en-US" dirty="0" err="1"/>
              <a:t>електронско</a:t>
            </a:r>
            <a:r>
              <a:rPr lang="en-US" dirty="0"/>
              <a:t> </a:t>
            </a:r>
            <a:r>
              <a:rPr lang="en-US" dirty="0" err="1"/>
              <a:t>чување</a:t>
            </a:r>
            <a:r>
              <a:rPr lang="en-US" dirty="0"/>
              <a:t> и </a:t>
            </a:r>
            <a:r>
              <a:rPr lang="en-US" dirty="0" err="1"/>
              <a:t>форматима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</a:t>
            </a:r>
            <a:r>
              <a:rPr lang="en-US" dirty="0" err="1"/>
              <a:t>који</a:t>
            </a:r>
            <a:r>
              <a:rPr lang="en-US" dirty="0"/>
              <a:t> </a:t>
            </a:r>
            <a:r>
              <a:rPr lang="en-US" dirty="0" err="1"/>
              <a:t>су</a:t>
            </a:r>
            <a:r>
              <a:rPr lang="en-US" dirty="0"/>
              <a:t> </a:t>
            </a:r>
            <a:r>
              <a:rPr lang="en-US" dirty="0" err="1"/>
              <a:t>погодни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дуготрајно</a:t>
            </a:r>
            <a:r>
              <a:rPr lang="en-US" dirty="0"/>
              <a:t> </a:t>
            </a:r>
            <a:r>
              <a:rPr lang="en-US" dirty="0" err="1"/>
              <a:t>чување</a:t>
            </a:r>
            <a:r>
              <a:rPr lang="en-US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ОТВОРЕНА ПИТАЊА </a:t>
            </a:r>
            <a:r>
              <a:rPr lang="en-US" dirty="0"/>
              <a:t>- 1?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Који су то </a:t>
            </a:r>
            <a:r>
              <a:rPr lang="en-US">
                <a:sym typeface="+mn-ea"/>
              </a:rPr>
              <a:t>услови за припрему документа за поуздано електронско чување и за које документе важе?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Који су то формати докумената који су погодни за дуготрајно чување и за које документе важе?</a:t>
            </a:r>
            <a:endParaRPr lang="en-US"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645" y="174625"/>
            <a:ext cx="10972800" cy="582613"/>
          </a:xfrm>
        </p:spPr>
        <p:txBody>
          <a:bodyPr/>
          <a:lstStyle/>
          <a:p>
            <a:r>
              <a:rPr lang="en-US" altLang="en-US"/>
              <a:t>ЧУВАЊЕ еДОКУМЕНТА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Члан 2, </a:t>
            </a:r>
            <a:r>
              <a:rPr lang="en-US" altLang="en-US" dirty="0" err="1"/>
              <a:t>став</a:t>
            </a:r>
            <a:r>
              <a:rPr lang="en-US" altLang="en-US" dirty="0"/>
              <a:t> 2: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Поуздано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електронско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чување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документарног</a:t>
            </a:r>
            <a:r>
              <a:rPr lang="en-US" dirty="0"/>
              <a:t> </a:t>
            </a:r>
            <a:r>
              <a:rPr lang="en-US" dirty="0" err="1"/>
              <a:t>материјала</a:t>
            </a:r>
            <a:r>
              <a:rPr lang="en-US" dirty="0"/>
              <a:t> </a:t>
            </a:r>
            <a:r>
              <a:rPr lang="en-US" dirty="0" err="1"/>
              <a:t>који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трајно</a:t>
            </a:r>
            <a:r>
              <a:rPr lang="en-US" dirty="0"/>
              <a:t> </a:t>
            </a:r>
            <a:r>
              <a:rPr lang="en-US" dirty="0" err="1"/>
              <a:t>чува</a:t>
            </a:r>
            <a:r>
              <a:rPr lang="en-US" dirty="0"/>
              <a:t> у </a:t>
            </a:r>
            <a:r>
              <a:rPr lang="en-US" dirty="0" err="1"/>
              <a:t>електронском</a:t>
            </a:r>
            <a:r>
              <a:rPr lang="en-US" dirty="0"/>
              <a:t> </a:t>
            </a:r>
            <a:r>
              <a:rPr lang="en-US" dirty="0" err="1"/>
              <a:t>облику</a:t>
            </a:r>
            <a:r>
              <a:rPr lang="en-US" dirty="0"/>
              <a:t> </a:t>
            </a:r>
            <a:r>
              <a:rPr lang="en-US" dirty="0" err="1"/>
              <a:t>који</a:t>
            </a:r>
            <a:r>
              <a:rPr lang="en-US" dirty="0"/>
              <a:t> </a:t>
            </a:r>
            <a:r>
              <a:rPr lang="en-US" dirty="0" err="1"/>
              <a:t>су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ствараоци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предали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државном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органу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и </a:t>
            </a:r>
            <a:r>
              <a:rPr lang="en-US" dirty="0" err="1"/>
              <a:t>организацији</a:t>
            </a:r>
            <a:r>
              <a:rPr lang="en-US" dirty="0"/>
              <a:t>, </a:t>
            </a:r>
            <a:r>
              <a:rPr lang="en-US" dirty="0" err="1"/>
              <a:t>органу</a:t>
            </a:r>
            <a:r>
              <a:rPr lang="en-US" dirty="0"/>
              <a:t> </a:t>
            </a:r>
            <a:r>
              <a:rPr lang="en-US" dirty="0" err="1"/>
              <a:t>територијалне</a:t>
            </a:r>
            <a:r>
              <a:rPr lang="en-US" dirty="0"/>
              <a:t> </a:t>
            </a:r>
            <a:r>
              <a:rPr lang="en-US" dirty="0" err="1"/>
              <a:t>аутономије</a:t>
            </a:r>
            <a:r>
              <a:rPr lang="en-US" dirty="0"/>
              <a:t> и </a:t>
            </a:r>
            <a:r>
              <a:rPr lang="en-US" dirty="0" err="1"/>
              <a:t>јединици</a:t>
            </a:r>
            <a:r>
              <a:rPr lang="en-US" dirty="0"/>
              <a:t> </a:t>
            </a:r>
            <a:r>
              <a:rPr lang="en-US" dirty="0" err="1"/>
              <a:t>локалне</a:t>
            </a:r>
            <a:r>
              <a:rPr lang="en-US" dirty="0"/>
              <a:t> </a:t>
            </a:r>
            <a:r>
              <a:rPr lang="en-US" dirty="0" err="1"/>
              <a:t>самоуправе</a:t>
            </a:r>
            <a:r>
              <a:rPr lang="en-US" dirty="0"/>
              <a:t>, </a:t>
            </a:r>
            <a:r>
              <a:rPr lang="en-US" dirty="0" err="1"/>
              <a:t>установи</a:t>
            </a:r>
            <a:r>
              <a:rPr lang="en-US" dirty="0"/>
              <a:t>, </a:t>
            </a:r>
            <a:r>
              <a:rPr lang="en-US" dirty="0" err="1"/>
              <a:t>јавном</a:t>
            </a:r>
            <a:r>
              <a:rPr lang="en-US" dirty="0"/>
              <a:t> </a:t>
            </a:r>
            <a:r>
              <a:rPr lang="en-US" dirty="0" err="1"/>
              <a:t>предузећу</a:t>
            </a:r>
            <a:r>
              <a:rPr lang="en-US" dirty="0"/>
              <a:t> и </a:t>
            </a:r>
            <a:r>
              <a:rPr lang="en-US" dirty="0" err="1"/>
              <a:t>имаoцу</a:t>
            </a:r>
            <a:r>
              <a:rPr lang="en-US" dirty="0"/>
              <a:t> </a:t>
            </a:r>
            <a:r>
              <a:rPr lang="en-US" dirty="0" err="1"/>
              <a:t>јавних</a:t>
            </a:r>
            <a:r>
              <a:rPr lang="en-US" dirty="0"/>
              <a:t> </a:t>
            </a:r>
            <a:r>
              <a:rPr lang="en-US" dirty="0" err="1"/>
              <a:t>овлашћења</a:t>
            </a:r>
            <a:r>
              <a:rPr lang="en-US" dirty="0"/>
              <a:t> (у </a:t>
            </a:r>
            <a:r>
              <a:rPr lang="en-US" dirty="0" err="1"/>
              <a:t>даљем</a:t>
            </a:r>
            <a:r>
              <a:rPr lang="en-US" dirty="0"/>
              <a:t> </a:t>
            </a:r>
            <a:r>
              <a:rPr lang="en-US" dirty="0" err="1"/>
              <a:t>тексту</a:t>
            </a:r>
            <a:r>
              <a:rPr lang="en-US" dirty="0"/>
              <a:t>: </a:t>
            </a:r>
            <a:r>
              <a:rPr lang="en-US" dirty="0" err="1"/>
              <a:t>органи</a:t>
            </a:r>
            <a:r>
              <a:rPr lang="en-US" dirty="0"/>
              <a:t>), </a:t>
            </a:r>
            <a:r>
              <a:rPr lang="en-US" dirty="0" err="1">
                <a:solidFill>
                  <a:srgbClr val="FF0000"/>
                </a:solidFill>
              </a:rPr>
              <a:t>осигурава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се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преко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тог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органа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као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имаоца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РАЗЈАШЊЕЊЕ: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ru-RU" dirty="0">
                <a:sym typeface="+mn-ea"/>
              </a:rPr>
              <a:t>Наведени документи представљају:</a:t>
            </a:r>
            <a:endParaRPr lang="en-US" altLang="ru-RU" dirty="0">
              <a:sym typeface="+mn-ea"/>
            </a:endParaRPr>
          </a:p>
          <a:p>
            <a:r>
              <a:rPr lang="ru-RU" dirty="0">
                <a:sym typeface="+mn-ea"/>
              </a:rPr>
              <a:t>електронске фактуре (СЕФ), пореске пријаве (Пореска управа), финансијске извештаје (АПР), пријаве и одјаве запослених (ЦРОСО)</a:t>
            </a:r>
            <a:r>
              <a:rPr lang="en-US" altLang="ru-RU" dirty="0">
                <a:sym typeface="+mn-ea"/>
              </a:rPr>
              <a:t> - СВИ</a:t>
            </a:r>
            <a:endParaRPr lang="en-US" altLang="ru-RU" dirty="0">
              <a:sym typeface="+mn-ea"/>
            </a:endParaRPr>
          </a:p>
          <a:p>
            <a:r>
              <a:rPr lang="en-US" altLang="ru-RU" dirty="0">
                <a:sym typeface="+mn-ea"/>
              </a:rPr>
              <a:t>друге еДокументе који су настали по ЗУП - Јавни сектор</a:t>
            </a:r>
            <a:endParaRPr lang="en-US" altLang="ru-RU" dirty="0">
              <a:sym typeface="+mn-ea"/>
            </a:endParaRPr>
          </a:p>
          <a:p>
            <a:r>
              <a:rPr lang="en-US" altLang="ru-RU" dirty="0">
                <a:sym typeface="+mn-ea"/>
              </a:rPr>
              <a:t>Документи настали применом еСервиса на Порталу еУправе - нпр: еОвлашћење</a:t>
            </a:r>
            <a:endParaRPr lang="en-US" altLang="ru-RU" dirty="0"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ОТВОРЕНА ПИТАЊА</a:t>
            </a:r>
            <a:r>
              <a:rPr lang="sr-Cyrl-RS" dirty="0"/>
              <a:t> - 2</a:t>
            </a:r>
            <a:r>
              <a:rPr lang="en-US" dirty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1267440" cy="4953000"/>
          </a:xfrm>
        </p:spPr>
        <p:txBody>
          <a:bodyPr/>
          <a:lstStyle/>
          <a:p>
            <a:r>
              <a:rPr lang="en-US" altLang="ru-RU" dirty="0">
                <a:sym typeface="+mn-ea"/>
              </a:rPr>
              <a:t>СЕФ еФактуре приватном сектору чува само 10 </a:t>
            </a:r>
            <a:r>
              <a:rPr lang="en-US" altLang="ru-RU" dirty="0" err="1">
                <a:sym typeface="+mn-ea"/>
              </a:rPr>
              <a:t>година</a:t>
            </a:r>
            <a:r>
              <a:rPr lang="sr-Cyrl-RS" altLang="ru-RU" dirty="0">
                <a:sym typeface="+mn-ea"/>
              </a:rPr>
              <a:t>?</a:t>
            </a:r>
            <a:endParaRPr lang="en-US" altLang="ru-RU" dirty="0">
              <a:sym typeface="+mn-ea"/>
            </a:endParaRPr>
          </a:p>
          <a:p>
            <a:r>
              <a:rPr lang="en-US" altLang="ru-RU" dirty="0">
                <a:sym typeface="+mn-ea"/>
              </a:rPr>
              <a:t>Који </a:t>
            </a:r>
            <a:r>
              <a:rPr lang="en-US" altLang="ru-RU" dirty="0" err="1">
                <a:sym typeface="+mn-ea"/>
              </a:rPr>
              <a:t>је</a:t>
            </a:r>
            <a:r>
              <a:rPr lang="en-US" altLang="ru-RU" dirty="0">
                <a:sym typeface="+mn-ea"/>
              </a:rPr>
              <a:t> </a:t>
            </a:r>
            <a:r>
              <a:rPr lang="en-US" altLang="ru-RU" dirty="0" err="1">
                <a:sym typeface="+mn-ea"/>
              </a:rPr>
              <a:t>стату</a:t>
            </a:r>
            <a:r>
              <a:rPr lang="sr-Cyrl-RS" altLang="ru-RU" dirty="0">
                <a:sym typeface="+mn-ea"/>
              </a:rPr>
              <a:t>с, </a:t>
            </a:r>
            <a:r>
              <a:rPr lang="en-US" altLang="ru-RU" dirty="0" err="1">
                <a:sym typeface="+mn-ea"/>
              </a:rPr>
              <a:t>начин</a:t>
            </a:r>
            <a:r>
              <a:rPr lang="en-US" altLang="ru-RU" dirty="0">
                <a:sym typeface="+mn-ea"/>
              </a:rPr>
              <a:t> </a:t>
            </a:r>
            <a:r>
              <a:rPr lang="sr-Cyrl-RS" altLang="ru-RU" dirty="0">
                <a:sym typeface="+mn-ea"/>
              </a:rPr>
              <a:t>обраде, </a:t>
            </a:r>
            <a:r>
              <a:rPr lang="en-US" altLang="ru-RU" dirty="0" err="1">
                <a:sym typeface="+mn-ea"/>
              </a:rPr>
              <a:t>чувања</a:t>
            </a:r>
            <a:r>
              <a:rPr lang="sr-Cyrl-RS" altLang="ru-RU" dirty="0">
                <a:sym typeface="+mn-ea"/>
              </a:rPr>
              <a:t> и доступност</a:t>
            </a:r>
            <a:r>
              <a:rPr lang="en-US" altLang="ru-RU" dirty="0">
                <a:sym typeface="+mn-ea"/>
              </a:rPr>
              <a:t> оваквих докумената код </a:t>
            </a:r>
            <a:r>
              <a:rPr lang="en-US" altLang="ru-RU" dirty="0" err="1">
                <a:sym typeface="+mn-ea"/>
              </a:rPr>
              <a:t>Ствараоца</a:t>
            </a:r>
            <a:r>
              <a:rPr lang="en-US" altLang="ru-RU" dirty="0">
                <a:sym typeface="+mn-ea"/>
              </a:rPr>
              <a:t>?</a:t>
            </a:r>
            <a:endParaRPr lang="sr-Cyrl-RS" altLang="ru-RU" dirty="0">
              <a:sym typeface="+mn-ea"/>
            </a:endParaRPr>
          </a:p>
          <a:p>
            <a:r>
              <a:rPr lang="sr-Cyrl-RS" altLang="ru-RU" dirty="0">
                <a:sym typeface="+mn-ea"/>
              </a:rPr>
              <a:t>На који начин повезати ова документа са оним која се налазе код Ствараоца?</a:t>
            </a:r>
            <a:endParaRPr lang="en-US" altLang="ru-RU" dirty="0">
              <a:sym typeface="+mn-ea"/>
            </a:endParaRPr>
          </a:p>
          <a:p>
            <a:r>
              <a:rPr lang="en-US" altLang="ru-RU" dirty="0">
                <a:sym typeface="+mn-ea"/>
              </a:rPr>
              <a:t>Како водити уредну евиденцију позиције архивирања раду законски исправне Архивске књиге?</a:t>
            </a:r>
            <a:endParaRPr lang="en-US" altLang="ru-RU" dirty="0"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340" y="170180"/>
            <a:ext cx="10972800" cy="582613"/>
          </a:xfrm>
        </p:spPr>
        <p:txBody>
          <a:bodyPr/>
          <a:lstStyle/>
          <a:p>
            <a:r>
              <a:rPr lang="en-US" sz="3200" dirty="0"/>
              <a:t>АРХИВСКА КЊИГА ЗА ДОКУМЕНТА КОД ДРЖАВЕ: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1267440" cy="4953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ym typeface="+mn-ea"/>
              </a:rPr>
              <a:t>ПРИМЕР: СЕФ еФактуре</a:t>
            </a:r>
            <a:endParaRPr lang="en-US" dirty="0">
              <a:sym typeface="+mn-ea"/>
            </a:endParaRPr>
          </a:p>
          <a:p>
            <a:endParaRPr lang="en-US" altLang="ru-RU" dirty="0">
              <a:sym typeface="+mn-ea"/>
            </a:endParaRPr>
          </a:p>
          <a:p>
            <a:r>
              <a:rPr lang="en-US" dirty="0">
                <a:sym typeface="+mn-ea"/>
              </a:rPr>
              <a:t>Са СЕФ система, доћи до укупног броја категорије докумената</a:t>
            </a:r>
            <a:endParaRPr lang="en-US" dirty="0">
              <a:sym typeface="+mn-ea"/>
            </a:endParaRPr>
          </a:p>
          <a:p>
            <a:pPr lvl="1"/>
            <a:r>
              <a:rPr lang="en-US" sz="2800" dirty="0">
                <a:solidFill>
                  <a:srgbClr val="002060"/>
                </a:solidFill>
                <a:sym typeface="+mn-ea"/>
              </a:rPr>
              <a:t>Број Улазних рачуна 		3600</a:t>
            </a:r>
            <a:endParaRPr lang="en-US" sz="2800" dirty="0">
              <a:solidFill>
                <a:srgbClr val="002060"/>
              </a:solidFill>
              <a:sym typeface="+mn-ea"/>
            </a:endParaRPr>
          </a:p>
          <a:p>
            <a:r>
              <a:rPr lang="en-US" altLang="ru-RU" dirty="0">
                <a:sym typeface="+mn-ea"/>
              </a:rPr>
              <a:t>Помножити број докумената са просечном величином фајла</a:t>
            </a:r>
            <a:endParaRPr lang="en-US" altLang="ru-RU" dirty="0">
              <a:sym typeface="+mn-ea"/>
            </a:endParaRPr>
          </a:p>
          <a:p>
            <a:pPr lvl="1"/>
            <a:r>
              <a:rPr lang="en-US" altLang="ru-RU" dirty="0">
                <a:solidFill>
                  <a:srgbClr val="002060"/>
                </a:solidFill>
                <a:sym typeface="+mn-ea"/>
              </a:rPr>
              <a:t>Просечна величина			120 Кб</a:t>
            </a:r>
            <a:endParaRPr lang="en-US" altLang="ru-RU" dirty="0">
              <a:solidFill>
                <a:srgbClr val="002060"/>
              </a:solidFill>
              <a:sym typeface="+mn-ea"/>
            </a:endParaRPr>
          </a:p>
          <a:p>
            <a:pPr lvl="1"/>
            <a:r>
              <a:rPr lang="en-US" altLang="ru-RU" dirty="0">
                <a:solidFill>
                  <a:srgbClr val="002060"/>
                </a:solidFill>
                <a:sym typeface="+mn-ea"/>
              </a:rPr>
              <a:t>Број докумената			3600</a:t>
            </a:r>
            <a:endParaRPr lang="en-US" altLang="ru-RU" dirty="0">
              <a:solidFill>
                <a:srgbClr val="002060"/>
              </a:solidFill>
              <a:sym typeface="+mn-ea"/>
            </a:endParaRPr>
          </a:p>
          <a:p>
            <a:pPr lvl="1"/>
            <a:r>
              <a:rPr lang="en-US" altLang="ru-RU" dirty="0">
                <a:solidFill>
                  <a:srgbClr val="FF0000"/>
                </a:solidFill>
                <a:sym typeface="+mn-ea"/>
              </a:rPr>
              <a:t>УКУПНО				432000 Кб = 0,432 Мб</a:t>
            </a:r>
            <a:endParaRPr lang="en-US" altLang="ru-RU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340" y="170180"/>
            <a:ext cx="10972800" cy="582613"/>
          </a:xfrm>
        </p:spPr>
        <p:txBody>
          <a:bodyPr/>
          <a:lstStyle/>
          <a:p>
            <a:r>
              <a:rPr lang="en-US" sz="3200" dirty="0"/>
              <a:t>АРХИВСКА КЊИГА ЗА ДОКУМЕНТА КОД ДРЖАВЕ: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2355"/>
            <a:ext cx="11267440" cy="4953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ym typeface="+mn-ea"/>
              </a:rPr>
              <a:t>ПРИМЕР: СЕФ еФактуре</a:t>
            </a:r>
            <a:endParaRPr lang="en-US" dirty="0">
              <a:sym typeface="+mn-ea"/>
            </a:endParaRPr>
          </a:p>
          <a:p>
            <a:r>
              <a:rPr lang="en-US" altLang="ru-RU" dirty="0">
                <a:solidFill>
                  <a:schemeClr val="tx1"/>
                </a:solidFill>
                <a:sym typeface="+mn-ea"/>
              </a:rPr>
              <a:t>У Архивској књизи, унети ред са том категоријом, уз назнаку </a:t>
            </a:r>
            <a:r>
              <a:rPr lang="en-US" altLang="ru-RU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sym typeface="+mn-ea"/>
              </a:rPr>
              <a:t>Електронски</a:t>
            </a:r>
            <a:endParaRPr lang="en-US" altLang="ru-RU" dirty="0">
              <a:solidFill>
                <a:schemeClr val="tx1"/>
              </a:solidFill>
              <a:sym typeface="+mn-ea"/>
            </a:endParaRPr>
          </a:p>
          <a:p>
            <a:r>
              <a:rPr lang="en-US" altLang="ru-RU" dirty="0">
                <a:solidFill>
                  <a:schemeClr val="tx1"/>
                </a:solidFill>
                <a:sym typeface="+mn-ea"/>
              </a:rPr>
              <a:t>На позицији: </a:t>
            </a:r>
            <a:r>
              <a:rPr lang="en-US" altLang="ru-RU" i="1" dirty="0">
                <a:solidFill>
                  <a:schemeClr val="tx1"/>
                </a:solidFill>
                <a:sym typeface="+mn-ea"/>
              </a:rPr>
              <a:t>Количина документарног материјала</a:t>
            </a:r>
            <a:r>
              <a:rPr lang="en-US" altLang="ru-RU" dirty="0">
                <a:solidFill>
                  <a:schemeClr val="tx1"/>
                </a:solidFill>
                <a:sym typeface="+mn-ea"/>
              </a:rPr>
              <a:t> уписати 0,432 Мб</a:t>
            </a:r>
            <a:endParaRPr lang="en-US" altLang="ru-RU" dirty="0">
              <a:solidFill>
                <a:schemeClr val="tx1"/>
              </a:solidFill>
              <a:sym typeface="+mn-ea"/>
            </a:endParaRPr>
          </a:p>
          <a:p>
            <a:r>
              <a:rPr lang="en-US" altLang="ru-RU" dirty="0">
                <a:solidFill>
                  <a:schemeClr val="tx1"/>
                </a:solidFill>
                <a:sym typeface="+mn-ea"/>
              </a:rPr>
              <a:t>На позицији: </a:t>
            </a:r>
            <a:r>
              <a:rPr lang="en-US" altLang="ru-RU" i="1" dirty="0">
                <a:solidFill>
                  <a:schemeClr val="tx1"/>
                </a:solidFill>
                <a:sym typeface="+mn-ea"/>
              </a:rPr>
              <a:t>Просторије, полице/уређаји за складиштење </a:t>
            </a:r>
            <a:r>
              <a:rPr lang="en-US" altLang="ru-RU" dirty="0">
                <a:solidFill>
                  <a:schemeClr val="tx1"/>
                </a:solidFill>
                <a:sym typeface="+mn-ea"/>
              </a:rPr>
              <a:t>уписати СЕФ систем Министарства финансија</a:t>
            </a:r>
            <a:endParaRPr lang="en-US" altLang="ru-RU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altLang="ru-RU" dirty="0">
              <a:solidFill>
                <a:schemeClr val="tx1"/>
              </a:solidFill>
              <a:sym typeface="+mn-ea"/>
            </a:endParaRPr>
          </a:p>
          <a:p>
            <a:r>
              <a:rPr lang="en-US" altLang="ru-RU" dirty="0">
                <a:solidFill>
                  <a:schemeClr val="tx1"/>
                </a:solidFill>
                <a:sym typeface="+mn-ea"/>
              </a:rPr>
              <a:t>НАПОМЕНА: Може постојати нови ред уноса са истом категоријом у папирном облику - Фактуре у папиру</a:t>
            </a:r>
            <a:endParaRPr lang="en-US" altLang="ru-RU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645" y="174625"/>
            <a:ext cx="10972800" cy="582613"/>
          </a:xfrm>
        </p:spPr>
        <p:txBody>
          <a:bodyPr/>
          <a:lstStyle/>
          <a:p>
            <a:r>
              <a:rPr lang="en-US" altLang="en-US"/>
              <a:t>ЧУВАЊЕ еДОКУМЕНТА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 err="1"/>
              <a:t>Члан</a:t>
            </a:r>
            <a:r>
              <a:rPr lang="en-US" altLang="en-US" dirty="0"/>
              <a:t> 2, </a:t>
            </a:r>
            <a:r>
              <a:rPr lang="en-US" altLang="en-US" dirty="0" err="1"/>
              <a:t>став</a:t>
            </a:r>
            <a:r>
              <a:rPr lang="en-US" altLang="en-US" dirty="0"/>
              <a:t> 3: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Ствараоци</a:t>
            </a:r>
            <a:r>
              <a:rPr lang="en-US" dirty="0"/>
              <a:t> и </a:t>
            </a:r>
            <a:r>
              <a:rPr lang="en-US" dirty="0" err="1"/>
              <a:t>имаоци</a:t>
            </a:r>
            <a:r>
              <a:rPr lang="en-US" dirty="0"/>
              <a:t> </a:t>
            </a:r>
            <a:r>
              <a:rPr lang="en-US" dirty="0" err="1"/>
              <a:t>документарног</a:t>
            </a:r>
            <a:r>
              <a:rPr lang="en-US" dirty="0"/>
              <a:t> </a:t>
            </a:r>
            <a:r>
              <a:rPr lang="en-US" dirty="0" err="1"/>
              <a:t>материјала</a:t>
            </a:r>
            <a:r>
              <a:rPr lang="en-US" dirty="0"/>
              <a:t> у </a:t>
            </a:r>
            <a:r>
              <a:rPr lang="en-US" dirty="0" err="1"/>
              <a:t>електронском</a:t>
            </a:r>
            <a:r>
              <a:rPr lang="en-US" dirty="0"/>
              <a:t> </a:t>
            </a:r>
            <a:r>
              <a:rPr lang="en-US" dirty="0" err="1"/>
              <a:t>облику</a:t>
            </a:r>
            <a:r>
              <a:rPr lang="en-US" dirty="0"/>
              <a:t> </a:t>
            </a:r>
            <a:r>
              <a:rPr lang="en-US" dirty="0" err="1"/>
              <a:t>који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нема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трајни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рок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чувања</a:t>
            </a:r>
            <a:r>
              <a:rPr lang="en-US" dirty="0"/>
              <a:t>, </a:t>
            </a:r>
            <a:r>
              <a:rPr lang="en-US" dirty="0" err="1"/>
              <a:t>дужни</a:t>
            </a:r>
            <a:r>
              <a:rPr lang="en-US" dirty="0"/>
              <a:t> </a:t>
            </a:r>
            <a:r>
              <a:rPr lang="en-US" dirty="0" err="1"/>
              <a:t>су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осигурају</a:t>
            </a:r>
            <a:r>
              <a:rPr lang="en-US" dirty="0"/>
              <a:t> </a:t>
            </a:r>
            <a:r>
              <a:rPr lang="en-US" dirty="0" err="1"/>
              <a:t>његов</a:t>
            </a:r>
            <a:r>
              <a:rPr lang="en-US" dirty="0"/>
              <a:t> </a:t>
            </a:r>
            <a:r>
              <a:rPr lang="en-US" dirty="0" err="1"/>
              <a:t>интегритет</a:t>
            </a:r>
            <a:r>
              <a:rPr lang="en-US" dirty="0"/>
              <a:t>, </a:t>
            </a:r>
            <a:r>
              <a:rPr lang="en-US" dirty="0" err="1"/>
              <a:t>аутентичност</a:t>
            </a:r>
            <a:r>
              <a:rPr lang="en-US" dirty="0"/>
              <a:t>, </a:t>
            </a:r>
            <a:r>
              <a:rPr lang="en-US" dirty="0" err="1"/>
              <a:t>веродостојност</a:t>
            </a:r>
            <a:r>
              <a:rPr lang="en-US" dirty="0"/>
              <a:t>, </a:t>
            </a:r>
            <a:r>
              <a:rPr lang="en-US" dirty="0" err="1"/>
              <a:t>целовитост</a:t>
            </a:r>
            <a:r>
              <a:rPr lang="en-US" dirty="0"/>
              <a:t> и </a:t>
            </a:r>
            <a:r>
              <a:rPr lang="en-US" dirty="0" err="1"/>
              <a:t>употребљивост</a:t>
            </a:r>
            <a:r>
              <a:rPr lang="en-US" dirty="0"/>
              <a:t> </a:t>
            </a:r>
            <a:r>
              <a:rPr lang="en-US" dirty="0" err="1"/>
              <a:t>квалификованим</a:t>
            </a:r>
            <a:r>
              <a:rPr lang="en-US" dirty="0"/>
              <a:t> </a:t>
            </a:r>
            <a:r>
              <a:rPr lang="en-US" dirty="0" err="1"/>
              <a:t>електронским</a:t>
            </a:r>
            <a:r>
              <a:rPr lang="en-US" dirty="0"/>
              <a:t> </a:t>
            </a:r>
            <a:r>
              <a:rPr lang="en-US" dirty="0" err="1"/>
              <a:t>потписом</a:t>
            </a:r>
            <a:r>
              <a:rPr lang="en-US" dirty="0"/>
              <a:t>, </a:t>
            </a:r>
            <a:r>
              <a:rPr lang="en-US" dirty="0" err="1"/>
              <a:t>односно</a:t>
            </a:r>
            <a:r>
              <a:rPr lang="en-US" dirty="0"/>
              <a:t> </a:t>
            </a:r>
            <a:r>
              <a:rPr lang="en-US" dirty="0" err="1"/>
              <a:t>квалификованим</a:t>
            </a:r>
            <a:r>
              <a:rPr lang="en-US" dirty="0"/>
              <a:t> </a:t>
            </a:r>
            <a:r>
              <a:rPr lang="en-US" dirty="0" err="1"/>
              <a:t>електронским</a:t>
            </a:r>
            <a:r>
              <a:rPr lang="en-US" dirty="0"/>
              <a:t> </a:t>
            </a:r>
            <a:r>
              <a:rPr lang="en-US" dirty="0" err="1"/>
              <a:t>печатом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ОТВОРЕНА ПИТАЊА</a:t>
            </a:r>
            <a:r>
              <a:rPr lang="en-US" dirty="0"/>
              <a:t> - </a:t>
            </a:r>
            <a:r>
              <a:rPr lang="sr-Cyrl-RS" dirty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Који</a:t>
            </a:r>
            <a:r>
              <a:rPr lang="en-US" dirty="0"/>
              <a:t> </a:t>
            </a:r>
            <a:r>
              <a:rPr lang="en-US" dirty="0" err="1"/>
              <a:t>су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документи</a:t>
            </a:r>
            <a:r>
              <a:rPr lang="en-US" dirty="0"/>
              <a:t>?</a:t>
            </a:r>
            <a:endParaRPr lang="en-US" dirty="0"/>
          </a:p>
          <a:p>
            <a:r>
              <a:rPr lang="en-US" dirty="0" err="1"/>
              <a:t>Који</a:t>
            </a:r>
            <a:r>
              <a:rPr lang="en-US" dirty="0"/>
              <a:t> </a:t>
            </a:r>
            <a:r>
              <a:rPr lang="en-US" dirty="0" err="1"/>
              <a:t>су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начини</a:t>
            </a:r>
            <a:r>
              <a:rPr lang="en-US" dirty="0"/>
              <a:t> </a:t>
            </a:r>
            <a:r>
              <a:rPr lang="en-US" dirty="0" err="1"/>
              <a:t>примене</a:t>
            </a:r>
            <a:r>
              <a:rPr lang="en-US" dirty="0"/>
              <a:t> </a:t>
            </a:r>
            <a:r>
              <a:rPr lang="en-US" dirty="0" err="1"/>
              <a:t>квалификованог</a:t>
            </a:r>
            <a:r>
              <a:rPr lang="en-US" dirty="0"/>
              <a:t> </a:t>
            </a:r>
            <a:r>
              <a:rPr lang="en-US" dirty="0" err="1"/>
              <a:t>електронског</a:t>
            </a:r>
            <a:r>
              <a:rPr lang="en-US" dirty="0"/>
              <a:t> </a:t>
            </a:r>
            <a:r>
              <a:rPr lang="sr-Cyrl-RS" dirty="0"/>
              <a:t>потписа</a:t>
            </a:r>
            <a:r>
              <a:rPr lang="en-US" dirty="0"/>
              <a:t> и </a:t>
            </a:r>
            <a:r>
              <a:rPr lang="en-US" dirty="0" err="1"/>
              <a:t>печата</a:t>
            </a:r>
            <a:r>
              <a:rPr lang="en-US" dirty="0"/>
              <a:t>?</a:t>
            </a:r>
            <a:endParaRPr lang="en-US" dirty="0"/>
          </a:p>
          <a:p>
            <a:r>
              <a:rPr lang="en-US" dirty="0" err="1"/>
              <a:t>Шта</a:t>
            </a:r>
            <a:r>
              <a:rPr lang="en-US" dirty="0"/>
              <a:t> </a:t>
            </a:r>
            <a:r>
              <a:rPr lang="en-US" dirty="0" err="1"/>
              <a:t>је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Квалификовани</a:t>
            </a:r>
            <a:r>
              <a:rPr lang="en-US" dirty="0"/>
              <a:t> </a:t>
            </a:r>
            <a:r>
              <a:rPr lang="en-US" dirty="0" err="1"/>
              <a:t>електронски</a:t>
            </a:r>
            <a:r>
              <a:rPr lang="en-US" dirty="0"/>
              <a:t> </a:t>
            </a:r>
            <a:r>
              <a:rPr lang="en-US" dirty="0" err="1"/>
              <a:t>печат</a:t>
            </a:r>
            <a:r>
              <a:rPr lang="en-US" dirty="0"/>
              <a:t>?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1578" y="1669058"/>
            <a:ext cx="9144000" cy="1851025"/>
          </a:xfrm>
        </p:spPr>
        <p:txBody>
          <a:bodyPr>
            <a:noAutofit/>
          </a:bodyPr>
          <a:lstStyle/>
          <a:p>
            <a:r>
              <a:rPr lang="sr-Cyrl-RS" altLang="en-US" sz="3600" b="1" dirty="0"/>
              <a:t>НАЈВАЖНИЈА ТЕХНИЧКА И ПРОЦЕДУРАЛНА ПИТАЊА</a:t>
            </a:r>
            <a:endParaRPr lang="en-US" altLang="sr-Cyrl-RS" sz="36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040" y="190500"/>
            <a:ext cx="9611360" cy="582613"/>
          </a:xfrm>
        </p:spPr>
        <p:txBody>
          <a:bodyPr/>
          <a:lstStyle/>
          <a:p>
            <a:r>
              <a:rPr lang="sr-Cyrl-RS" dirty="0"/>
              <a:t>еАРХИВИРАЊЕ - ПОУЗДАНО ЧУВАЊЕ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Поуздано чување је организационо-технички процес прописан ради дуготрајног и безбедног чувања електронских докумената</a:t>
            </a:r>
            <a:endParaRPr lang="sr-Cyrl-RS" dirty="0"/>
          </a:p>
          <a:p>
            <a:r>
              <a:rPr lang="sr-Cyrl-RS" dirty="0"/>
              <a:t>еАрхивирање је процес примене класичних архивских поступања на електронска документа. </a:t>
            </a:r>
            <a:endParaRPr lang="sr-Cyrl-RS" dirty="0"/>
          </a:p>
          <a:p>
            <a:pPr marL="0" indent="0">
              <a:buNone/>
            </a:pPr>
            <a:endParaRPr lang="sr-Cyrl-RS" dirty="0"/>
          </a:p>
          <a:p>
            <a:pPr lvl="1"/>
            <a:r>
              <a:rPr lang="sr-Cyrl-RS" dirty="0"/>
              <a:t>Место Поузданог чувања је позиција у Архивској књизи</a:t>
            </a:r>
            <a:endParaRPr lang="sr-Cyrl-RS" dirty="0"/>
          </a:p>
          <a:p>
            <a:pPr lvl="1"/>
            <a:r>
              <a:rPr lang="sr-Cyrl-RS" dirty="0"/>
              <a:t>еДокумент је категорија документа из Листе категорија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000" y="190500"/>
            <a:ext cx="10170160" cy="582613"/>
          </a:xfrm>
        </p:spPr>
        <p:txBody>
          <a:bodyPr/>
          <a:lstStyle/>
          <a:p>
            <a:r>
              <a:rPr lang="sr-Cyrl-RS" dirty="0"/>
              <a:t>КОЈА еДОКУМЕНТА СЕ ПОУЗДАНО ЧУВАЈУ?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Cyrl-RS" dirty="0"/>
              <a:t>Члан 60 Закона о еДокумент, наводи да еДокумента могу бити:</a:t>
            </a:r>
            <a:endParaRPr lang="sr-Cyrl-RS" dirty="0"/>
          </a:p>
          <a:p>
            <a:pPr marL="514350" indent="-514350">
              <a:buAutoNum type="arabicPeriod"/>
            </a:pPr>
            <a:r>
              <a:rPr lang="sr-Cyrl-RS" dirty="0"/>
              <a:t>Она која су оригинално настала у еОблику</a:t>
            </a:r>
            <a:endParaRPr lang="sr-Cyrl-RS" dirty="0"/>
          </a:p>
          <a:p>
            <a:pPr lvl="1"/>
            <a:r>
              <a:rPr lang="sr-Cyrl-RS" dirty="0"/>
              <a:t>Потписана електронским сертификатима</a:t>
            </a:r>
            <a:endParaRPr lang="sr-Cyrl-RS" dirty="0"/>
          </a:p>
          <a:p>
            <a:pPr marL="514350" indent="-514350">
              <a:buAutoNum type="arabicPeriod"/>
            </a:pPr>
            <a:r>
              <a:rPr lang="sr-Cyrl-RS" dirty="0"/>
              <a:t>Документа која су настала конверзијом из једног у други електронски облик</a:t>
            </a:r>
            <a:endParaRPr lang="sr-Cyrl-RS" dirty="0"/>
          </a:p>
          <a:p>
            <a:pPr lvl="1"/>
            <a:r>
              <a:rPr lang="sr-Cyrl-RS" dirty="0"/>
              <a:t>Нпр. Ворд у ПДФ</a:t>
            </a:r>
            <a:endParaRPr lang="sr-Cyrl-RS" dirty="0"/>
          </a:p>
          <a:p>
            <a:pPr marL="514350" indent="-514350">
              <a:buAutoNum type="arabicPeriod"/>
            </a:pPr>
            <a:r>
              <a:rPr lang="sr-Cyrl-RS" dirty="0"/>
              <a:t>Дигитализована документа, настала конверзијом из папирног облика</a:t>
            </a:r>
            <a:endParaRPr lang="sr-Cyrl-RS" dirty="0"/>
          </a:p>
          <a:p>
            <a:pPr lvl="1"/>
            <a:r>
              <a:rPr lang="sr-Cyrl-RS" dirty="0"/>
              <a:t>Скенирана папирна оригинална документа</a:t>
            </a:r>
            <a:endParaRPr lang="sr-Cyrl-R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7200" y="190500"/>
            <a:ext cx="10464800" cy="582613"/>
          </a:xfrm>
        </p:spPr>
        <p:txBody>
          <a:bodyPr/>
          <a:lstStyle/>
          <a:p>
            <a:r>
              <a:rPr lang="sr-Cyrl-RS" dirty="0"/>
              <a:t> КАКО ПРЕПОЗНАЈЕМО ПРВУ КАТЕГОРИЈУ?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Електронска документа која су изворно настала у електронском облику</a:t>
            </a:r>
            <a:endParaRPr lang="sr-Cyrl-RS" dirty="0"/>
          </a:p>
          <a:p>
            <a:pPr lvl="1"/>
            <a:r>
              <a:rPr lang="sr-Cyrl-RS" dirty="0"/>
              <a:t>Електронски потписана документа</a:t>
            </a:r>
            <a:endParaRPr lang="sr-Cyrl-RS" dirty="0"/>
          </a:p>
          <a:p>
            <a:pPr lvl="1"/>
            <a:r>
              <a:rPr lang="sr-Cyrl-RS" dirty="0"/>
              <a:t>Документа која имају законску валидност само у еОблику</a:t>
            </a:r>
            <a:endParaRPr lang="sr-Cyrl-RS" dirty="0"/>
          </a:p>
          <a:p>
            <a:pPr lvl="1"/>
            <a:endParaRPr lang="sr-Cyrl-RS" sz="1800" dirty="0">
              <a:solidFill>
                <a:srgbClr val="000000"/>
              </a:solidFill>
              <a:effectLst/>
              <a:latin typeface="Verdana" panose="020B0604030504040204" pitchFamily="34" charset="0"/>
              <a:ea typeface="Calibri" charset="0"/>
              <a:cs typeface="Verdana" panose="020B0604030504040204" pitchFamily="34" charset="0"/>
            </a:endParaRP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Члан</a:t>
            </a:r>
            <a:r>
              <a:rPr lang="en-US" sz="2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7.</a:t>
            </a:r>
            <a:r>
              <a:rPr lang="sr-Cyrl-RS" sz="2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Закона о еДокументу</a:t>
            </a:r>
            <a:endParaRPr lang="en-US" sz="2800" dirty="0">
              <a:effectLst/>
              <a:latin typeface="Verdana" panose="020B0604030504040204" pitchFamily="34" charset="0"/>
              <a:ea typeface="Calibri" charset="0"/>
              <a:cs typeface="Verdana" panose="020B0604030504040204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None/>
            </a:pP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Електронском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документу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не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може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се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оспорити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пуноважност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,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доказна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снага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,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као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ни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писана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форма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само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зато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што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је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у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електронском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облику</a:t>
            </a:r>
            <a:r>
              <a:rPr lang="en-US" sz="24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.</a:t>
            </a:r>
            <a:endParaRPr lang="sr-Cyrl-RS" sz="2400" i="1" dirty="0">
              <a:solidFill>
                <a:srgbClr val="000000"/>
              </a:solidFill>
              <a:effectLst/>
              <a:latin typeface="Verdana" panose="020B0604030504040204" pitchFamily="34" charset="0"/>
              <a:ea typeface="Calibri" charset="0"/>
              <a:cs typeface="Verdana" panose="020B0604030504040204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None/>
            </a:pPr>
            <a:r>
              <a:rPr lang="sr-Cyrl-RS" sz="2400" dirty="0">
                <a:solidFill>
                  <a:srgbClr val="FF0000"/>
                </a:solidFill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СВАКИ ПОСЛОВНИ ДОКУМЕНТ МОЖЕ БИТИ ИЗВОРНО ЕЛЕКТРОНСКИ ОСИМ АКО ЗАКОН ДРУГАЧИЈЕ НЕ НАВОДИ!</a:t>
            </a:r>
            <a:endParaRPr lang="en-US" sz="2400" dirty="0">
              <a:solidFill>
                <a:srgbClr val="FF0000"/>
              </a:solidFill>
              <a:effectLst/>
              <a:latin typeface="Verdana" panose="020B0604030504040204" pitchFamily="34" charset="0"/>
              <a:ea typeface="Calibri" charset="0"/>
              <a:cs typeface="Verdana" panose="020B0604030504040204" pitchFamily="34" charset="0"/>
            </a:endParaRPr>
          </a:p>
          <a:p>
            <a:endParaRPr lang="sr-Cyrl-R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КАКО СЕ ПОУЗДАНО ЧУВАЈУ?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Cyrl-RS" dirty="0"/>
              <a:t>Ова врста електронских докумената се поуздано чувају:</a:t>
            </a:r>
            <a:endParaRPr lang="sr-Cyrl-RS" dirty="0"/>
          </a:p>
          <a:p>
            <a:pPr marL="514350" indent="-514350">
              <a:buAutoNum type="arabicPeriod"/>
            </a:pPr>
            <a:r>
              <a:rPr lang="sr-Cyrl-RS" dirty="0"/>
              <a:t>Ако се чувају трајно</a:t>
            </a:r>
            <a:endParaRPr lang="sr-Cyrl-RS" dirty="0"/>
          </a:p>
          <a:p>
            <a:pPr marL="914400" lvl="1" indent="-514350">
              <a:buFont typeface="+mj-lt"/>
              <a:buAutoNum type="alphaLcParenR"/>
            </a:pPr>
            <a:r>
              <a:rPr lang="sr-Cyrl-RS" dirty="0"/>
              <a:t>Припремом еДокумента за поуздано чување</a:t>
            </a:r>
            <a:endParaRPr lang="sr-Cyrl-RS" dirty="0"/>
          </a:p>
          <a:p>
            <a:pPr marL="914400" lvl="1" indent="-514350">
              <a:buFont typeface="+mj-lt"/>
              <a:buAutoNum type="alphaLcParenR"/>
            </a:pPr>
            <a:r>
              <a:rPr lang="sr-Cyrl-RS" dirty="0"/>
              <a:t>Валидацијом оригиналног електронског потписа/печата </a:t>
            </a:r>
            <a:endParaRPr lang="sr-Cyrl-RS" dirty="0"/>
          </a:p>
          <a:p>
            <a:pPr marL="914400" lvl="1" indent="-514350">
              <a:buFont typeface="+mj-lt"/>
              <a:buAutoNum type="alphaLcParenR"/>
            </a:pPr>
            <a:r>
              <a:rPr lang="sr-Cyrl-RS" dirty="0"/>
              <a:t>Овером Временским жигом</a:t>
            </a:r>
            <a:endParaRPr lang="sr-Cyrl-RS" dirty="0"/>
          </a:p>
          <a:p>
            <a:pPr marL="914400" lvl="1" indent="-514350">
              <a:buFont typeface="+mj-lt"/>
              <a:buAutoNum type="alphaLcParenR"/>
            </a:pPr>
            <a:r>
              <a:rPr lang="sr-Cyrl-RS" dirty="0"/>
              <a:t>Накнадним наношењем електронског потписа/печата у року важења постојећег – заштита од евентуалне, накнадне, злоупотребе 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КАКО СЕ ПОУЗДАНО ЧУВАЈУ?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Cyrl-RS" dirty="0"/>
              <a:t>Ова врста електронских докумената се поуздано чувају:</a:t>
            </a:r>
            <a:endParaRPr lang="sr-Cyrl-RS" dirty="0"/>
          </a:p>
          <a:p>
            <a:pPr marL="514350" indent="-514350">
              <a:buAutoNum type="arabicPeriod"/>
            </a:pPr>
            <a:r>
              <a:rPr lang="sr-Cyrl-RS" dirty="0"/>
              <a:t>Немају трајни рок чувања </a:t>
            </a:r>
            <a:endParaRPr lang="sr-Cyrl-RS" dirty="0"/>
          </a:p>
          <a:p>
            <a:pPr marL="914400" lvl="1" indent="-514350">
              <a:buFont typeface="+mj-lt"/>
              <a:buAutoNum type="alphaLcParenR"/>
            </a:pPr>
            <a:r>
              <a:rPr lang="sr-Cyrl-RS" dirty="0"/>
              <a:t>Припремом еДокумента за поуздано чување</a:t>
            </a:r>
            <a:endParaRPr lang="sr-Cyrl-RS" dirty="0"/>
          </a:p>
          <a:p>
            <a:pPr marL="914400" lvl="1" indent="-514350">
              <a:buFont typeface="+mj-lt"/>
              <a:buAutoNum type="alphaLcParenR"/>
            </a:pPr>
            <a:r>
              <a:rPr lang="sr-Cyrl-RS" dirty="0"/>
              <a:t>Валидацијом оригиналног електронског потписа/печата </a:t>
            </a:r>
            <a:endParaRPr lang="sr-Cyrl-RS" dirty="0"/>
          </a:p>
          <a:p>
            <a:pPr marL="914400" lvl="1" indent="-514350">
              <a:buFont typeface="+mj-lt"/>
              <a:buAutoNum type="alphaLcParenR"/>
            </a:pPr>
            <a:r>
              <a:rPr lang="sr-Cyrl-RS" dirty="0"/>
              <a:t>Овером електронским потписом/печатом у тренутку почетка поузданог електронског чувања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47637"/>
            <a:ext cx="10972800" cy="582613"/>
          </a:xfrm>
        </p:spPr>
        <p:txBody>
          <a:bodyPr/>
          <a:lstStyle/>
          <a:p>
            <a:r>
              <a:rPr lang="sr-Cyrl-RS" sz="3200" dirty="0"/>
              <a:t>СОФТВЕРСКА РЕШЕЊА ЗА ПОУЗДАНО ЧУВАЊЕ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Потреба Државе да се организовано и поуздано чувају сва документа која су у њеној надлежности</a:t>
            </a:r>
            <a:endParaRPr lang="sr-Cyrl-RS" dirty="0"/>
          </a:p>
          <a:p>
            <a:r>
              <a:rPr lang="sr-Cyrl-RS" dirty="0"/>
              <a:t>Појединачне еАрхиве – Централна еАрхива</a:t>
            </a:r>
            <a:endParaRPr lang="sr-Cyrl-RS" dirty="0"/>
          </a:p>
          <a:p>
            <a:r>
              <a:rPr lang="sr-Cyrl-RS" dirty="0"/>
              <a:t> еАрхив – софтверско решење на републичком нивоу</a:t>
            </a:r>
            <a:endParaRPr lang="sr-Cyrl-RS" dirty="0"/>
          </a:p>
          <a:p>
            <a:r>
              <a:rPr lang="sr-Cyrl-RS" dirty="0"/>
              <a:t>еАрхив – информациои систем за надлежне регионалне Архиве</a:t>
            </a:r>
            <a:endParaRPr lang="sr-Cyrl-R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47637"/>
            <a:ext cx="10972800" cy="582613"/>
          </a:xfrm>
        </p:spPr>
        <p:txBody>
          <a:bodyPr/>
          <a:lstStyle/>
          <a:p>
            <a:r>
              <a:rPr lang="sr-Cyrl-RS" sz="3200" dirty="0"/>
              <a:t>СОФТВЕРСКА РЕШЕЊА ЗА ПОУЗДАНО ЧУВАЊЕ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Електронска </a:t>
            </a:r>
            <a:r>
              <a:rPr lang="ru-RU" dirty="0"/>
              <a:t>Услуга квалификованог електронског чувања докумената </a:t>
            </a:r>
            <a:endParaRPr lang="ru-RU" dirty="0"/>
          </a:p>
          <a:p>
            <a:pPr lvl="1"/>
            <a:r>
              <a:rPr lang="sr-Cyrl-RS" dirty="0"/>
              <a:t>Комерцијална услуга</a:t>
            </a:r>
            <a:endParaRPr lang="sr-Cyrl-RS" dirty="0"/>
          </a:p>
          <a:p>
            <a:pPr lvl="1"/>
            <a:r>
              <a:rPr lang="sr-Cyrl-RS" dirty="0"/>
              <a:t>Серификована тела од стране Министарства за телекомуникације – Листа на сајту. Тренутно постоје само 2 правна лица са овим сертификатом</a:t>
            </a:r>
            <a:endParaRPr lang="sr-Cyrl-RS" dirty="0"/>
          </a:p>
          <a:p>
            <a:pPr lvl="1"/>
            <a:r>
              <a:rPr lang="sr-Cyrl-RS" dirty="0"/>
              <a:t>Достава документа на чување на њиховим ресурсима.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47637"/>
            <a:ext cx="10972800" cy="582613"/>
          </a:xfrm>
        </p:spPr>
        <p:txBody>
          <a:bodyPr/>
          <a:lstStyle/>
          <a:p>
            <a:r>
              <a:rPr lang="sr-Cyrl-RS" sz="3200" dirty="0"/>
              <a:t>СОФТВЕРСКА РЕШЕЊА ЗА ПОУЗДАНО ЧУВАЊЕ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Електронска </a:t>
            </a:r>
            <a:r>
              <a:rPr lang="ru-RU" dirty="0"/>
              <a:t>Услуга квалификованог електронског чувања докумената </a:t>
            </a:r>
            <a:endParaRPr lang="ru-RU" dirty="0"/>
          </a:p>
          <a:p>
            <a:pPr lvl="1"/>
            <a:r>
              <a:rPr lang="sr-Cyrl-RS" dirty="0"/>
              <a:t>Комерцијална услуга</a:t>
            </a:r>
            <a:endParaRPr lang="sr-Cyrl-RS" dirty="0"/>
          </a:p>
          <a:p>
            <a:pPr lvl="1"/>
            <a:r>
              <a:rPr lang="sr-Cyrl-RS" dirty="0"/>
              <a:t>Серификована тела од стране Министарства за телекомуникације – Листа на сајту. Тренутно постоје само 2 правна лица са овим сертификатом</a:t>
            </a:r>
            <a:endParaRPr lang="sr-Cyrl-RS" dirty="0"/>
          </a:p>
          <a:p>
            <a:pPr lvl="1"/>
            <a:r>
              <a:rPr lang="sr-Cyrl-RS" dirty="0"/>
              <a:t>Достава документа на чување на њиховим ресурсима.</a:t>
            </a:r>
            <a:endParaRPr lang="sr-Cyrl-RS" dirty="0"/>
          </a:p>
          <a:p>
            <a:pPr lvl="1"/>
            <a:endParaRPr lang="sr-Cyrl-RS" dirty="0"/>
          </a:p>
          <a:p>
            <a:pPr marL="457200" lvl="1" indent="0" algn="ctr">
              <a:buNone/>
            </a:pPr>
            <a:r>
              <a:rPr lang="sr-Cyrl-RS" sz="3600" dirty="0">
                <a:solidFill>
                  <a:srgbClr val="FF0000"/>
                </a:solidFill>
              </a:rPr>
              <a:t>КАКО ФУНКЦИОНИШ</a:t>
            </a:r>
            <a:r>
              <a:rPr lang="sr-Latn-RS" sz="3600" dirty="0">
                <a:solidFill>
                  <a:srgbClr val="FF0000"/>
                </a:solidFill>
              </a:rPr>
              <a:t>E</a:t>
            </a:r>
            <a:r>
              <a:rPr lang="sr-Cyrl-RS" sz="3600" dirty="0">
                <a:solidFill>
                  <a:srgbClr val="FF0000"/>
                </a:solidFill>
              </a:rPr>
              <a:t>?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47637"/>
            <a:ext cx="10972800" cy="582613"/>
          </a:xfrm>
        </p:spPr>
        <p:txBody>
          <a:bodyPr/>
          <a:lstStyle/>
          <a:p>
            <a:r>
              <a:rPr lang="sr-Cyrl-RS" sz="3200" dirty="0"/>
              <a:t>СОФТВЕРСКА РЕШЕЊА ЗА ПОУЗДАНО ЧУВАЊЕ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Комерцијални уговор:</a:t>
            </a:r>
            <a:endParaRPr lang="sr-Cyrl-RS" dirty="0"/>
          </a:p>
          <a:p>
            <a:pPr lvl="1"/>
            <a:r>
              <a:rPr lang="sr-Cyrl-RS" dirty="0"/>
              <a:t>Месечна цена закупа простора у МБ-ГБ</a:t>
            </a:r>
            <a:endParaRPr lang="sr-Cyrl-RS" dirty="0"/>
          </a:p>
          <a:p>
            <a:pPr lvl="1"/>
            <a:r>
              <a:rPr lang="sr-Cyrl-RS" dirty="0"/>
              <a:t>Приступни налог за Овлашћене особе</a:t>
            </a:r>
            <a:endParaRPr lang="sr-Cyrl-RS" dirty="0"/>
          </a:p>
          <a:p>
            <a:pPr lvl="1"/>
            <a:r>
              <a:rPr lang="sr-Cyrl-RS" dirty="0"/>
              <a:t>Директан приступ Порталу</a:t>
            </a:r>
            <a:endParaRPr lang="sr-Cyrl-RS" dirty="0"/>
          </a:p>
          <a:p>
            <a:pPr lvl="1"/>
            <a:r>
              <a:rPr lang="sr-Cyrl-RS" dirty="0"/>
              <a:t>Унос Категорија докумената</a:t>
            </a:r>
            <a:endParaRPr lang="sr-Cyrl-RS" dirty="0"/>
          </a:p>
          <a:p>
            <a:pPr lvl="1"/>
            <a:r>
              <a:rPr lang="sr-Cyrl-RS" dirty="0"/>
              <a:t>Драг анд Дроп докумената</a:t>
            </a:r>
            <a:endParaRPr lang="sr-Cyrl-RS" dirty="0"/>
          </a:p>
          <a:p>
            <a:r>
              <a:rPr lang="sr-Cyrl-RS" dirty="0"/>
              <a:t>Судски валидне потврде</a:t>
            </a:r>
            <a:endParaRPr lang="sr-Cyrl-RS" dirty="0"/>
          </a:p>
          <a:p>
            <a:pPr lvl="1"/>
            <a:r>
              <a:rPr lang="sr-Cyrl-RS" dirty="0"/>
              <a:t>О Валидности</a:t>
            </a:r>
            <a:endParaRPr lang="sr-Cyrl-RS" dirty="0"/>
          </a:p>
          <a:p>
            <a:pPr lvl="1"/>
            <a:r>
              <a:rPr lang="sr-Cyrl-RS" dirty="0"/>
              <a:t>О Архивирању</a:t>
            </a:r>
            <a:endParaRPr lang="sr-Cyrl-RS" dirty="0"/>
          </a:p>
          <a:p>
            <a:pPr marL="457200" lvl="1" indent="0">
              <a:buNone/>
            </a:pPr>
            <a:endParaRPr lang="sr-Cyrl-R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Digital Docs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87697"/>
            <a:ext cx="12192000" cy="532710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УСЛОВИ И ДОДАТНЕ МОГУЋНОСТИ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УСЛОВ: Пре архивирања, документ мора бити потписан валидним еСертификатом</a:t>
            </a:r>
            <a:endParaRPr lang="sr-Cyrl-RS" dirty="0"/>
          </a:p>
          <a:p>
            <a:pPr lvl="1"/>
            <a:r>
              <a:rPr lang="sr-Cyrl-RS" dirty="0"/>
              <a:t>Платни листићи – КАКО?</a:t>
            </a:r>
            <a:endParaRPr lang="sr-Cyrl-RS" dirty="0"/>
          </a:p>
          <a:p>
            <a:r>
              <a:rPr lang="sr-Cyrl-RS" dirty="0"/>
              <a:t>АУТОМАТИЗАЦИЈА?</a:t>
            </a:r>
            <a:endParaRPr lang="sr-Cyrl-RS" dirty="0"/>
          </a:p>
          <a:p>
            <a:pPr lvl="1"/>
            <a:r>
              <a:rPr lang="sr-Cyrl-RS" dirty="0"/>
              <a:t>Интеграција са локалним системима</a:t>
            </a:r>
            <a:endParaRPr lang="sr-Cyrl-RS" dirty="0"/>
          </a:p>
          <a:p>
            <a:pPr lvl="1"/>
            <a:r>
              <a:rPr lang="sr-Cyrl-RS" dirty="0"/>
              <a:t>Усклађивање категорија</a:t>
            </a:r>
            <a:endParaRPr lang="sr-Cyrl-RS" dirty="0"/>
          </a:p>
          <a:p>
            <a:pPr lvl="1"/>
            <a:r>
              <a:rPr lang="sr-Cyrl-RS" dirty="0"/>
              <a:t>Групно електронско потписивање докумената пре еАрхивирања</a:t>
            </a:r>
            <a:endParaRPr lang="sr-Cyrl-RS" dirty="0"/>
          </a:p>
          <a:p>
            <a:pPr lvl="1"/>
            <a:r>
              <a:rPr lang="sr-Cyrl-RS" dirty="0"/>
              <a:t>Локална инстанца а не СааС (Клоуд) сервис</a:t>
            </a:r>
            <a:endParaRPr lang="sr-Cyrl-R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МАСОВНО ПОТПИСИВАЊЕ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887347"/>
            <a:ext cx="12172950" cy="600625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ЗАКЉУЧАК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Сертификована решења за еАрхивирање могу да буду реално решење за мали број докумената</a:t>
            </a:r>
            <a:endParaRPr lang="sr-Cyrl-RS" dirty="0"/>
          </a:p>
          <a:p>
            <a:r>
              <a:rPr lang="sr-Cyrl-RS" dirty="0"/>
              <a:t>Масовно еПотписивање/еАрхивирање јесте решење за еДокумента без еПотписа/Печата</a:t>
            </a:r>
            <a:endParaRPr lang="sr-Cyrl-RS" dirty="0"/>
          </a:p>
          <a:p>
            <a:r>
              <a:rPr lang="sr-Cyrl-RS" dirty="0"/>
              <a:t>Интеграциони модул/еАрхивирање је системско решење за организације са већим обимом еДокументације</a:t>
            </a:r>
            <a:endParaRPr lang="sr-Cyrl-R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47637"/>
            <a:ext cx="10972800" cy="582613"/>
          </a:xfrm>
        </p:spPr>
        <p:txBody>
          <a:bodyPr/>
          <a:lstStyle/>
          <a:p>
            <a:r>
              <a:rPr lang="sr-Cyrl-RS" sz="3200" dirty="0"/>
              <a:t>СОФТВЕРСКА РЕШЕЊА ЗА ПОУЗДАНО ЧУВАЊЕ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Интерно софтверско решење Корисника</a:t>
            </a:r>
            <a:endParaRPr lang="sr-Cyrl-RS" dirty="0"/>
          </a:p>
          <a:p>
            <a:pPr lvl="1"/>
            <a:r>
              <a:rPr lang="sr-Cyrl-RS" dirty="0"/>
              <a:t>Израђено у складу са Законом и подзаконским актима</a:t>
            </a:r>
            <a:endParaRPr lang="sr-Cyrl-RS" dirty="0"/>
          </a:p>
          <a:p>
            <a:pPr lvl="1"/>
            <a:r>
              <a:rPr lang="sr-Cyrl-RS" dirty="0"/>
              <a:t>Примењује све прописане процедуре</a:t>
            </a:r>
            <a:endParaRPr lang="sr-Cyrl-RS" dirty="0"/>
          </a:p>
          <a:p>
            <a:pPr lvl="1"/>
            <a:r>
              <a:rPr lang="sr-Cyrl-RS" dirty="0"/>
              <a:t>Корисник сам обезбеђује електронске сертификате и електронски временски жиг</a:t>
            </a:r>
            <a:endParaRPr lang="sr-Cyrl-RS" dirty="0"/>
          </a:p>
          <a:p>
            <a:pPr lvl="1"/>
            <a:r>
              <a:rPr lang="sr-Cyrl-RS" dirty="0"/>
              <a:t>Корисник сам прописује процедуре поступања</a:t>
            </a:r>
            <a:endParaRPr lang="sr-Cyrl-RS" dirty="0"/>
          </a:p>
          <a:p>
            <a:pPr lvl="1"/>
            <a:r>
              <a:rPr lang="sr-Cyrl-RS" dirty="0"/>
              <a:t>Корисник је одговоран за адекватност и потпуност примењених процедура</a:t>
            </a:r>
            <a:endParaRPr lang="sr-Cyrl-RS" dirty="0"/>
          </a:p>
          <a:p>
            <a:pPr lvl="1"/>
            <a:r>
              <a:rPr lang="sr-Cyrl-RS" dirty="0"/>
              <a:t>Корисник именује Овлашћена лица и дефинише процесе</a:t>
            </a:r>
            <a:endParaRPr lang="sr-Cyrl-R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ДОДАТНА ОБЈАШЊЕЊА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Шта је Електронски сертификат?</a:t>
            </a:r>
            <a:endParaRPr lang="sr-Cyrl-RS" dirty="0"/>
          </a:p>
          <a:p>
            <a:pPr lvl="1"/>
            <a:r>
              <a:rPr lang="sr-Cyrl-RS" dirty="0"/>
              <a:t>Неквалификован: Издат од стране правног или физичког лица</a:t>
            </a:r>
            <a:endParaRPr lang="sr-Cyrl-RS" dirty="0"/>
          </a:p>
          <a:p>
            <a:pPr lvl="1"/>
            <a:r>
              <a:rPr lang="sr-Cyrl-RS" dirty="0"/>
              <a:t>Квалификован: Издат од стране Државе преко Сертификационих Тела</a:t>
            </a:r>
            <a:endParaRPr lang="sr-Cyrl-RS" dirty="0"/>
          </a:p>
          <a:p>
            <a:r>
              <a:rPr lang="sr-Cyrl-RS" dirty="0"/>
              <a:t>Квалификовани електронски сертификат за физичко лице</a:t>
            </a:r>
            <a:endParaRPr lang="sr-Cyrl-RS" dirty="0"/>
          </a:p>
          <a:p>
            <a:pPr lvl="1"/>
            <a:r>
              <a:rPr lang="sr-Cyrl-RS" dirty="0"/>
              <a:t>Аутентификација (Пријава/Представљање)</a:t>
            </a:r>
            <a:endParaRPr lang="sr-Cyrl-RS" dirty="0"/>
          </a:p>
          <a:p>
            <a:pPr lvl="1"/>
            <a:r>
              <a:rPr lang="sr-Cyrl-RS" dirty="0"/>
              <a:t>Електронски потпис</a:t>
            </a:r>
            <a:endParaRPr lang="sr-Cyrl-RS" dirty="0"/>
          </a:p>
          <a:p>
            <a:pPr lvl="1"/>
            <a:r>
              <a:rPr lang="sr-Cyrl-RS" dirty="0"/>
              <a:t>Поседовање више сертификата – различита овлашћења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ДОДАТНА ОБЈАШЊЕЊА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Електронски квалификовани печат</a:t>
            </a:r>
            <a:endParaRPr lang="sr-Cyrl-RS" dirty="0"/>
          </a:p>
          <a:p>
            <a:pPr lvl="1"/>
            <a:r>
              <a:rPr lang="sr-Cyrl-RS" dirty="0"/>
              <a:t>Издаје се на правно лице са или без поседовања ЈМБГ-а физичког лица</a:t>
            </a:r>
            <a:endParaRPr lang="sr-Cyrl-RS" dirty="0"/>
          </a:p>
          <a:p>
            <a:pPr lvl="1"/>
            <a:r>
              <a:rPr lang="sr-Cyrl-RS" dirty="0"/>
              <a:t>Издаје се као десктоп инсталација или ВЕБ Сервис</a:t>
            </a:r>
            <a:endParaRPr lang="sr-Cyrl-RS" dirty="0"/>
          </a:p>
          <a:p>
            <a:pPr marL="457200" lvl="1" indent="0">
              <a:buNone/>
            </a:pPr>
            <a:endParaRPr lang="sr-Cyrl-RS" dirty="0"/>
          </a:p>
          <a:p>
            <a:r>
              <a:rPr lang="sr-Cyrl-RS" dirty="0"/>
              <a:t>Квалификовани временски жиг</a:t>
            </a:r>
            <a:endParaRPr lang="sr-Cyrl-RS" dirty="0"/>
          </a:p>
          <a:p>
            <a:pPr lvl="1"/>
            <a:r>
              <a:rPr lang="sr-Cyrl-RS" dirty="0"/>
              <a:t>Даљински еСервис</a:t>
            </a:r>
            <a:endParaRPr lang="sr-Cyrl-RS" dirty="0"/>
          </a:p>
          <a:p>
            <a:pPr lvl="1"/>
            <a:r>
              <a:rPr lang="sr-Cyrl-RS" dirty="0"/>
              <a:t>Комерцијални уговор</a:t>
            </a:r>
            <a:endParaRPr lang="sr-Cyrl-R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ДОДАТНА ОБЈАШЊЕЊА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Валидација квалификованог електронског потписа или печата</a:t>
            </a:r>
            <a:endParaRPr lang="sr-Cyrl-RS" dirty="0"/>
          </a:p>
          <a:p>
            <a:pPr lvl="1"/>
            <a:r>
              <a:rPr lang="sr-Cyrl-RS" dirty="0"/>
              <a:t>Јединствени сервис за сертификате свих Сертификационих тела</a:t>
            </a:r>
            <a:endParaRPr lang="sr-Cyrl-RS" dirty="0"/>
          </a:p>
          <a:p>
            <a:pPr lvl="1"/>
            <a:r>
              <a:rPr lang="sr-Cyrl-RS" dirty="0"/>
              <a:t>Употреба локалног начина валидације рачунањем хеша, провера Листе опозваних сертификата и провера над-сертификата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1578" y="1669058"/>
            <a:ext cx="9144000" cy="1851025"/>
          </a:xfrm>
        </p:spPr>
        <p:txBody>
          <a:bodyPr>
            <a:noAutofit/>
          </a:bodyPr>
          <a:lstStyle/>
          <a:p>
            <a:r>
              <a:rPr lang="sr-Cyrl-RS" altLang="en-US" sz="3600" b="1" dirty="0"/>
              <a:t>ДИГИТАЛИЗАЦИЈА ПАПИРНОГ ДОКУМЕНТА И ПОУЗДАНО ЧУВАЊЕ</a:t>
            </a:r>
            <a:endParaRPr lang="en-US" altLang="sr-Cyrl-RS" sz="3600" b="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ПОСТУПАЊЕ ОРГАНА ВЛАСТИ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Cyrl-RS" dirty="0"/>
              <a:t>У оквирима законских поступања у управним поступцима даје се могућност креирања законски валидног дигитализованог документа употребом сертификованог електронског печата органа или личног електронског сертификата овлашћеног лица у Органу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У ПРИВАТНОМ СЕКТОРУ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60" y="1174750"/>
            <a:ext cx="11775440" cy="5571490"/>
          </a:xfrm>
        </p:spPr>
        <p:txBody>
          <a:bodyPr/>
          <a:lstStyle/>
          <a:p>
            <a:pPr marL="0" indent="0">
              <a:buNone/>
            </a:pPr>
            <a:r>
              <a:rPr lang="sr-Cyrl-RS" dirty="0"/>
              <a:t>У складу да чланом 11, Закона о еДокументу, </a:t>
            </a:r>
            <a:r>
              <a:rPr lang="en-US" dirty="0" err="1"/>
              <a:t>Акт</a:t>
            </a:r>
            <a:r>
              <a:rPr lang="en-US" dirty="0"/>
              <a:t> </a:t>
            </a:r>
            <a:r>
              <a:rPr lang="en-US" dirty="0" err="1"/>
              <a:t>који</a:t>
            </a:r>
            <a:r>
              <a:rPr lang="en-US" dirty="0"/>
              <a:t> </a:t>
            </a:r>
            <a:r>
              <a:rPr lang="en-US" dirty="0" err="1"/>
              <a:t>је</a:t>
            </a:r>
            <a:r>
              <a:rPr lang="en-US" dirty="0"/>
              <a:t> </a:t>
            </a:r>
            <a:r>
              <a:rPr lang="en-US" dirty="0" err="1"/>
              <a:t>дигитализован</a:t>
            </a:r>
            <a:r>
              <a:rPr lang="en-US" dirty="0"/>
              <a:t> </a:t>
            </a:r>
            <a:r>
              <a:rPr lang="en-US" dirty="0" err="1"/>
              <a:t>има</a:t>
            </a:r>
            <a:r>
              <a:rPr lang="en-US" dirty="0"/>
              <a:t> </a:t>
            </a:r>
            <a:r>
              <a:rPr lang="en-US" dirty="0" err="1"/>
              <a:t>исту</a:t>
            </a:r>
            <a:r>
              <a:rPr lang="en-US" dirty="0"/>
              <a:t> </a:t>
            </a:r>
            <a:r>
              <a:rPr lang="en-US" dirty="0" err="1"/>
              <a:t>доказну</a:t>
            </a:r>
            <a:r>
              <a:rPr lang="en-US" dirty="0"/>
              <a:t> </a:t>
            </a:r>
            <a:r>
              <a:rPr lang="en-US" dirty="0" err="1"/>
              <a:t>снагу</a:t>
            </a:r>
            <a:r>
              <a:rPr lang="en-US" dirty="0"/>
              <a:t> </a:t>
            </a:r>
            <a:r>
              <a:rPr lang="en-US" dirty="0" err="1"/>
              <a:t>као</a:t>
            </a:r>
            <a:r>
              <a:rPr lang="en-US" dirty="0"/>
              <a:t> </a:t>
            </a:r>
            <a:r>
              <a:rPr lang="en-US" dirty="0" err="1"/>
              <a:t>оригинални</a:t>
            </a:r>
            <a:r>
              <a:rPr lang="en-US" dirty="0"/>
              <a:t> </a:t>
            </a:r>
            <a:r>
              <a:rPr lang="en-US" dirty="0" err="1"/>
              <a:t>акт</a:t>
            </a:r>
            <a:r>
              <a:rPr lang="en-US" dirty="0"/>
              <a:t> </a:t>
            </a:r>
            <a:r>
              <a:rPr lang="en-US" dirty="0" err="1"/>
              <a:t>ако</a:t>
            </a:r>
            <a:r>
              <a:rPr lang="en-US" dirty="0"/>
              <a:t> </a:t>
            </a:r>
            <a:r>
              <a:rPr lang="en-US" dirty="0" err="1"/>
              <a:t>су</a:t>
            </a:r>
            <a:r>
              <a:rPr lang="en-US" dirty="0"/>
              <a:t> </a:t>
            </a:r>
            <a:r>
              <a:rPr lang="en-US" dirty="0" err="1"/>
              <a:t>кумулативно</a:t>
            </a:r>
            <a:r>
              <a:rPr lang="en-US" dirty="0"/>
              <a:t> </a:t>
            </a:r>
            <a:r>
              <a:rPr lang="en-US" dirty="0" err="1"/>
              <a:t>испуњени</a:t>
            </a:r>
            <a:r>
              <a:rPr lang="en-US" dirty="0"/>
              <a:t> </a:t>
            </a:r>
            <a:r>
              <a:rPr lang="en-US" dirty="0" err="1"/>
              <a:t>следећи</a:t>
            </a:r>
            <a:r>
              <a:rPr lang="en-US" dirty="0"/>
              <a:t> </a:t>
            </a:r>
            <a:r>
              <a:rPr lang="en-US" dirty="0" err="1"/>
              <a:t>услови</a:t>
            </a:r>
            <a:r>
              <a:rPr lang="sr-Cyrl-RS" dirty="0"/>
              <a:t>:</a:t>
            </a:r>
            <a:endParaRPr lang="sr-Cyrl-RS" dirty="0"/>
          </a:p>
          <a:p>
            <a:pPr marL="971550" lvl="1" indent="-514350">
              <a:buAutoNum type="arabicPeriod"/>
            </a:pPr>
            <a:endParaRPr lang="sr-Cyrl-RS" dirty="0"/>
          </a:p>
          <a:p>
            <a:pPr marL="971550" lvl="1" indent="-514350">
              <a:buAutoNum type="arabicPeriod"/>
            </a:pPr>
            <a:r>
              <a:rPr lang="sr-Cyrl-RS" dirty="0"/>
              <a:t>Дигитализација је обављена под надзором:</a:t>
            </a:r>
            <a:endParaRPr lang="sr-Cyrl-RS" dirty="0"/>
          </a:p>
          <a:p>
            <a:pPr marL="457200" lvl="1" indent="0">
              <a:buNone/>
            </a:pPr>
            <a:endParaRPr lang="sr-Cyrl-RS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</a:pPr>
            <a:r>
              <a:rPr lang="en-US" sz="2400" dirty="0" err="1"/>
              <a:t>физичког</a:t>
            </a:r>
            <a:r>
              <a:rPr lang="en-US" sz="2400" dirty="0"/>
              <a:t> </a:t>
            </a:r>
            <a:r>
              <a:rPr lang="en-US" sz="2400" dirty="0" err="1"/>
              <a:t>односно</a:t>
            </a:r>
            <a:r>
              <a:rPr lang="en-US" sz="2400" dirty="0"/>
              <a:t> </a:t>
            </a:r>
            <a:r>
              <a:rPr lang="en-US" sz="2400" dirty="0" err="1"/>
              <a:t>овлашћеног</a:t>
            </a:r>
            <a:r>
              <a:rPr lang="en-US" sz="2400" dirty="0"/>
              <a:t> </a:t>
            </a:r>
            <a:r>
              <a:rPr lang="en-US" sz="2400" dirty="0" err="1"/>
              <a:t>лица</a:t>
            </a:r>
            <a:r>
              <a:rPr lang="en-US" sz="2400" dirty="0"/>
              <a:t> </a:t>
            </a:r>
            <a:r>
              <a:rPr lang="en-US" sz="2400" dirty="0" err="1"/>
              <a:t>физичког</a:t>
            </a:r>
            <a:r>
              <a:rPr lang="en-US" sz="2400" dirty="0"/>
              <a:t> </a:t>
            </a:r>
            <a:r>
              <a:rPr lang="en-US" sz="2400" dirty="0" err="1"/>
              <a:t>лица</a:t>
            </a:r>
            <a:r>
              <a:rPr lang="en-US" sz="2400" dirty="0"/>
              <a:t> у </a:t>
            </a:r>
            <a:r>
              <a:rPr lang="en-US" sz="2400" dirty="0" err="1"/>
              <a:t>својству</a:t>
            </a:r>
            <a:r>
              <a:rPr lang="en-US" sz="2400" dirty="0"/>
              <a:t> </a:t>
            </a:r>
            <a:r>
              <a:rPr lang="en-US" sz="2400" dirty="0" err="1"/>
              <a:t>регистрованог</a:t>
            </a:r>
            <a:r>
              <a:rPr lang="en-US" sz="2400" dirty="0"/>
              <a:t> </a:t>
            </a:r>
            <a:r>
              <a:rPr lang="en-US" sz="2400" dirty="0" err="1"/>
              <a:t>субјекта</a:t>
            </a:r>
            <a:r>
              <a:rPr lang="en-US" sz="2400" dirty="0"/>
              <a:t> </a:t>
            </a:r>
            <a:r>
              <a:rPr lang="en-US" sz="2400" dirty="0" err="1"/>
              <a:t>или</a:t>
            </a:r>
            <a:r>
              <a:rPr lang="en-US" sz="2400" dirty="0"/>
              <a:t> </a:t>
            </a:r>
            <a:r>
              <a:rPr lang="en-US" sz="2400" dirty="0" err="1"/>
              <a:t>овлашћеног</a:t>
            </a:r>
            <a:r>
              <a:rPr lang="en-US" sz="2400" dirty="0"/>
              <a:t> </a:t>
            </a:r>
            <a:r>
              <a:rPr lang="en-US" sz="2400" dirty="0" err="1"/>
              <a:t>лица</a:t>
            </a:r>
            <a:r>
              <a:rPr lang="en-US" sz="2400" dirty="0"/>
              <a:t> </a:t>
            </a:r>
            <a:r>
              <a:rPr lang="en-US" sz="2400" dirty="0" err="1"/>
              <a:t>правног</a:t>
            </a:r>
            <a:r>
              <a:rPr lang="en-US" sz="2400" dirty="0"/>
              <a:t> </a:t>
            </a:r>
            <a:r>
              <a:rPr lang="en-US" sz="2400" dirty="0" err="1"/>
              <a:t>лица</a:t>
            </a:r>
            <a:r>
              <a:rPr lang="en-US" sz="2400" dirty="0"/>
              <a:t> </a:t>
            </a:r>
            <a:r>
              <a:rPr lang="en-US" sz="2400" dirty="0" err="1"/>
              <a:t>чији</a:t>
            </a:r>
            <a:r>
              <a:rPr lang="en-US" sz="2400" dirty="0"/>
              <a:t> </a:t>
            </a:r>
            <a:r>
              <a:rPr lang="en-US" sz="2400" dirty="0" err="1"/>
              <a:t>је</a:t>
            </a:r>
            <a:r>
              <a:rPr lang="en-US" sz="2400" dirty="0"/>
              <a:t> </a:t>
            </a:r>
            <a:r>
              <a:rPr lang="en-US" sz="2400" dirty="0" err="1"/>
              <a:t>то</a:t>
            </a:r>
            <a:r>
              <a:rPr lang="en-US" sz="2400" dirty="0"/>
              <a:t> </a:t>
            </a:r>
            <a:r>
              <a:rPr lang="en-US" sz="2400" dirty="0" err="1"/>
              <a:t>акт</a:t>
            </a:r>
            <a:r>
              <a:rPr lang="en-US" sz="2400" dirty="0"/>
              <a:t>, </a:t>
            </a:r>
            <a:r>
              <a:rPr lang="en-US" sz="2400" dirty="0" err="1"/>
              <a:t>или</a:t>
            </a:r>
            <a:endParaRPr lang="en-US" sz="24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</a:pPr>
            <a:r>
              <a:rPr lang="en-US" sz="2400" dirty="0" err="1"/>
              <a:t>лицa</a:t>
            </a:r>
            <a:r>
              <a:rPr lang="en-US" sz="2400" dirty="0"/>
              <a:t> </a:t>
            </a:r>
            <a:r>
              <a:rPr lang="en-US" sz="2400" dirty="0" err="1"/>
              <a:t>које</a:t>
            </a:r>
            <a:r>
              <a:rPr lang="en-US" sz="2400" dirty="0"/>
              <a:t> </a:t>
            </a:r>
            <a:r>
              <a:rPr lang="en-US" sz="2400" dirty="0" err="1"/>
              <a:t>је</a:t>
            </a:r>
            <a:r>
              <a:rPr lang="en-US" sz="2400" dirty="0"/>
              <a:t> </a:t>
            </a:r>
            <a:r>
              <a:rPr lang="en-US" sz="2400" dirty="0" err="1"/>
              <a:t>овлашћено</a:t>
            </a:r>
            <a:r>
              <a:rPr lang="en-US" sz="2400" dirty="0"/>
              <a:t> </a:t>
            </a:r>
            <a:r>
              <a:rPr lang="en-US" sz="2400" dirty="0" err="1"/>
              <a:t>за</a:t>
            </a:r>
            <a:r>
              <a:rPr lang="en-US" sz="2400" dirty="0"/>
              <a:t> </a:t>
            </a:r>
            <a:r>
              <a:rPr lang="en-US" sz="2400" dirty="0" err="1"/>
              <a:t>оверу</a:t>
            </a:r>
            <a:r>
              <a:rPr lang="en-US" sz="2400" dirty="0"/>
              <a:t> </a:t>
            </a:r>
            <a:r>
              <a:rPr lang="en-US" sz="2400" dirty="0" err="1"/>
              <a:t>потписа</a:t>
            </a:r>
            <a:r>
              <a:rPr lang="en-US" sz="2400" dirty="0"/>
              <a:t>, </a:t>
            </a:r>
            <a:r>
              <a:rPr lang="en-US" sz="2400" dirty="0" err="1"/>
              <a:t>рукописа</a:t>
            </a:r>
            <a:r>
              <a:rPr lang="en-US" sz="2400" dirty="0"/>
              <a:t> и </a:t>
            </a:r>
            <a:r>
              <a:rPr lang="en-US" sz="2400" dirty="0" err="1"/>
              <a:t>преписа</a:t>
            </a:r>
            <a:r>
              <a:rPr lang="en-US" sz="2400" dirty="0"/>
              <a:t> у </a:t>
            </a:r>
            <a:r>
              <a:rPr lang="en-US" sz="2400" dirty="0" err="1"/>
              <a:t>складу</a:t>
            </a:r>
            <a:r>
              <a:rPr lang="en-US" sz="2400" dirty="0"/>
              <a:t> </a:t>
            </a:r>
            <a:r>
              <a:rPr lang="en-US" sz="2400" dirty="0" err="1"/>
              <a:t>са</a:t>
            </a:r>
            <a:r>
              <a:rPr lang="en-US" sz="2400" dirty="0"/>
              <a:t> </a:t>
            </a:r>
            <a:r>
              <a:rPr lang="en-US" sz="2400" dirty="0" err="1"/>
              <a:t>законом</a:t>
            </a:r>
            <a:r>
              <a:rPr lang="en-US" sz="2400" dirty="0"/>
              <a:t> </a:t>
            </a:r>
            <a:r>
              <a:rPr lang="en-US" sz="2400" dirty="0" err="1"/>
              <a:t>који</a:t>
            </a:r>
            <a:r>
              <a:rPr lang="en-US" sz="2400" dirty="0"/>
              <a:t> </a:t>
            </a:r>
            <a:r>
              <a:rPr lang="en-US" sz="2400" dirty="0" err="1"/>
              <a:t>уређује</a:t>
            </a:r>
            <a:r>
              <a:rPr lang="en-US" sz="2400" dirty="0"/>
              <a:t> </a:t>
            </a:r>
            <a:r>
              <a:rPr lang="en-US" sz="2400" dirty="0" err="1"/>
              <a:t>оверу</a:t>
            </a:r>
            <a:r>
              <a:rPr lang="en-US" sz="2400" dirty="0"/>
              <a:t> </a:t>
            </a:r>
            <a:r>
              <a:rPr lang="en-US" sz="2400" dirty="0" err="1"/>
              <a:t>потписа</a:t>
            </a:r>
            <a:r>
              <a:rPr lang="en-US" sz="2400" dirty="0"/>
              <a:t>, </a:t>
            </a:r>
            <a:r>
              <a:rPr lang="en-US" sz="2400" dirty="0" err="1"/>
              <a:t>рукописа</a:t>
            </a:r>
            <a:r>
              <a:rPr lang="en-US" sz="2400" dirty="0"/>
              <a:t> и </a:t>
            </a:r>
            <a:r>
              <a:rPr lang="en-US" sz="2400" dirty="0" err="1"/>
              <a:t>преписа</a:t>
            </a:r>
            <a:r>
              <a:rPr lang="en-US" sz="2400" dirty="0"/>
              <a:t>, </a:t>
            </a:r>
            <a:r>
              <a:rPr lang="en-US" sz="2400" dirty="0" err="1"/>
              <a:t>или</a:t>
            </a:r>
            <a:endParaRPr lang="en-US" sz="24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</a:pPr>
            <a:r>
              <a:rPr lang="en-US" sz="2400" dirty="0" err="1"/>
              <a:t>лица</a:t>
            </a:r>
            <a:r>
              <a:rPr lang="en-US" sz="2400" dirty="0"/>
              <a:t> </a:t>
            </a:r>
            <a:r>
              <a:rPr lang="en-US" sz="2400" dirty="0" err="1"/>
              <a:t>које</a:t>
            </a:r>
            <a:r>
              <a:rPr lang="en-US" sz="2400" dirty="0"/>
              <a:t> </a:t>
            </a:r>
            <a:r>
              <a:rPr lang="en-US" sz="2400" dirty="0" err="1"/>
              <a:t>је</a:t>
            </a:r>
            <a:r>
              <a:rPr lang="en-US" sz="2400" dirty="0"/>
              <a:t> </a:t>
            </a:r>
            <a:r>
              <a:rPr lang="en-US" sz="2400" dirty="0" err="1"/>
              <a:t>посебним</a:t>
            </a:r>
            <a:r>
              <a:rPr lang="en-US" sz="2400" dirty="0"/>
              <a:t> </a:t>
            </a:r>
            <a:r>
              <a:rPr lang="en-US" sz="2400" dirty="0" err="1"/>
              <a:t>законом</a:t>
            </a:r>
            <a:r>
              <a:rPr lang="en-US" sz="2400" dirty="0"/>
              <a:t> </a:t>
            </a:r>
            <a:r>
              <a:rPr lang="en-US" sz="2400" dirty="0" err="1"/>
              <a:t>овлашћено</a:t>
            </a:r>
            <a:r>
              <a:rPr lang="en-US" sz="2400" dirty="0"/>
              <a:t> </a:t>
            </a:r>
            <a:r>
              <a:rPr lang="en-US" sz="2400" dirty="0" err="1"/>
              <a:t>за</a:t>
            </a:r>
            <a:r>
              <a:rPr lang="en-US" sz="2400" dirty="0"/>
              <a:t> </a:t>
            </a:r>
            <a:r>
              <a:rPr lang="en-US" sz="2400" dirty="0" err="1"/>
              <a:t>оверу</a:t>
            </a:r>
            <a:r>
              <a:rPr lang="en-US" sz="2400" dirty="0"/>
              <a:t> </a:t>
            </a:r>
            <a:r>
              <a:rPr lang="en-US" sz="2400" dirty="0" err="1"/>
              <a:t>дигитализованог</a:t>
            </a:r>
            <a:r>
              <a:rPr lang="en-US" sz="2400" dirty="0"/>
              <a:t> </a:t>
            </a:r>
            <a:r>
              <a:rPr lang="en-US" sz="2400" dirty="0" err="1"/>
              <a:t>акта</a:t>
            </a:r>
            <a:r>
              <a:rPr lang="en-US" sz="2400" dirty="0"/>
              <a:t>;</a:t>
            </a:r>
            <a:endParaRPr lang="en-US" sz="2400" dirty="0"/>
          </a:p>
          <a:p>
            <a:pPr marL="457200" lvl="1" indent="0">
              <a:buNone/>
            </a:pPr>
            <a:endParaRPr lang="sr-Cyrl-R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У ПРИВАТНОМ СЕКТОРУ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60" y="1174750"/>
            <a:ext cx="11775440" cy="5571490"/>
          </a:xfrm>
        </p:spPr>
        <p:txBody>
          <a:bodyPr/>
          <a:lstStyle/>
          <a:p>
            <a:pPr marL="0" indent="0">
              <a:buNone/>
            </a:pPr>
            <a:r>
              <a:rPr lang="sr-Cyrl-RS" dirty="0"/>
              <a:t>2</a:t>
            </a:r>
            <a:r>
              <a:rPr lang="sr-Cyrl-RS" sz="2800" dirty="0"/>
              <a:t>. </a:t>
            </a:r>
            <a:r>
              <a:rPr lang="sr-Cyrl-RS" dirty="0"/>
              <a:t>Д</a:t>
            </a:r>
            <a:r>
              <a:rPr lang="en-US" dirty="0"/>
              <a:t>а </a:t>
            </a:r>
            <a:r>
              <a:rPr lang="en-US" dirty="0" err="1"/>
              <a:t>је</a:t>
            </a:r>
            <a:r>
              <a:rPr lang="en-US" dirty="0"/>
              <a:t> </a:t>
            </a:r>
            <a:r>
              <a:rPr lang="en-US" dirty="0" err="1"/>
              <a:t>истоветност</a:t>
            </a:r>
            <a:r>
              <a:rPr lang="en-US" dirty="0"/>
              <a:t> </a:t>
            </a:r>
            <a:r>
              <a:rPr lang="en-US" dirty="0" err="1"/>
              <a:t>дигитализованог</a:t>
            </a:r>
            <a:r>
              <a:rPr lang="en-US" dirty="0"/>
              <a:t> </a:t>
            </a:r>
            <a:r>
              <a:rPr lang="en-US" dirty="0" err="1"/>
              <a:t>акта</a:t>
            </a:r>
            <a:r>
              <a:rPr lang="en-US" dirty="0"/>
              <a:t> </a:t>
            </a:r>
            <a:r>
              <a:rPr lang="en-US" dirty="0" err="1"/>
              <a:t>са</a:t>
            </a:r>
            <a:r>
              <a:rPr lang="en-US" dirty="0"/>
              <a:t> </a:t>
            </a:r>
            <a:r>
              <a:rPr lang="en-US" dirty="0" err="1"/>
              <a:t>оригиналом</a:t>
            </a:r>
            <a:r>
              <a:rPr lang="en-US" dirty="0"/>
              <a:t> </a:t>
            </a:r>
            <a:r>
              <a:rPr lang="en-US" dirty="0" err="1"/>
              <a:t>потврђена</a:t>
            </a:r>
            <a:r>
              <a:rPr lang="en-US" dirty="0"/>
              <a:t> </a:t>
            </a:r>
            <a:r>
              <a:rPr lang="en-US" dirty="0" err="1"/>
              <a:t>квалификованим</a:t>
            </a:r>
            <a:r>
              <a:rPr lang="en-US" dirty="0"/>
              <a:t> </a:t>
            </a:r>
            <a:r>
              <a:rPr lang="en-US" dirty="0" err="1"/>
              <a:t>електронским</a:t>
            </a:r>
            <a:r>
              <a:rPr lang="en-US" dirty="0"/>
              <a:t> </a:t>
            </a:r>
            <a:r>
              <a:rPr lang="en-US" dirty="0" err="1"/>
              <a:t>печатом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квалификованим</a:t>
            </a:r>
            <a:r>
              <a:rPr lang="en-US" dirty="0"/>
              <a:t> </a:t>
            </a:r>
            <a:r>
              <a:rPr lang="en-US" dirty="0" err="1"/>
              <a:t>електронским</a:t>
            </a:r>
            <a:r>
              <a:rPr lang="en-US" dirty="0"/>
              <a:t> </a:t>
            </a:r>
            <a:r>
              <a:rPr lang="en-US" dirty="0" err="1"/>
              <a:t>потписом</a:t>
            </a:r>
            <a:r>
              <a:rPr lang="en-US" dirty="0"/>
              <a:t> </a:t>
            </a:r>
            <a:r>
              <a:rPr lang="en-US" dirty="0" err="1"/>
              <a:t>лица</a:t>
            </a:r>
            <a:r>
              <a:rPr lang="en-US" dirty="0"/>
              <a:t> </a:t>
            </a:r>
            <a:r>
              <a:rPr lang="sr-Cyrl-RS" dirty="0"/>
              <a:t>под чијим је надзором извршена дигитализација овог документа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лица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кога</a:t>
            </a:r>
            <a:r>
              <a:rPr lang="en-US" dirty="0"/>
              <a:t> </a:t>
            </a:r>
            <a:r>
              <a:rPr lang="en-US" dirty="0" err="1"/>
              <a:t>су</a:t>
            </a:r>
            <a:r>
              <a:rPr lang="en-US" dirty="0"/>
              <a:t> </a:t>
            </a:r>
            <a:r>
              <a:rPr lang="en-US" dirty="0" err="1"/>
              <a:t>пренете</a:t>
            </a:r>
            <a:r>
              <a:rPr lang="en-US" dirty="0"/>
              <a:t> </a:t>
            </a:r>
            <a:r>
              <a:rPr lang="en-US" dirty="0" err="1"/>
              <a:t>надлежности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основу</a:t>
            </a:r>
            <a:r>
              <a:rPr lang="en-US" dirty="0"/>
              <a:t> </a:t>
            </a:r>
            <a:r>
              <a:rPr lang="en-US" dirty="0" err="1"/>
              <a:t>којих</a:t>
            </a:r>
            <a:r>
              <a:rPr lang="en-US" dirty="0"/>
              <a:t> </a:t>
            </a:r>
            <a:r>
              <a:rPr lang="en-US" dirty="0" err="1"/>
              <a:t>је</a:t>
            </a:r>
            <a:r>
              <a:rPr lang="en-US" dirty="0"/>
              <a:t> </a:t>
            </a:r>
            <a:r>
              <a:rPr lang="en-US" dirty="0" err="1"/>
              <a:t>акт</a:t>
            </a:r>
            <a:r>
              <a:rPr lang="en-US" dirty="0"/>
              <a:t> </a:t>
            </a:r>
            <a:r>
              <a:rPr lang="en-US" dirty="0" err="1"/>
              <a:t>донет</a:t>
            </a:r>
            <a:r>
              <a:rPr lang="en-US" dirty="0"/>
              <a:t>.</a:t>
            </a:r>
            <a:endParaRPr lang="sr-Cyrl-RS" dirty="0"/>
          </a:p>
          <a:p>
            <a:pPr marL="0" indent="0">
              <a:buNone/>
            </a:pPr>
            <a:endParaRPr lang="sr-Cyrl-RS" sz="2800" dirty="0"/>
          </a:p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ОСНОВНО ПИТАЊЕ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Да ли је могуће дигитализовати оригинални папирни документ на прописани начин и бацити оригинал?</a:t>
            </a:r>
            <a:endParaRPr lang="sr-Cyrl-RS" dirty="0"/>
          </a:p>
          <a:p>
            <a:endParaRPr lang="sr-Cyrl-RS" dirty="0"/>
          </a:p>
          <a:p>
            <a:pPr marL="514350" indent="-514350">
              <a:buAutoNum type="arabicPeriod"/>
            </a:pPr>
            <a:r>
              <a:rPr lang="sr-Cyrl-RS" dirty="0"/>
              <a:t>Закон о еДокументу то потврђује</a:t>
            </a:r>
            <a:r>
              <a:rPr lang="sr-Cyrl-RS" sz="3600" dirty="0"/>
              <a:t>: „</a:t>
            </a:r>
            <a:r>
              <a:rPr lang="en-US" sz="20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Акт</a:t>
            </a:r>
            <a:r>
              <a:rPr lang="en-US" sz="2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који</a:t>
            </a:r>
            <a:r>
              <a:rPr lang="en-US" sz="2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је</a:t>
            </a:r>
            <a:r>
              <a:rPr lang="en-US" sz="2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дигитализован</a:t>
            </a:r>
            <a:r>
              <a:rPr lang="en-US" sz="2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има</a:t>
            </a:r>
            <a:r>
              <a:rPr lang="en-US" sz="2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исту</a:t>
            </a:r>
            <a:r>
              <a:rPr lang="en-US" sz="2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доказну</a:t>
            </a:r>
            <a:r>
              <a:rPr lang="en-US" sz="2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снагу</a:t>
            </a:r>
            <a:r>
              <a:rPr lang="en-US" sz="2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као</a:t>
            </a:r>
            <a:r>
              <a:rPr lang="en-US" sz="2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оригинални</a:t>
            </a:r>
            <a:r>
              <a:rPr lang="en-US" sz="2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акт</a:t>
            </a:r>
            <a:r>
              <a:rPr lang="en-US" sz="2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 </a:t>
            </a:r>
            <a:r>
              <a:rPr lang="sr-Cyrl-RS" sz="2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Calibri" charset="0"/>
                <a:cs typeface="Verdana" panose="020B0604030504040204" pitchFamily="34" charset="0"/>
              </a:rPr>
              <a:t>... „</a:t>
            </a:r>
            <a:endParaRPr lang="sr-Cyrl-RS" sz="2000" dirty="0">
              <a:solidFill>
                <a:srgbClr val="000000"/>
              </a:solidFill>
              <a:effectLst/>
              <a:latin typeface="Verdana" panose="020B0604030504040204" pitchFamily="34" charset="0"/>
              <a:ea typeface="Calibri" charset="0"/>
              <a:cs typeface="Verdana" panose="020B0604030504040204" pitchFamily="34" charset="0"/>
            </a:endParaRPr>
          </a:p>
          <a:p>
            <a:pPr marL="514350" indent="-514350">
              <a:buAutoNum type="arabicPeriod"/>
            </a:pPr>
            <a:r>
              <a:rPr lang="sr-Cyrl-RS" dirty="0"/>
              <a:t>Закони који дефинишу своја документа су јасна по питању обавезне форме, рока и начина чувања (пример: Закон о раду/Уговор о раду) </a:t>
            </a:r>
            <a:endParaRPr lang="sr-Cyrl-R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altLang="en-US" dirty="0">
                <a:sym typeface="+mn-ea"/>
              </a:rPr>
              <a:t>ФОРМАТИ еДОКУМЕНАТА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3140"/>
            <a:ext cx="10972800" cy="513461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000" b="1" u="sng" dirty="0"/>
              <a:t>ПОГОДНИ ФОРМАТИ: </a:t>
            </a:r>
            <a:endParaRPr lang="en-US" altLang="en-US" sz="3000" dirty="0"/>
          </a:p>
          <a:p>
            <a:pPr marL="0" indent="0">
              <a:buNone/>
            </a:pPr>
            <a:r>
              <a:rPr lang="en-US" altLang="en-US" sz="3000" dirty="0"/>
              <a:t>- </a:t>
            </a:r>
            <a:r>
              <a:rPr lang="en-US" altLang="en-US" sz="3000" dirty="0" err="1"/>
              <a:t>Стандардизовани</a:t>
            </a:r>
            <a:r>
              <a:rPr lang="en-US" altLang="en-US" sz="3000" dirty="0"/>
              <a:t> - ХМЛ, ЈАСОН</a:t>
            </a:r>
            <a:endParaRPr lang="en-US" altLang="en-US" sz="3000" dirty="0"/>
          </a:p>
          <a:p>
            <a:pPr marL="0" indent="0">
              <a:buNone/>
            </a:pPr>
            <a:r>
              <a:rPr lang="en-US" altLang="en-US" sz="3000" dirty="0"/>
              <a:t>ОАЗИС УБЛ 2.1 </a:t>
            </a:r>
            <a:r>
              <a:rPr lang="en-US" altLang="en-US" sz="3000" dirty="0" err="1"/>
              <a:t>има</a:t>
            </a:r>
            <a:r>
              <a:rPr lang="en-US" altLang="en-US" sz="3000" dirty="0"/>
              <a:t> 75 </a:t>
            </a:r>
            <a:r>
              <a:rPr lang="en-US" altLang="en-US" sz="3000" dirty="0" err="1"/>
              <a:t>дефиниција</a:t>
            </a:r>
            <a:r>
              <a:rPr lang="en-US" altLang="en-US" sz="3000" dirty="0"/>
              <a:t> </a:t>
            </a:r>
            <a:r>
              <a:rPr lang="en-US" altLang="en-US" sz="3000" dirty="0" err="1"/>
              <a:t>посл</a:t>
            </a:r>
            <a:r>
              <a:rPr lang="en-US" altLang="en-US" sz="3000" dirty="0"/>
              <a:t>. </a:t>
            </a:r>
            <a:r>
              <a:rPr lang="en-US" altLang="en-US" sz="3000" dirty="0" err="1"/>
              <a:t>докумената</a:t>
            </a:r>
            <a:endParaRPr lang="en-US" altLang="en-US" sz="3000" dirty="0"/>
          </a:p>
          <a:p>
            <a:pPr marL="0" indent="0">
              <a:buNone/>
            </a:pPr>
            <a:r>
              <a:rPr lang="en-US" altLang="en-US" sz="3000" dirty="0"/>
              <a:t>- ПДФ</a:t>
            </a:r>
            <a:r>
              <a:rPr lang="sr-Cyrl-RS" altLang="en-US" sz="3000" dirty="0"/>
              <a:t>/А и ПДФ/Е</a:t>
            </a:r>
            <a:r>
              <a:rPr lang="en-US" altLang="en-US" sz="3000" dirty="0"/>
              <a:t> (</a:t>
            </a:r>
            <a:r>
              <a:rPr lang="en-US" altLang="en-US" sz="3000" dirty="0" err="1"/>
              <a:t>могуће</a:t>
            </a:r>
            <a:r>
              <a:rPr lang="en-US" altLang="en-US" sz="3000" dirty="0"/>
              <a:t> </a:t>
            </a:r>
            <a:r>
              <a:rPr lang="en-US" altLang="en-US" sz="3000" dirty="0" err="1"/>
              <a:t>читање</a:t>
            </a:r>
            <a:r>
              <a:rPr lang="en-US" altLang="en-US" sz="3000" dirty="0"/>
              <a:t> и </a:t>
            </a:r>
            <a:r>
              <a:rPr lang="en-US" altLang="en-US" sz="3000" dirty="0" err="1"/>
              <a:t>претрага</a:t>
            </a:r>
            <a:r>
              <a:rPr lang="en-US" altLang="en-US" sz="3000" dirty="0"/>
              <a:t>)</a:t>
            </a:r>
            <a:endParaRPr lang="en-US" altLang="en-US" sz="3000" dirty="0"/>
          </a:p>
          <a:p>
            <a:pPr marL="0" indent="0">
              <a:buNone/>
            </a:pPr>
            <a:r>
              <a:rPr lang="en-US" altLang="en-US" sz="3000" dirty="0"/>
              <a:t>- Документ са </a:t>
            </a:r>
            <a:r>
              <a:rPr lang="en-US" altLang="en-US" sz="3000" dirty="0" err="1"/>
              <a:t>еКвалификованим</a:t>
            </a:r>
            <a:r>
              <a:rPr lang="en-US" altLang="en-US" sz="3000" dirty="0"/>
              <a:t> </a:t>
            </a:r>
            <a:r>
              <a:rPr lang="en-US" altLang="en-US" sz="3000" dirty="0" err="1"/>
              <a:t>потписом</a:t>
            </a:r>
            <a:endParaRPr lang="sr-Cyrl-RS" altLang="en-US" sz="3000" dirty="0"/>
          </a:p>
          <a:p>
            <a:pPr marL="0" indent="0">
              <a:buNone/>
            </a:pPr>
            <a:r>
              <a:rPr lang="sr-Cyrl-RS" altLang="en-US" sz="3000" dirty="0"/>
              <a:t>- ЈПГ, УТФ, ТИФФ, ПНГ</a:t>
            </a:r>
            <a:endParaRPr lang="en-US" altLang="en-US" sz="3000" dirty="0"/>
          </a:p>
          <a:p>
            <a:pPr marL="0" indent="0">
              <a:buNone/>
            </a:pPr>
            <a:r>
              <a:rPr lang="en-US" altLang="en-US" sz="3000" b="1" u="sng" dirty="0"/>
              <a:t>НЕПОГОДНИ ФОРМАТИ:</a:t>
            </a:r>
            <a:endParaRPr lang="en-US" altLang="en-US" sz="3000" dirty="0"/>
          </a:p>
          <a:p>
            <a:pPr marL="0" indent="0">
              <a:buNone/>
            </a:pPr>
            <a:r>
              <a:rPr lang="en-US" altLang="en-US" sz="3000" dirty="0"/>
              <a:t>- </a:t>
            </a:r>
            <a:r>
              <a:rPr lang="en-US" altLang="en-US" sz="3000" dirty="0" err="1"/>
              <a:t>Затворени</a:t>
            </a:r>
            <a:r>
              <a:rPr lang="en-US" altLang="en-US" sz="3000" dirty="0"/>
              <a:t> </a:t>
            </a:r>
            <a:r>
              <a:rPr lang="en-US" altLang="en-US" sz="3000" dirty="0" err="1"/>
              <a:t>стандардни</a:t>
            </a:r>
            <a:r>
              <a:rPr lang="en-US" altLang="en-US" sz="3000" dirty="0"/>
              <a:t> (МС ОФИС - </a:t>
            </a:r>
            <a:r>
              <a:rPr lang="en-US" altLang="en-US" sz="3000" dirty="0" err="1"/>
              <a:t>мења</a:t>
            </a:r>
            <a:r>
              <a:rPr lang="en-US" altLang="en-US" sz="3000" dirty="0"/>
              <a:t> </a:t>
            </a:r>
            <a:r>
              <a:rPr lang="en-US" altLang="en-US" sz="3000" dirty="0" err="1"/>
              <a:t>се</a:t>
            </a:r>
            <a:r>
              <a:rPr lang="en-US" altLang="en-US" sz="3000" dirty="0"/>
              <a:t> и </a:t>
            </a:r>
            <a:r>
              <a:rPr lang="en-US" altLang="en-US" sz="3000" dirty="0" err="1"/>
              <a:t>може</a:t>
            </a:r>
            <a:r>
              <a:rPr lang="en-US" altLang="en-US" sz="3000" dirty="0"/>
              <a:t> </a:t>
            </a:r>
            <a:r>
              <a:rPr lang="en-US" altLang="en-US" sz="3000" dirty="0" err="1"/>
              <a:t>бити</a:t>
            </a:r>
            <a:r>
              <a:rPr lang="en-US" altLang="en-US" sz="3000" dirty="0"/>
              <a:t> </a:t>
            </a:r>
            <a:r>
              <a:rPr lang="en-US" altLang="en-US" sz="3000" dirty="0" err="1"/>
              <a:t>укинут</a:t>
            </a:r>
            <a:r>
              <a:rPr lang="en-US" altLang="en-US" sz="3000" dirty="0"/>
              <a:t>)</a:t>
            </a:r>
            <a:endParaRPr lang="en-US" altLang="en-US" sz="3000" dirty="0"/>
          </a:p>
          <a:p>
            <a:pPr marL="0" indent="0">
              <a:buNone/>
            </a:pPr>
            <a:r>
              <a:rPr lang="en-US" altLang="en-US" sz="3000" dirty="0"/>
              <a:t>- ПДФ</a:t>
            </a:r>
            <a:r>
              <a:rPr lang="sr-Cyrl-RS" altLang="en-US" sz="3000" dirty="0"/>
              <a:t>/Б</a:t>
            </a:r>
            <a:r>
              <a:rPr lang="en-US" altLang="en-US" sz="3000" dirty="0"/>
              <a:t> </a:t>
            </a:r>
            <a:r>
              <a:rPr lang="en-US" altLang="en-US" sz="3000" dirty="0" err="1"/>
              <a:t>као</a:t>
            </a:r>
            <a:r>
              <a:rPr lang="en-US" altLang="en-US" sz="3000" dirty="0"/>
              <a:t> </a:t>
            </a:r>
            <a:r>
              <a:rPr lang="en-US" altLang="en-US" sz="3000" dirty="0" err="1"/>
              <a:t>фотографија</a:t>
            </a:r>
            <a:r>
              <a:rPr lang="en-US" altLang="en-US" sz="3000" dirty="0"/>
              <a:t> - </a:t>
            </a:r>
            <a:r>
              <a:rPr lang="en-US" altLang="en-US" sz="3000" dirty="0" err="1"/>
              <a:t>немогућност</a:t>
            </a:r>
            <a:r>
              <a:rPr lang="en-US" altLang="en-US" sz="3000" dirty="0"/>
              <a:t> </a:t>
            </a:r>
            <a:r>
              <a:rPr lang="en-US" altLang="en-US" sz="3000" dirty="0" err="1"/>
              <a:t>претраге</a:t>
            </a:r>
            <a:r>
              <a:rPr lang="en-US" altLang="en-US" sz="3000" dirty="0"/>
              <a:t> (+ </a:t>
            </a:r>
            <a:r>
              <a:rPr lang="en-US" altLang="en-US" sz="3000" dirty="0" err="1"/>
              <a:t>метаподаци</a:t>
            </a:r>
            <a:r>
              <a:rPr lang="en-US" altLang="en-US" sz="3000" dirty="0"/>
              <a:t>?)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ДОДАТНЕ ИНФОРМАЦИЈЕ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180" y="1174750"/>
            <a:ext cx="11892915" cy="5504180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800" dirty="0" err="1"/>
              <a:t>Мишљење</a:t>
            </a:r>
            <a:r>
              <a:rPr lang="en-US" sz="2800" dirty="0"/>
              <a:t> </a:t>
            </a:r>
            <a:r>
              <a:rPr lang="en-US" sz="2800" dirty="0" err="1"/>
              <a:t>Министарства</a:t>
            </a:r>
            <a:r>
              <a:rPr lang="en-US" sz="2800" dirty="0"/>
              <a:t> </a:t>
            </a:r>
            <a:r>
              <a:rPr lang="en-US" sz="2800" dirty="0" err="1"/>
              <a:t>информисања</a:t>
            </a:r>
            <a:r>
              <a:rPr lang="en-US" sz="2800" dirty="0"/>
              <a:t> и </a:t>
            </a:r>
            <a:r>
              <a:rPr lang="en-US" sz="2800" dirty="0" err="1"/>
              <a:t>телекомуникација</a:t>
            </a:r>
            <a:r>
              <a:rPr lang="en-US" sz="2800" dirty="0"/>
              <a:t>,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 err="1"/>
              <a:t>бр</a:t>
            </a:r>
            <a:r>
              <a:rPr lang="en-US" sz="2800" dirty="0"/>
              <a:t>. 000375074 2023 13460 005 001 011 004од 25.12.2023. </a:t>
            </a:r>
            <a:r>
              <a:rPr lang="en-US" sz="2800" dirty="0" err="1"/>
              <a:t>године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Уколико</a:t>
            </a:r>
            <a:r>
              <a:rPr lang="en-US" dirty="0"/>
              <a:t> </a:t>
            </a:r>
            <a:r>
              <a:rPr lang="en-US" dirty="0" err="1"/>
              <a:t>прописи</a:t>
            </a:r>
            <a:r>
              <a:rPr lang="en-US" dirty="0"/>
              <a:t> </a:t>
            </a:r>
            <a:r>
              <a:rPr lang="en-US" dirty="0" err="1"/>
              <a:t>који</a:t>
            </a:r>
            <a:r>
              <a:rPr lang="en-US" dirty="0"/>
              <a:t> </a:t>
            </a:r>
            <a:r>
              <a:rPr lang="en-US" dirty="0" err="1"/>
              <a:t>уређују</a:t>
            </a:r>
            <a:r>
              <a:rPr lang="en-US" dirty="0"/>
              <a:t> </a:t>
            </a:r>
            <a:r>
              <a:rPr lang="en-US" dirty="0" err="1"/>
              <a:t>чување</a:t>
            </a:r>
            <a:r>
              <a:rPr lang="en-US" dirty="0"/>
              <a:t> </a:t>
            </a:r>
            <a:r>
              <a:rPr lang="en-US" dirty="0" err="1"/>
              <a:t>архивске</a:t>
            </a:r>
            <a:r>
              <a:rPr lang="en-US" dirty="0"/>
              <a:t> </a:t>
            </a:r>
            <a:r>
              <a:rPr lang="en-US" dirty="0" err="1"/>
              <a:t>грађе</a:t>
            </a:r>
            <a:r>
              <a:rPr lang="en-US" dirty="0"/>
              <a:t> и </a:t>
            </a:r>
            <a:r>
              <a:rPr lang="en-US" dirty="0" err="1"/>
              <a:t>документарног</a:t>
            </a:r>
            <a:r>
              <a:rPr lang="en-US" dirty="0"/>
              <a:t> </a:t>
            </a:r>
            <a:r>
              <a:rPr lang="en-US" dirty="0" err="1"/>
              <a:t>материјала</a:t>
            </a:r>
            <a:r>
              <a:rPr lang="en-US" dirty="0"/>
              <a:t>, </a:t>
            </a:r>
            <a:r>
              <a:rPr lang="en-US" dirty="0" err="1"/>
              <a:t>као</a:t>
            </a:r>
            <a:r>
              <a:rPr lang="en-US" dirty="0"/>
              <a:t> и </a:t>
            </a:r>
            <a:r>
              <a:rPr lang="en-US" dirty="0" err="1"/>
              <a:t>посебне</a:t>
            </a:r>
            <a:r>
              <a:rPr lang="en-US" dirty="0"/>
              <a:t> </a:t>
            </a:r>
            <a:r>
              <a:rPr lang="en-US" dirty="0" err="1"/>
              <a:t>врсте</a:t>
            </a:r>
            <a:r>
              <a:rPr lang="en-US" dirty="0"/>
              <a:t> </a:t>
            </a:r>
            <a:r>
              <a:rPr lang="en-US" dirty="0" err="1"/>
              <a:t>документације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уређују</a:t>
            </a:r>
            <a:r>
              <a:rPr lang="en-US" dirty="0"/>
              <a:t> </a:t>
            </a:r>
            <a:r>
              <a:rPr lang="en-US" dirty="0" err="1"/>
              <a:t>супротно</a:t>
            </a:r>
            <a:r>
              <a:rPr lang="en-US" dirty="0"/>
              <a:t>, </a:t>
            </a:r>
            <a:r>
              <a:rPr lang="en-US" dirty="0" err="1"/>
              <a:t>руковалац</a:t>
            </a:r>
            <a:r>
              <a:rPr lang="en-US" dirty="0"/>
              <a:t> </a:t>
            </a:r>
            <a:r>
              <a:rPr lang="en-US" dirty="0" err="1"/>
              <a:t>припреме</a:t>
            </a:r>
            <a:r>
              <a:rPr lang="en-US" dirty="0"/>
              <a:t> </a:t>
            </a:r>
            <a:r>
              <a:rPr lang="en-US" dirty="0" err="1"/>
              <a:t>својим</a:t>
            </a:r>
            <a:r>
              <a:rPr lang="en-US" dirty="0"/>
              <a:t> </a:t>
            </a:r>
            <a:r>
              <a:rPr lang="en-US" dirty="0" err="1"/>
              <a:t>интерним</a:t>
            </a:r>
            <a:r>
              <a:rPr lang="en-US" dirty="0"/>
              <a:t> </a:t>
            </a:r>
            <a:r>
              <a:rPr lang="en-US" dirty="0" err="1"/>
              <a:t>документима</a:t>
            </a:r>
            <a:r>
              <a:rPr lang="en-US" dirty="0"/>
              <a:t> </a:t>
            </a:r>
            <a:r>
              <a:rPr lang="en-US" dirty="0" err="1"/>
              <a:t>одређује</a:t>
            </a:r>
            <a:r>
              <a:rPr lang="en-US" dirty="0"/>
              <a:t> </a:t>
            </a:r>
            <a:r>
              <a:rPr lang="en-US" dirty="0" err="1"/>
              <a:t>тренутак</a:t>
            </a:r>
            <a:r>
              <a:rPr lang="en-US" dirty="0"/>
              <a:t> </a:t>
            </a:r>
            <a:r>
              <a:rPr lang="en-US" dirty="0" err="1"/>
              <a:t>када</a:t>
            </a:r>
            <a:r>
              <a:rPr lang="en-US" dirty="0"/>
              <a:t> </a:t>
            </a:r>
            <a:r>
              <a:rPr lang="en-US" dirty="0" err="1"/>
              <a:t>започиње</a:t>
            </a:r>
            <a:r>
              <a:rPr lang="en-US" dirty="0"/>
              <a:t> </a:t>
            </a:r>
            <a:r>
              <a:rPr lang="en-US" dirty="0" err="1"/>
              <a:t>са</a:t>
            </a:r>
            <a:r>
              <a:rPr lang="en-US" dirty="0"/>
              <a:t> </a:t>
            </a:r>
            <a:r>
              <a:rPr lang="en-US" dirty="0" err="1"/>
              <a:t>поузданим</a:t>
            </a:r>
            <a:r>
              <a:rPr lang="en-US" dirty="0"/>
              <a:t> </a:t>
            </a:r>
            <a:r>
              <a:rPr lang="en-US" dirty="0" err="1"/>
              <a:t>електронским</a:t>
            </a:r>
            <a:r>
              <a:rPr lang="en-US" dirty="0"/>
              <a:t> </a:t>
            </a:r>
            <a:r>
              <a:rPr lang="en-US" dirty="0" err="1"/>
              <a:t>чувањем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 </a:t>
            </a: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Cyrl-RS" dirty="0"/>
              <a:t>Д</a:t>
            </a:r>
            <a:r>
              <a:rPr lang="en-US" dirty="0" err="1"/>
              <a:t>окумента</a:t>
            </a:r>
            <a:r>
              <a:rPr lang="en-US" dirty="0"/>
              <a:t> </a:t>
            </a:r>
            <a:r>
              <a:rPr lang="en-US" dirty="0" err="1"/>
              <a:t>која</a:t>
            </a:r>
            <a:r>
              <a:rPr lang="en-US" dirty="0"/>
              <a:t> </a:t>
            </a:r>
            <a:r>
              <a:rPr lang="en-US" dirty="0" err="1"/>
              <a:t>су</a:t>
            </a:r>
            <a:r>
              <a:rPr lang="en-US" dirty="0"/>
              <a:t> </a:t>
            </a:r>
            <a:r>
              <a:rPr lang="en-US" dirty="0" err="1"/>
              <a:t>потписана</a:t>
            </a:r>
            <a:r>
              <a:rPr lang="en-US" dirty="0"/>
              <a:t> </a:t>
            </a:r>
            <a:r>
              <a:rPr lang="en-US" dirty="0" err="1"/>
              <a:t>квалификованим</a:t>
            </a:r>
            <a:r>
              <a:rPr lang="en-US" dirty="0"/>
              <a:t> </a:t>
            </a:r>
            <a:r>
              <a:rPr lang="en-US" dirty="0" err="1"/>
              <a:t>електронским</a:t>
            </a:r>
            <a:r>
              <a:rPr lang="en-US" dirty="0"/>
              <a:t> </a:t>
            </a:r>
            <a:r>
              <a:rPr lang="en-US" dirty="0" err="1"/>
              <a:t>потписом</a:t>
            </a:r>
            <a:r>
              <a:rPr lang="en-US" dirty="0"/>
              <a:t>, </a:t>
            </a:r>
            <a:r>
              <a:rPr lang="en-US" dirty="0" err="1"/>
              <a:t>односно</a:t>
            </a:r>
            <a:r>
              <a:rPr lang="en-US" dirty="0"/>
              <a:t> </a:t>
            </a:r>
            <a:r>
              <a:rPr lang="en-US" dirty="0" err="1"/>
              <a:t>печатом</a:t>
            </a:r>
            <a:r>
              <a:rPr lang="en-US" dirty="0"/>
              <a:t>, </a:t>
            </a:r>
            <a:r>
              <a:rPr lang="en-US" dirty="0" err="1"/>
              <a:t>морају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припреме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поуздано</a:t>
            </a:r>
            <a:r>
              <a:rPr lang="en-US" dirty="0"/>
              <a:t> </a:t>
            </a:r>
            <a:r>
              <a:rPr lang="en-US" dirty="0" err="1"/>
              <a:t>чување</a:t>
            </a:r>
            <a:r>
              <a:rPr lang="en-US" dirty="0"/>
              <a:t> </a:t>
            </a:r>
            <a:r>
              <a:rPr lang="en-US" dirty="0" err="1"/>
              <a:t>пре</a:t>
            </a:r>
            <a:r>
              <a:rPr lang="en-US" dirty="0"/>
              <a:t> </a:t>
            </a:r>
            <a:r>
              <a:rPr lang="en-US" dirty="0" err="1"/>
              <a:t>истека</a:t>
            </a:r>
            <a:r>
              <a:rPr lang="en-US" dirty="0"/>
              <a:t> </a:t>
            </a:r>
            <a:r>
              <a:rPr lang="en-US" dirty="0" err="1"/>
              <a:t>важења</a:t>
            </a:r>
            <a:r>
              <a:rPr lang="en-US" dirty="0"/>
              <a:t> </a:t>
            </a:r>
            <a:r>
              <a:rPr lang="en-US" dirty="0" err="1"/>
              <a:t>квалификованог</a:t>
            </a:r>
            <a:r>
              <a:rPr lang="en-US" dirty="0"/>
              <a:t> </a:t>
            </a:r>
            <a:r>
              <a:rPr lang="en-US" dirty="0" err="1"/>
              <a:t>електронског</a:t>
            </a:r>
            <a:r>
              <a:rPr lang="en-US" dirty="0"/>
              <a:t> </a:t>
            </a:r>
            <a:r>
              <a:rPr lang="en-US" dirty="0" err="1"/>
              <a:t>сертификата</a:t>
            </a:r>
            <a:r>
              <a:rPr lang="en-US" dirty="0"/>
              <a:t>, </a:t>
            </a:r>
            <a:r>
              <a:rPr lang="en-US" dirty="0" err="1"/>
              <a:t>како</a:t>
            </a:r>
            <a:r>
              <a:rPr lang="en-US" dirty="0"/>
              <a:t> </a:t>
            </a:r>
            <a:r>
              <a:rPr lang="en-US" dirty="0" err="1"/>
              <a:t>би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очували</a:t>
            </a:r>
            <a:r>
              <a:rPr lang="en-US" dirty="0"/>
              <a:t> </a:t>
            </a:r>
            <a:r>
              <a:rPr lang="en-US" dirty="0" err="1"/>
              <a:t>аутентичност</a:t>
            </a:r>
            <a:r>
              <a:rPr lang="en-US" dirty="0"/>
              <a:t>, </a:t>
            </a:r>
            <a:r>
              <a:rPr lang="en-US" dirty="0" err="1"/>
              <a:t>поузданост</a:t>
            </a:r>
            <a:r>
              <a:rPr lang="en-US" dirty="0"/>
              <a:t> и </a:t>
            </a:r>
            <a:r>
              <a:rPr lang="en-US" dirty="0" err="1"/>
              <a:t>интегритет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, и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би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питање</a:t>
            </a:r>
            <a:r>
              <a:rPr lang="en-US" dirty="0"/>
              <a:t> </a:t>
            </a:r>
            <a:r>
              <a:rPr lang="en-US" dirty="0" err="1"/>
              <a:t>требало</a:t>
            </a:r>
            <a:r>
              <a:rPr lang="en-US" dirty="0"/>
              <a:t> </a:t>
            </a:r>
            <a:r>
              <a:rPr lang="en-US" dirty="0" err="1"/>
              <a:t>обавезно</a:t>
            </a:r>
            <a:r>
              <a:rPr lang="en-US" dirty="0"/>
              <a:t> </a:t>
            </a:r>
            <a:r>
              <a:rPr lang="en-US" dirty="0" err="1"/>
              <a:t>прописати</a:t>
            </a:r>
            <a:r>
              <a:rPr lang="en-US" dirty="0"/>
              <a:t> </a:t>
            </a:r>
            <a:r>
              <a:rPr lang="en-US" dirty="0" err="1"/>
              <a:t>интерним</a:t>
            </a:r>
            <a:r>
              <a:rPr lang="en-US" dirty="0"/>
              <a:t> </a:t>
            </a:r>
            <a:r>
              <a:rPr lang="en-US" dirty="0" err="1"/>
              <a:t>правилима</a:t>
            </a:r>
            <a:r>
              <a:rPr lang="en-US" dirty="0"/>
              <a:t>.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Када</a:t>
            </a:r>
            <a:r>
              <a:rPr lang="en-US" dirty="0"/>
              <a:t> </a:t>
            </a:r>
            <a:r>
              <a:rPr lang="en-US" dirty="0" err="1"/>
              <a:t>је</a:t>
            </a:r>
            <a:r>
              <a:rPr lang="en-US" dirty="0"/>
              <a:t> </a:t>
            </a:r>
            <a:r>
              <a:rPr lang="en-US" dirty="0" err="1"/>
              <a:t>реч</a:t>
            </a:r>
            <a:r>
              <a:rPr lang="en-US" dirty="0"/>
              <a:t> о </a:t>
            </a:r>
            <a:r>
              <a:rPr lang="en-US" dirty="0" err="1"/>
              <a:t>лицу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кога</a:t>
            </a:r>
            <a:r>
              <a:rPr lang="en-US" dirty="0"/>
              <a:t> </a:t>
            </a:r>
            <a:r>
              <a:rPr lang="en-US" dirty="0" err="1"/>
              <a:t>треба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гласи</a:t>
            </a:r>
            <a:r>
              <a:rPr lang="en-US" dirty="0"/>
              <a:t> </a:t>
            </a:r>
            <a:r>
              <a:rPr lang="en-US" dirty="0" err="1"/>
              <a:t>квалификовани</a:t>
            </a:r>
            <a:r>
              <a:rPr lang="en-US" dirty="0"/>
              <a:t> </a:t>
            </a:r>
            <a:r>
              <a:rPr lang="en-US" dirty="0" err="1"/>
              <a:t>електронски</a:t>
            </a:r>
            <a:r>
              <a:rPr lang="en-US" dirty="0"/>
              <a:t> </a:t>
            </a:r>
            <a:r>
              <a:rPr lang="en-US" dirty="0" err="1"/>
              <a:t>временски</a:t>
            </a:r>
            <a:r>
              <a:rPr lang="en-US" dirty="0"/>
              <a:t> </a:t>
            </a:r>
            <a:r>
              <a:rPr lang="en-US" dirty="0" err="1"/>
              <a:t>жиг</a:t>
            </a:r>
            <a:r>
              <a:rPr lang="en-US" dirty="0"/>
              <a:t> </a:t>
            </a:r>
            <a:r>
              <a:rPr lang="en-US" dirty="0" err="1"/>
              <a:t>који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користи</a:t>
            </a:r>
            <a:r>
              <a:rPr lang="en-US" dirty="0"/>
              <a:t> у </a:t>
            </a:r>
            <a:r>
              <a:rPr lang="en-US" dirty="0" err="1"/>
              <a:t>процесу</a:t>
            </a:r>
            <a:r>
              <a:rPr lang="en-US" dirty="0"/>
              <a:t> </a:t>
            </a:r>
            <a:r>
              <a:rPr lang="en-US" dirty="0" err="1"/>
              <a:t>поузданог</a:t>
            </a:r>
            <a:r>
              <a:rPr lang="en-US" dirty="0"/>
              <a:t> </a:t>
            </a:r>
            <a:r>
              <a:rPr lang="en-US" dirty="0" err="1"/>
              <a:t>електронског</a:t>
            </a:r>
            <a:r>
              <a:rPr lang="en-US" dirty="0"/>
              <a:t> </a:t>
            </a:r>
            <a:r>
              <a:rPr lang="en-US" dirty="0" err="1"/>
              <a:t>чувања</a:t>
            </a:r>
            <a:r>
              <a:rPr lang="en-US" dirty="0"/>
              <a:t>, </a:t>
            </a:r>
            <a:r>
              <a:rPr lang="en-US" dirty="0" err="1"/>
              <a:t>указујемо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прописи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дефинишу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мора</a:t>
            </a:r>
            <a:r>
              <a:rPr lang="en-US" dirty="0"/>
              <a:t> </a:t>
            </a:r>
            <a:r>
              <a:rPr lang="en-US" dirty="0" err="1"/>
              <a:t>бити</a:t>
            </a:r>
            <a:r>
              <a:rPr lang="en-US" dirty="0"/>
              <a:t> </a:t>
            </a:r>
            <a:r>
              <a:rPr lang="en-US" dirty="0" err="1"/>
              <a:t>временски</a:t>
            </a:r>
            <a:r>
              <a:rPr lang="en-US" dirty="0"/>
              <a:t> </a:t>
            </a:r>
            <a:r>
              <a:rPr lang="en-US" dirty="0" err="1"/>
              <a:t>жиг</a:t>
            </a:r>
            <a:r>
              <a:rPr lang="en-US" dirty="0"/>
              <a:t> </a:t>
            </a:r>
            <a:r>
              <a:rPr lang="en-US" dirty="0" err="1"/>
              <a:t>ствараоца</a:t>
            </a:r>
            <a:r>
              <a:rPr lang="en-US" dirty="0"/>
              <a:t> и </a:t>
            </a:r>
            <a:r>
              <a:rPr lang="en-US" dirty="0" err="1"/>
              <a:t>имаоца</a:t>
            </a:r>
            <a:r>
              <a:rPr lang="en-US" dirty="0"/>
              <a:t> </a:t>
            </a:r>
            <a:r>
              <a:rPr lang="en-US" dirty="0" err="1"/>
              <a:t>архивске</a:t>
            </a:r>
            <a:r>
              <a:rPr lang="en-US" dirty="0"/>
              <a:t> </a:t>
            </a:r>
            <a:r>
              <a:rPr lang="en-US" dirty="0" err="1"/>
              <a:t>грађе</a:t>
            </a:r>
            <a:r>
              <a:rPr lang="en-US" dirty="0"/>
              <a:t> и </a:t>
            </a:r>
            <a:r>
              <a:rPr lang="en-US" dirty="0" err="1"/>
              <a:t>документарног</a:t>
            </a:r>
            <a:r>
              <a:rPr lang="en-US" dirty="0"/>
              <a:t> </a:t>
            </a:r>
            <a:r>
              <a:rPr lang="en-US" dirty="0" err="1"/>
              <a:t>материјала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привредног</a:t>
            </a:r>
            <a:r>
              <a:rPr lang="en-US" dirty="0"/>
              <a:t> </a:t>
            </a:r>
            <a:r>
              <a:rPr lang="en-US" dirty="0" err="1"/>
              <a:t>субјекта</a:t>
            </a:r>
            <a:r>
              <a:rPr lang="en-US" dirty="0"/>
              <a:t> </a:t>
            </a:r>
            <a:r>
              <a:rPr lang="en-US" dirty="0" err="1"/>
              <a:t>од</a:t>
            </a:r>
            <a:r>
              <a:rPr lang="en-US" dirty="0"/>
              <a:t> </a:t>
            </a:r>
            <a:r>
              <a:rPr lang="en-US" dirty="0" err="1"/>
              <a:t>ког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прибавља</a:t>
            </a:r>
            <a:r>
              <a:rPr lang="en-US" dirty="0"/>
              <a:t> </a:t>
            </a:r>
            <a:r>
              <a:rPr lang="en-US" dirty="0" err="1"/>
              <a:t>софтвер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поуздано</a:t>
            </a:r>
            <a:r>
              <a:rPr lang="en-US" dirty="0"/>
              <a:t> </a:t>
            </a:r>
            <a:r>
              <a:rPr lang="en-US" dirty="0" err="1"/>
              <a:t>чување</a:t>
            </a:r>
            <a:r>
              <a:rPr lang="en-US" dirty="0"/>
              <a:t>,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је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остављена</a:t>
            </a:r>
            <a:r>
              <a:rPr lang="en-US" dirty="0"/>
              <a:t> </a:t>
            </a:r>
            <a:r>
              <a:rPr lang="en-US" dirty="0" err="1"/>
              <a:t>могућност</a:t>
            </a:r>
            <a:r>
              <a:rPr lang="en-US" dirty="0"/>
              <a:t> </a:t>
            </a:r>
            <a:r>
              <a:rPr lang="en-US" dirty="0" err="1"/>
              <a:t>избора</a:t>
            </a:r>
            <a:r>
              <a:rPr lang="en-US" dirty="0"/>
              <a:t>.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5630" y="1668780"/>
            <a:ext cx="9740265" cy="1851025"/>
          </a:xfrm>
        </p:spPr>
        <p:txBody>
          <a:bodyPr>
            <a:noAutofit/>
          </a:bodyPr>
          <a:lstStyle/>
          <a:p>
            <a:r>
              <a:rPr lang="sr-Cyrl-RS" altLang="en-US" sz="3600" b="1" dirty="0"/>
              <a:t>ШТАМПАЊЕ </a:t>
            </a:r>
            <a:r>
              <a:rPr lang="en-US" altLang="en-US" sz="3600" b="1" dirty="0"/>
              <a:t>П</a:t>
            </a:r>
            <a:r>
              <a:rPr lang="sr-Cyrl-RS" altLang="en-US" b="1" dirty="0"/>
              <a:t>АПИРНЕ ВЕРЗИЈЕ еДОКУМЕНТА</a:t>
            </a:r>
            <a:endParaRPr lang="en-US" altLang="en-US" sz="3600" b="1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Формирање Папирне верзије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980" y="1053465"/>
            <a:ext cx="12004040" cy="5438775"/>
          </a:xfrm>
        </p:spPr>
        <p:txBody>
          <a:bodyPr/>
          <a:lstStyle/>
          <a:p>
            <a:pPr marL="0" indent="0">
              <a:buNone/>
            </a:pPr>
            <a:r>
              <a:rPr lang="en-US" u="sng"/>
              <a:t>Одштампани примерак електронског документа има исту доказну снагу као оригинални акт, ако су кумулативно испуњени следећи услови и то:</a:t>
            </a:r>
            <a:endParaRPr lang="en-US"/>
          </a:p>
          <a:p>
            <a:r>
              <a:rPr lang="en-US"/>
              <a:t>да је штампање електронског документа извршено под надзором:</a:t>
            </a:r>
            <a:endParaRPr lang="en-US"/>
          </a:p>
          <a:p>
            <a:pPr lvl="1"/>
            <a:r>
              <a:rPr lang="en-US"/>
              <a:t>физичког лица, овлашћеног лица физичког лица у својству регистрованог субјекта, односно овлашћеног лица правног лица чији је то акт, или</a:t>
            </a:r>
            <a:endParaRPr lang="en-US"/>
          </a:p>
          <a:p>
            <a:pPr lvl="1"/>
            <a:r>
              <a:rPr lang="en-US"/>
              <a:t>лицa које је овлашћено за оверу потписа, рукописа и преписа у складу са законом који уређује оверу потписа, рукописа и преписа;</a:t>
            </a:r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Формирање Папирне верзије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980" y="709930"/>
            <a:ext cx="12004040" cy="5438775"/>
          </a:xfrm>
        </p:spPr>
        <p:txBody>
          <a:bodyPr/>
          <a:lstStyle/>
          <a:p>
            <a:pPr>
              <a:buFont typeface="Arial" panose="02080604020202020204" pitchFamily="34" charset="0"/>
              <a:buChar char="•"/>
            </a:pPr>
            <a:r>
              <a:rPr lang="en-US"/>
              <a:t>да је истоветност одштампаног примерка електронског документа са оригиналом потврђена, уз назнаку да је реч о одштампаном примерку електронског документа:</a:t>
            </a:r>
            <a:endParaRPr lang="en-US"/>
          </a:p>
          <a:p>
            <a:pPr lvl="1"/>
            <a:r>
              <a:rPr lang="en-US"/>
              <a:t>својеручним потписом физичког лица, или</a:t>
            </a:r>
            <a:endParaRPr lang="en-US"/>
          </a:p>
          <a:p>
            <a:pPr lvl="1"/>
            <a:r>
              <a:rPr lang="en-US"/>
              <a:t>својеручним потписом овлашћеног лица физичког лица у својству регистрованог субјекта, односно овлашћеног лица правног лица, као и печатом физичког лица у својству регистрованог субјекта, односно правног лица, ако постоји законска обавеза да акт садржи печат, или</a:t>
            </a:r>
            <a:endParaRPr lang="en-US"/>
          </a:p>
          <a:p>
            <a:pPr lvl="1"/>
            <a:r>
              <a:rPr lang="en-US"/>
              <a:t>од стране лицa које је овлашћено за оверу потписа, рукописа и преписа у складу са законом који уређује оверу потписа, рукописа и преписа.</a:t>
            </a:r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Формирање Папирне верзије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980" y="1053465"/>
            <a:ext cx="12004040" cy="5438775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Овлашћено лице органа јавне власти </a:t>
            </a:r>
            <a:r>
              <a:rPr lang="en-US"/>
              <a:t>може у поступцима који се спроводе у вршењу јавних овлашћења </a:t>
            </a:r>
            <a:r>
              <a:rPr lang="en-US">
                <a:solidFill>
                  <a:srgbClr val="FF0000"/>
                </a:solidFill>
              </a:rPr>
              <a:t>одштампати електронски документ</a:t>
            </a:r>
            <a:r>
              <a:rPr lang="en-US"/>
              <a:t> на папиру и оверити одштампани примерак електронског документа, при чему одштампани примерак електронског документа о</a:t>
            </a:r>
            <a:r>
              <a:rPr lang="en-US">
                <a:solidFill>
                  <a:srgbClr val="FF0000"/>
                </a:solidFill>
              </a:rPr>
              <a:t>бавезно садржи печат утврђен законом</a:t>
            </a:r>
            <a:r>
              <a:rPr lang="en-US"/>
              <a:t> којим се уређује печат државних и других органа.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Одштампани примерак електронског документа</a:t>
            </a:r>
            <a:r>
              <a:rPr lang="en-US"/>
              <a:t> који је оверен од стране органа </a:t>
            </a:r>
            <a:r>
              <a:rPr lang="en-US">
                <a:solidFill>
                  <a:srgbClr val="FF0000"/>
                </a:solidFill>
              </a:rPr>
              <a:t>има исту доказну снагу као оригинал</a:t>
            </a:r>
            <a:r>
              <a:rPr lang="en-US"/>
              <a:t> у оквиру спровођења тог поступка.</a:t>
            </a:r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03183" y="1684933"/>
            <a:ext cx="9144000" cy="1851025"/>
          </a:xfrm>
        </p:spPr>
        <p:txBody>
          <a:bodyPr>
            <a:noAutofit/>
          </a:bodyPr>
          <a:lstStyle/>
          <a:p>
            <a:r>
              <a:rPr lang="en-US" altLang="sr-Cyrl-RS" sz="3600" b="1" dirty="0"/>
              <a:t>ПРИМЕР</a:t>
            </a:r>
            <a:r>
              <a:rPr lang="sr-Cyrl-RS" altLang="sr-Cyrl-RS" sz="3600" b="1" dirty="0"/>
              <a:t> ПРИПРЕМЕ ДОКУМЕНТА ЗА </a:t>
            </a:r>
            <a:br>
              <a:rPr lang="sr-Cyrl-RS" altLang="sr-Cyrl-RS" sz="3600" b="1" dirty="0"/>
            </a:br>
            <a:r>
              <a:rPr lang="sr-Cyrl-RS" altLang="sr-Cyrl-RS" sz="3600" b="1" dirty="0"/>
              <a:t>ПОУЗДАНО ЧУВАЊЕ</a:t>
            </a:r>
            <a:endParaRPr lang="en-US" altLang="sr-Cyrl-RS" sz="3600" b="1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0357" y="1577975"/>
            <a:ext cx="9144000" cy="1851025"/>
          </a:xfrm>
        </p:spPr>
        <p:txBody>
          <a:bodyPr>
            <a:noAutofit/>
          </a:bodyPr>
          <a:lstStyle/>
          <a:p>
            <a:r>
              <a:rPr lang="en-US" altLang="en-US" sz="3600" b="1" dirty="0">
                <a:solidFill>
                  <a:srgbClr val="FF0000"/>
                </a:solidFill>
              </a:rPr>
              <a:t> </a:t>
            </a:r>
            <a:r>
              <a:rPr lang="en-US" altLang="en-US" sz="3600" b="1" dirty="0"/>
              <a:t>ЛИСТА КАТЕГОРИЈА</a:t>
            </a:r>
            <a:r>
              <a:rPr lang="sr-Cyrl-RS" altLang="en-US" sz="3600" b="1" dirty="0"/>
              <a:t>,</a:t>
            </a:r>
            <a:r>
              <a:rPr lang="en-US" altLang="en-US" sz="3600" b="1" dirty="0"/>
              <a:t> МЕТАПОДАЦИ</a:t>
            </a:r>
            <a:r>
              <a:rPr lang="sr-Cyrl-RS" altLang="en-US" sz="3600" b="1" dirty="0"/>
              <a:t> И еДЕЛОВОДНИК</a:t>
            </a:r>
            <a:r>
              <a:rPr lang="en-US" altLang="sr-Cyrl-RS" sz="3600" b="1" dirty="0"/>
              <a:t> </a:t>
            </a:r>
            <a:endParaRPr lang="en-US" altLang="sr-Cyrl-RS" sz="3600" b="1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2615" y="190500"/>
            <a:ext cx="9709785" cy="582930"/>
          </a:xfrm>
        </p:spPr>
        <p:txBody>
          <a:bodyPr/>
          <a:lstStyle/>
          <a:p>
            <a:r>
              <a:rPr lang="sr-Cyrl-RS" dirty="0"/>
              <a:t>ИЗРАДА И ОВЕРА ЛИСТЕ КАТЕГОРИЈА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 algn="ctr">
              <a:lnSpc>
                <a:spcPct val="107000"/>
              </a:lnSpc>
              <a:spcAft>
                <a:spcPts val="750"/>
              </a:spcAft>
              <a:buNone/>
            </a:pPr>
            <a:endParaRPr lang="sr-Cyrl-RS" sz="1800" b="1" dirty="0">
              <a:solidFill>
                <a:srgbClr val="333333"/>
              </a:solidFill>
              <a:latin typeface="Arial" panose="02080604020202020204" pitchFamily="34" charset="0"/>
            </a:endParaRPr>
          </a:p>
          <a:p>
            <a:pPr marL="0" marR="0" indent="0" algn="ctr">
              <a:lnSpc>
                <a:spcPct val="1070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LISTA KATEGORIJA DOKUMENTARNOG MATERIJALA SA ROKOVIMA ČUVANJA</a:t>
            </a:r>
            <a:endParaRPr lang="en-US" sz="1800" dirty="0">
              <a:effectLst/>
              <a:latin typeface="Times New Roman" panose="02020603050405020304" pitchFamily="18" charset="0"/>
              <a:ea typeface="SimSun" pitchFamily="2" charset="-122"/>
            </a:endParaRPr>
          </a:p>
          <a:p>
            <a:pPr marL="0" marR="206375" indent="0">
              <a:lnSpc>
                <a:spcPct val="107000"/>
              </a:lnSpc>
              <a:spcBef>
                <a:spcPts val="0"/>
              </a:spcBef>
              <a:spcAft>
                <a:spcPts val="750"/>
              </a:spcAft>
              <a:buNone/>
            </a:pPr>
            <a:endParaRPr lang="sr-Cyrl-RS" sz="1800" dirty="0">
              <a:latin typeface="Times New Roman" panose="02020603050405020304" pitchFamily="18" charset="0"/>
              <a:ea typeface="SimSun" pitchFamily="2" charset="-122"/>
            </a:endParaRPr>
          </a:p>
          <a:p>
            <a:pPr marL="0" marR="206375" indent="0">
              <a:lnSpc>
                <a:spcPct val="107000"/>
              </a:lnSpc>
              <a:spcBef>
                <a:spcPts val="0"/>
              </a:spcBef>
              <a:spcAft>
                <a:spcPts val="750"/>
              </a:spcAft>
              <a:buNone/>
            </a:pP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Na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osnovu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odredbe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iz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člana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14.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Zakona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o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arhivskoj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građi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i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arhivskoj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delatnosti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("Sl.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glasnik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RS", br. _______________)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i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člana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_____ _______________ 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(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naziv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akta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privrednog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subjekta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-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statuta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,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Odluke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o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osnivanju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DOO)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, ______________ 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(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ime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i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prezime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direktora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,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odnosno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predsednika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upravnog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,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izvršnog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ili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nadzornog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odbora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)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 dana __________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donosi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sledeću</a:t>
            </a:r>
            <a:endParaRPr lang="sr-Cyrl-RS" sz="1800" dirty="0">
              <a:solidFill>
                <a:srgbClr val="333333"/>
              </a:solidFill>
              <a:effectLst/>
              <a:latin typeface="Arial" panose="02080604020202020204" pitchFamily="34" charset="0"/>
            </a:endParaRPr>
          </a:p>
          <a:p>
            <a:pPr marL="0" marR="206375" indent="0">
              <a:lnSpc>
                <a:spcPct val="107000"/>
              </a:lnSpc>
              <a:spcBef>
                <a:spcPts val="0"/>
              </a:spcBef>
              <a:spcAft>
                <a:spcPts val="75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SimSun" pitchFamily="2" charset="-122"/>
            </a:endParaRPr>
          </a:p>
          <a:p>
            <a:pPr marL="0" marR="0" indent="0" algn="ctr">
              <a:lnSpc>
                <a:spcPct val="107000"/>
              </a:lnSpc>
              <a:spcAft>
                <a:spcPts val="750"/>
              </a:spcAft>
              <a:buNone/>
            </a:pP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LISTU KATEGORIJA DOKUMENTARNOG MATERIJALA SA ROKOVIMA ČUVANJA</a:t>
            </a:r>
            <a:endParaRPr lang="en-US" sz="1800" dirty="0">
              <a:effectLst/>
              <a:latin typeface="Times New Roman" panose="02020603050405020304" pitchFamily="18" charset="0"/>
              <a:ea typeface="SimSun" pitchFamily="2" charset="-122"/>
            </a:endParaRPr>
          </a:p>
          <a:p>
            <a:pPr marL="0" marR="0" indent="0" algn="ctr">
              <a:lnSpc>
                <a:spcPct val="107000"/>
              </a:lnSpc>
              <a:spcAft>
                <a:spcPts val="750"/>
              </a:spcAft>
              <a:buNone/>
            </a:pPr>
            <a:r>
              <a:rPr lang="en-US" sz="1800" b="1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Član</a:t>
            </a:r>
            <a:r>
              <a:rPr lang="en-US" sz="1800" b="1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1</a:t>
            </a:r>
            <a:endParaRPr lang="en-US" sz="1800" dirty="0">
              <a:effectLst/>
              <a:latin typeface="Times New Roman" panose="02020603050405020304" pitchFamily="18" charset="0"/>
              <a:ea typeface="SimSun" pitchFamily="2" charset="-122"/>
            </a:endParaRPr>
          </a:p>
          <a:p>
            <a:pPr marL="0" marR="0" indent="0">
              <a:lnSpc>
                <a:spcPct val="107000"/>
              </a:lnSpc>
              <a:spcAft>
                <a:spcPts val="750"/>
              </a:spcAft>
              <a:buNone/>
            </a:pP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Lista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kategorija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dokumentarnog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materijala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sa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rokovima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čuvanja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_______________ 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(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naziv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privrednog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i="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društva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- 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dalje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: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Društvo</a:t>
            </a:r>
            <a:r>
              <a:rPr lang="en-US" sz="1800" i="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) 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utvrđuje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sledeće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kategorije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dokumentarnog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materijala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sa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rokovima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čuvanja</a:t>
            </a:r>
            <a:r>
              <a:rPr lang="en-US" sz="1800" dirty="0">
                <a:solidFill>
                  <a:srgbClr val="333333"/>
                </a:solidFill>
                <a:effectLst/>
                <a:latin typeface="Arial" panose="02080604020202020204" pitchFamily="34" charset="0"/>
              </a:rPr>
              <a:t>:</a:t>
            </a:r>
            <a:endParaRPr lang="en-US" sz="1800" dirty="0">
              <a:effectLst/>
              <a:latin typeface="Times New Roman" panose="02020603050405020304" pitchFamily="18" charset="0"/>
              <a:ea typeface="SimSun" pitchFamily="2" charset="-122"/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Метаподаци 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88565" y="4445"/>
            <a:ext cx="7669530" cy="688403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Метаподаци 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18030" y="-49530"/>
            <a:ext cx="7618730" cy="691515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Метаподаци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19655" y="-36195"/>
            <a:ext cx="7066280" cy="690054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Dodavanje docs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65755" y="-26670"/>
            <a:ext cx="6915785" cy="690054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0357" y="1577975"/>
            <a:ext cx="9144000" cy="1851025"/>
          </a:xfrm>
        </p:spPr>
        <p:txBody>
          <a:bodyPr>
            <a:noAutofit/>
          </a:bodyPr>
          <a:lstStyle/>
          <a:p>
            <a:r>
              <a:rPr lang="sr-Cyrl-RS" altLang="sr-Cyrl-RS" sz="3600" b="1" dirty="0"/>
              <a:t>У СЛУЧАЈУ ДА</a:t>
            </a:r>
            <a:r>
              <a:rPr lang="sr-Cyrl-RS" altLang="sr-Cyrl-RS" b="1" dirty="0"/>
              <a:t> ИСТОМ МЕТОДОМ ЗАВОДИМО</a:t>
            </a:r>
            <a:r>
              <a:rPr lang="sr-Cyrl-RS" altLang="sr-Cyrl-RS" sz="3600" b="1" dirty="0"/>
              <a:t> ПАПИРНИ/СКЕНИРАНИ ДОКУМЕНТ?</a:t>
            </a:r>
            <a:r>
              <a:rPr lang="en-US" altLang="sr-Cyrl-RS" sz="3600" b="1" dirty="0"/>
              <a:t> </a:t>
            </a:r>
            <a:endParaRPr lang="en-US" altLang="sr-Cyrl-RS" sz="3600" b="1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Dodavanje docs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65755" y="-4425950"/>
            <a:ext cx="11324590" cy="11299825"/>
          </a:xfrm>
          <a:prstGeom prst="rect">
            <a:avLst/>
          </a:prstGeom>
        </p:spPr>
      </p:pic>
      <p:sp>
        <p:nvSpPr>
          <p:cNvPr id="3" name="Arrow: Right 2"/>
          <p:cNvSpPr/>
          <p:nvPr/>
        </p:nvSpPr>
        <p:spPr bwMode="auto">
          <a:xfrm>
            <a:off x="2001945" y="2416398"/>
            <a:ext cx="978408" cy="484632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03183" y="1684933"/>
            <a:ext cx="9144000" cy="1851025"/>
          </a:xfrm>
        </p:spPr>
        <p:txBody>
          <a:bodyPr>
            <a:noAutofit/>
          </a:bodyPr>
          <a:lstStyle/>
          <a:p>
            <a:r>
              <a:rPr lang="en-US" altLang="sr-Cyrl-RS" sz="3600" b="1" dirty="0"/>
              <a:t>ПРИМЕР </a:t>
            </a:r>
            <a:r>
              <a:rPr lang="sr-Cyrl-RS" altLang="sr-Cyrl-RS" b="1" dirty="0"/>
              <a:t>УНОСА ЛИСТЕ КАТЕГОРИЈА У ЕЛЕКТРОНСКОЈ ФОРМИ</a:t>
            </a:r>
            <a:endParaRPr lang="en-US" altLang="sr-Cyrl-RS" sz="3600" b="1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ПАРАМЕТРИ АРХИВ</a:t>
            </a:r>
            <a:r>
              <a:rPr lang="en-US" altLang="sr-Cyrl-RS" dirty="0"/>
              <a:t>СКЕ</a:t>
            </a:r>
            <a:r>
              <a:rPr lang="sr-Cyrl-RS" dirty="0"/>
              <a:t> КЊИГЕ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1066800"/>
            <a:ext cx="12218035" cy="5780405"/>
          </a:xfr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ПАРАМЕТРИ АРХИВНЕ КЊИГЕ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" y="933630"/>
            <a:ext cx="12094396" cy="5659194"/>
          </a:xfr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628" y="190500"/>
            <a:ext cx="9674772" cy="582613"/>
          </a:xfrm>
        </p:spPr>
        <p:txBody>
          <a:bodyPr/>
          <a:lstStyle/>
          <a:p>
            <a:r>
              <a:rPr lang="sr-Cyrl-RS" dirty="0"/>
              <a:t>ЗАВОДНИ ПОДАЦИ - МЕТАПОДАЦИ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altLang="en-US" dirty="0"/>
              <a:t>Скуп </a:t>
            </a:r>
            <a:r>
              <a:rPr lang="en-US" altLang="en-US" dirty="0" err="1">
                <a:solidFill>
                  <a:schemeClr val="tx1"/>
                </a:solidFill>
              </a:rPr>
              <a:t>додатних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података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који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описују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документ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или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су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изведени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из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документа</a:t>
            </a:r>
            <a:endParaRPr lang="sr-Cyrl-RS" altLang="en-US" dirty="0">
              <a:solidFill>
                <a:schemeClr val="tx1"/>
              </a:solidFill>
            </a:endParaRPr>
          </a:p>
          <a:p>
            <a:r>
              <a:rPr lang="sr-Cyrl-RS" dirty="0"/>
              <a:t>Препознатљиво и једнозначно дефинишу документ са свим његовим пословним особинама</a:t>
            </a:r>
            <a:endParaRPr lang="sr-Cyrl-RS" dirty="0"/>
          </a:p>
          <a:p>
            <a:r>
              <a:rPr lang="sr-Cyrl-RS" dirty="0"/>
              <a:t> </a:t>
            </a:r>
            <a:r>
              <a:rPr lang="en-US" altLang="sr-Cyrl-RS" dirty="0"/>
              <a:t>Наносе се независно од садржаја самог документа, у заводним пољима поред документа - не сме се нарушити интегритет и садржај самог документа</a:t>
            </a:r>
            <a:endParaRPr lang="sr-Cyrl-RS" dirty="0"/>
          </a:p>
          <a:p>
            <a:r>
              <a:rPr lang="sr-Cyrl-RS" dirty="0"/>
              <a:t>Користе се у обради документа</a:t>
            </a:r>
            <a:endParaRPr lang="sr-Cyrl-RS" dirty="0"/>
          </a:p>
          <a:p>
            <a:r>
              <a:rPr lang="sr-Cyrl-RS" dirty="0"/>
              <a:t>Предмет су претраге документа у еАрхивама</a:t>
            </a:r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7488" y="1700808"/>
            <a:ext cx="9144000" cy="1851025"/>
          </a:xfrm>
        </p:spPr>
        <p:txBody>
          <a:bodyPr>
            <a:noAutofit/>
          </a:bodyPr>
          <a:lstStyle/>
          <a:p>
            <a:r>
              <a:rPr lang="en-US" altLang="en-US" sz="3600" b="1" dirty="0"/>
              <a:t>ПРИМЕР ЗАВОЂЕЊА еМАИЛ ДОКУМЕНТА</a:t>
            </a:r>
            <a:endParaRPr lang="en-US" altLang="en-US" sz="3600" b="1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ЕмАИЛ 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24130" y="-8890"/>
            <a:ext cx="12240895" cy="601091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ЕмАИЛ 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8890" y="-15240"/>
            <a:ext cx="12195175" cy="544703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creenshot from 2023-10-31 14-11-07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1970" y="3175"/>
            <a:ext cx="11291570" cy="61087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5630" y="1668780"/>
            <a:ext cx="9740265" cy="1851025"/>
          </a:xfrm>
        </p:spPr>
        <p:txBody>
          <a:bodyPr>
            <a:noAutofit/>
          </a:bodyPr>
          <a:lstStyle/>
          <a:p>
            <a:r>
              <a:rPr lang="en-US" altLang="en-US" sz="3600" b="1" dirty="0"/>
              <a:t>ЕЛЕКТРОНСКИ ДЕЛОВОДНИК</a:t>
            </a:r>
            <a:endParaRPr lang="en-US" altLang="en-US" sz="3600" b="1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ДЕФИНИЦИЈА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Софтверско решење за регистровање улазно-излазне документације</a:t>
            </a:r>
            <a:endParaRPr lang="en-US" altLang="en-US"/>
          </a:p>
          <a:p>
            <a:r>
              <a:rPr lang="en-US" altLang="en-US"/>
              <a:t>Опште и локално прилагођене особине</a:t>
            </a:r>
            <a:endParaRPr lang="en-US" altLang="en-US"/>
          </a:p>
          <a:p>
            <a:pPr lvl="1"/>
            <a:r>
              <a:rPr lang="en-US" altLang="en-US" sz="2800"/>
              <a:t>Деловодни број у складу са Листом категорија докумената</a:t>
            </a:r>
            <a:endParaRPr lang="en-US" altLang="en-US" sz="2800"/>
          </a:p>
          <a:p>
            <a:pPr lvl="1"/>
            <a:r>
              <a:rPr lang="en-US" altLang="en-US" sz="2800"/>
              <a:t>Пример: </a:t>
            </a:r>
            <a:r>
              <a:rPr lang="en-US" altLang="en-US" sz="2800">
                <a:solidFill>
                  <a:srgbClr val="FF0000"/>
                </a:solidFill>
              </a:rPr>
              <a:t>КК </a:t>
            </a:r>
            <a:r>
              <a:rPr lang="en-US" altLang="en-US" sz="2800"/>
              <a:t>(врста)/</a:t>
            </a:r>
            <a:r>
              <a:rPr lang="en-US" altLang="en-US" sz="2800">
                <a:solidFill>
                  <a:srgbClr val="FF0000"/>
                </a:solidFill>
              </a:rPr>
              <a:t>ТТ</a:t>
            </a:r>
            <a:r>
              <a:rPr lang="en-US" altLang="en-US" sz="2800"/>
              <a:t> (Тип)/</a:t>
            </a:r>
            <a:r>
              <a:rPr lang="en-US" altLang="en-US" sz="2800">
                <a:solidFill>
                  <a:srgbClr val="FF0000"/>
                </a:solidFill>
              </a:rPr>
              <a:t>ХХХХХХ</a:t>
            </a:r>
            <a:r>
              <a:rPr lang="en-US" altLang="en-US" sz="2800"/>
              <a:t> (Јед.број)</a:t>
            </a:r>
            <a:endParaRPr lang="en-US" altLang="en-US"/>
          </a:p>
          <a:p>
            <a:r>
              <a:rPr lang="en-US" altLang="en-US"/>
              <a:t>Обједињује рад са електронским, дигитализованим и папирним документима</a:t>
            </a:r>
            <a:endParaRPr lang="en-US" altLang="en-US"/>
          </a:p>
          <a:p>
            <a:r>
              <a:rPr lang="en-US" altLang="en-US"/>
              <a:t>Потврде о пријему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Испис еДеловодника</a:t>
            </a:r>
            <a:endParaRPr lang="en-US" altLang="en-US"/>
          </a:p>
        </p:txBody>
      </p:sp>
      <p:pic>
        <p:nvPicPr>
          <p:cNvPr id="4" name="Content Placeholder 3" descr="еАрхива  деловодник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195" y="840740"/>
            <a:ext cx="12161520" cy="564134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Испис еДеловодника</a:t>
            </a:r>
            <a:endParaRPr lang="en-US" altLang="en-US"/>
          </a:p>
        </p:txBody>
      </p:sp>
      <p:pic>
        <p:nvPicPr>
          <p:cNvPr id="4" name="Content Placeholder 3" descr="еАрхива  деловодник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195" y="840740"/>
            <a:ext cx="12161520" cy="5641340"/>
          </a:xfrm>
          <a:prstGeom prst="rect">
            <a:avLst/>
          </a:prstGeom>
        </p:spPr>
      </p:pic>
      <p:sp>
        <p:nvSpPr>
          <p:cNvPr id="3" name="Up Arrow 2"/>
          <p:cNvSpPr/>
          <p:nvPr/>
        </p:nvSpPr>
        <p:spPr>
          <a:xfrm>
            <a:off x="11270615" y="2315210"/>
            <a:ext cx="525145" cy="991870"/>
          </a:xfrm>
          <a:prstGeom prst="up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Пареметри Деловдинка бланко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3175" y="-12065"/>
            <a:ext cx="12210415" cy="613981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Пареметри Деловдинка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270" y="-40640"/>
            <a:ext cx="12199620" cy="616839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Ексел Деловодник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5130" y="6350"/>
            <a:ext cx="11438255" cy="675005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5630" y="1668780"/>
            <a:ext cx="9740265" cy="1851025"/>
          </a:xfrm>
        </p:spPr>
        <p:txBody>
          <a:bodyPr>
            <a:noAutofit/>
          </a:bodyPr>
          <a:lstStyle/>
          <a:p>
            <a:r>
              <a:rPr lang="en-US" altLang="en-US" sz="3600" b="1" dirty="0"/>
              <a:t>ЕЛЕКТРОНСКА АРХИВА</a:t>
            </a:r>
            <a:endParaRPr lang="en-US" altLang="en-US" sz="3600" b="1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6145" y="-996696"/>
            <a:ext cx="12568145" cy="7964424"/>
          </a:xfr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Дигитализовани документ у еАрхиви</a:t>
            </a:r>
            <a:endParaRPr lang="en-US" altLang="en-US"/>
          </a:p>
        </p:txBody>
      </p:sp>
      <p:pic>
        <p:nvPicPr>
          <p:cNvPr id="4" name="Content Placeholder 3" descr="Doc u arhivi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7010" y="890270"/>
            <a:ext cx="11969115" cy="561213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altLang="en-US" dirty="0"/>
              <a:t>Повезана </a:t>
            </a:r>
            <a:r>
              <a:rPr lang="en-US" altLang="en-US" dirty="0" err="1"/>
              <a:t>еДокумент</a:t>
            </a:r>
            <a:r>
              <a:rPr lang="sr-Cyrl-RS" altLang="en-US" dirty="0"/>
              <a:t>а</a:t>
            </a:r>
            <a:r>
              <a:rPr lang="en-US" altLang="en-US" dirty="0"/>
              <a:t> у </a:t>
            </a:r>
            <a:r>
              <a:rPr lang="en-US" altLang="en-US" dirty="0" err="1"/>
              <a:t>еАрхиви</a:t>
            </a:r>
            <a:endParaRPr lang="en-US" altLang="en-US" dirty="0"/>
          </a:p>
        </p:txBody>
      </p:sp>
      <p:pic>
        <p:nvPicPr>
          <p:cNvPr id="4" name="Content Placeholder 3" descr="еДокумент у еАрхиви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73275" y="885825"/>
            <a:ext cx="7823835" cy="589915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altLang="en-US" dirty="0"/>
              <a:t>Повезана </a:t>
            </a:r>
            <a:r>
              <a:rPr lang="en-US" altLang="en-US" dirty="0" err="1"/>
              <a:t>еДокумент</a:t>
            </a:r>
            <a:r>
              <a:rPr lang="sr-Cyrl-RS" altLang="en-US" dirty="0"/>
              <a:t>а</a:t>
            </a:r>
            <a:r>
              <a:rPr lang="en-US" altLang="en-US" dirty="0"/>
              <a:t> у </a:t>
            </a:r>
            <a:r>
              <a:rPr lang="en-US" altLang="en-US" dirty="0" err="1"/>
              <a:t>еАрхиви</a:t>
            </a:r>
            <a:endParaRPr lang="en-US" altLang="en-US" dirty="0"/>
          </a:p>
        </p:txBody>
      </p:sp>
      <p:pic>
        <p:nvPicPr>
          <p:cNvPr id="4" name="Content Placeholder 3" descr="еДокумент у еАрхиви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73275" y="885825"/>
            <a:ext cx="7823835" cy="5899150"/>
          </a:xfrm>
          <a:prstGeom prst="rect">
            <a:avLst/>
          </a:prstGeom>
        </p:spPr>
      </p:pic>
      <p:sp>
        <p:nvSpPr>
          <p:cNvPr id="3" name="Up Arrow 2"/>
          <p:cNvSpPr/>
          <p:nvPr/>
        </p:nvSpPr>
        <p:spPr>
          <a:xfrm>
            <a:off x="3025140" y="5725160"/>
            <a:ext cx="485775" cy="979170"/>
          </a:xfrm>
          <a:prstGeom prst="up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5630" y="1668780"/>
            <a:ext cx="9740265" cy="1851025"/>
          </a:xfrm>
        </p:spPr>
        <p:txBody>
          <a:bodyPr>
            <a:noAutofit/>
          </a:bodyPr>
          <a:lstStyle/>
          <a:p>
            <a:r>
              <a:rPr lang="en-US" altLang="en-US" sz="3600" b="1" dirty="0"/>
              <a:t>РАД СА еАРХИВОМ</a:t>
            </a:r>
            <a:endParaRPr lang="en-US" altLang="en-US" sz="3600" b="1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Приступ еАрхиви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У складу са одговорностима</a:t>
            </a:r>
            <a:endParaRPr lang="en-US" altLang="en-US"/>
          </a:p>
          <a:p>
            <a:r>
              <a:rPr lang="en-US" altLang="en-US"/>
              <a:t>Одговорност код Писарнице</a:t>
            </a:r>
            <a:endParaRPr lang="en-US" altLang="en-US"/>
          </a:p>
          <a:p>
            <a:r>
              <a:rPr lang="en-US" altLang="en-US"/>
              <a:t>Секторски одвојен приступ документима</a:t>
            </a:r>
            <a:endParaRPr lang="en-US" altLang="en-US"/>
          </a:p>
          <a:p>
            <a:r>
              <a:rPr lang="en-US" altLang="en-US"/>
              <a:t>Администратор еАрхиве</a:t>
            </a:r>
            <a:endParaRPr lang="en-US" altLang="en-US"/>
          </a:p>
          <a:p>
            <a:r>
              <a:rPr lang="en-US" altLang="en-US"/>
              <a:t>Стручни ИТ надзор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Креирање резервне копије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Обавезна процедура </a:t>
            </a:r>
            <a:endParaRPr lang="en-US" altLang="en-US"/>
          </a:p>
          <a:p>
            <a:r>
              <a:rPr lang="en-US" altLang="en-US"/>
              <a:t>Мин једна копија у 24 часа</a:t>
            </a:r>
            <a:endParaRPr lang="en-US" altLang="en-US"/>
          </a:p>
          <a:p>
            <a:r>
              <a:rPr lang="en-US" altLang="en-US"/>
              <a:t>Копија на географски другој локацији</a:t>
            </a:r>
            <a:endParaRPr lang="en-US" altLang="en-US"/>
          </a:p>
          <a:p>
            <a:r>
              <a:rPr lang="en-US" altLang="en-US"/>
              <a:t>Јавни сектор ограничен на територију СР Србије</a:t>
            </a:r>
            <a:endParaRPr lang="en-US" altLang="en-US"/>
          </a:p>
          <a:p>
            <a:r>
              <a:rPr lang="en-US" altLang="en-US"/>
              <a:t>Приватни сектор по принципима корпоративне безбедности</a:t>
            </a:r>
            <a:endParaRPr lang="en-US" alt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ПРЕТРАГА еАРХИВЕ</a:t>
            </a:r>
            <a:endParaRPr lang="en-US" altLang="en-US"/>
          </a:p>
        </p:txBody>
      </p:sp>
      <p:pic>
        <p:nvPicPr>
          <p:cNvPr id="5" name="Content Placeholder 4" descr="aRHIVA PRETRAGA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836295"/>
            <a:ext cx="12146280" cy="564515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Израда Електронске архив</a:t>
            </a:r>
            <a:r>
              <a:rPr lang="en-US" altLang="sr-Cyrl-RS" dirty="0" err="1"/>
              <a:t>ск</a:t>
            </a:r>
            <a:r>
              <a:rPr lang="sr-Cyrl-RS" altLang="sr-Cyrl-RS" dirty="0"/>
              <a:t>е</a:t>
            </a:r>
            <a:r>
              <a:rPr lang="sr-Cyrl-RS" dirty="0"/>
              <a:t> књиге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" y="911646"/>
            <a:ext cx="11997127" cy="5644602"/>
          </a:xfrm>
        </p:spPr>
      </p:pic>
      <p:sp>
        <p:nvSpPr>
          <p:cNvPr id="3" name="Up Arrow 2"/>
          <p:cNvSpPr/>
          <p:nvPr/>
        </p:nvSpPr>
        <p:spPr>
          <a:xfrm>
            <a:off x="11351895" y="2851785"/>
            <a:ext cx="485775" cy="979170"/>
          </a:xfrm>
          <a:prstGeom prst="up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Naslov 1"/>
          <p:cNvSpPr>
            <a:spLocks noGrp="1"/>
          </p:cNvSpPr>
          <p:nvPr>
            <p:ph type="title" hasCustomPrompt="1"/>
          </p:nvPr>
        </p:nvSpPr>
        <p:spPr>
          <a:xfrm>
            <a:off x="2286000" y="3429000"/>
            <a:ext cx="7620000" cy="1143000"/>
          </a:xfrm>
        </p:spPr>
        <p:txBody>
          <a:bodyPr vert="horz" lIns="91440" tIns="45720" rIns="91440" bIns="45720" anchor="ctr" anchorCtr="0"/>
          <a:lstStyle/>
          <a:p>
            <a:pPr algn="ctr"/>
            <a:br>
              <a:rPr lang="sr-Cyrl-RS" altLang="en-US" sz="6000" dirty="0">
                <a:solidFill>
                  <a:schemeClr val="tx1"/>
                </a:solidFill>
              </a:rPr>
            </a:br>
            <a:r>
              <a:rPr lang="sr-Cyrl-RS" altLang="en-US" sz="6000" b="1" dirty="0">
                <a:solidFill>
                  <a:srgbClr val="FF0000"/>
                </a:solidFill>
              </a:rPr>
              <a:t>ПИТАЊА?</a:t>
            </a:r>
            <a:br>
              <a:rPr lang="sr-Cyrl-RS" altLang="en-US" sz="6000" dirty="0">
                <a:solidFill>
                  <a:schemeClr val="tx1"/>
                </a:solidFill>
              </a:rPr>
            </a:br>
            <a:br>
              <a:rPr lang="sr-Cyrl-RS" altLang="en-US" sz="6000" dirty="0">
                <a:solidFill>
                  <a:schemeClr val="tx1"/>
                </a:solidFill>
              </a:rPr>
            </a:br>
            <a:r>
              <a:rPr lang="sr-Cyrl-RS" altLang="en-US" sz="4000" dirty="0">
                <a:solidFill>
                  <a:schemeClr val="tx1"/>
                </a:solidFill>
              </a:rPr>
              <a:t>Војкан Станковић</a:t>
            </a:r>
            <a:br>
              <a:rPr lang="en-US" altLang="en-US" sz="4000" dirty="0">
                <a:solidFill>
                  <a:schemeClr val="tx1"/>
                </a:solidFill>
              </a:rPr>
            </a:br>
            <a:r>
              <a:rPr lang="sr-Cyrl-RS" altLang="en-US" sz="4000" dirty="0">
                <a:solidFill>
                  <a:schemeClr val="tx1"/>
                </a:solidFill>
              </a:rPr>
              <a:t>063 339 125</a:t>
            </a:r>
            <a:br>
              <a:rPr lang="en-US" altLang="en-US" sz="4000" dirty="0">
                <a:solidFill>
                  <a:schemeClr val="tx1"/>
                </a:solidFill>
              </a:rPr>
            </a:br>
            <a:br>
              <a:rPr lang="sr-Cyrl-RS" altLang="en-US" sz="4000" dirty="0">
                <a:solidFill>
                  <a:schemeClr val="tx1"/>
                </a:solidFill>
              </a:rPr>
            </a:br>
            <a:r>
              <a:rPr lang="sr-Latn-RS" altLang="en-US" sz="4000" dirty="0">
                <a:solidFill>
                  <a:schemeClr val="tx1"/>
                </a:solidFill>
                <a:hlinkClick r:id="rId1"/>
              </a:rPr>
              <a:t>stankovic.</a:t>
            </a:r>
            <a:r>
              <a:rPr lang="en-US" altLang="en-US" sz="4000" dirty="0">
                <a:solidFill>
                  <a:schemeClr val="tx1"/>
                </a:solidFill>
                <a:hlinkClick r:id="rId1"/>
              </a:rPr>
              <a:t>v</a:t>
            </a:r>
            <a:r>
              <a:rPr lang="sr-Latn-RS" altLang="en-US" sz="4000" dirty="0">
                <a:solidFill>
                  <a:schemeClr val="tx1"/>
                </a:solidFill>
                <a:hlinkClick r:id="rId1"/>
              </a:rPr>
              <a:t>ojkan</a:t>
            </a:r>
            <a:r>
              <a:rPr lang="en-US" altLang="en-US" sz="4000" dirty="0">
                <a:solidFill>
                  <a:schemeClr val="tx1"/>
                </a:solidFill>
                <a:hlinkClick r:id="rId1"/>
              </a:rPr>
              <a:t>@gmail.com</a:t>
            </a:r>
            <a:br>
              <a:rPr lang="en-US" altLang="en-US" sz="4000" dirty="0">
                <a:solidFill>
                  <a:schemeClr val="tx1"/>
                </a:solidFill>
              </a:rPr>
            </a:br>
            <a:endParaRPr lang="sr-Latn-RS" altLang="en-US" sz="6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16000</Words>
  <Application>WPS Presentation</Application>
  <PresentationFormat>Widescreen</PresentationFormat>
  <Paragraphs>417</Paragraphs>
  <Slides>92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92</vt:i4>
      </vt:variant>
    </vt:vector>
  </HeadingPairs>
  <TitlesOfParts>
    <vt:vector size="108" baseType="lpstr">
      <vt:lpstr>Arial</vt:lpstr>
      <vt:lpstr>SimSun</vt:lpstr>
      <vt:lpstr>Wingdings</vt:lpstr>
      <vt:lpstr>Nimbus Roman No9 L</vt:lpstr>
      <vt:lpstr>文泉驿微米黑</vt:lpstr>
      <vt:lpstr>OpenSymbol</vt:lpstr>
      <vt:lpstr>Cambria</vt:lpstr>
      <vt:lpstr>Microsoft YaHei</vt:lpstr>
      <vt:lpstr>Arial Unicode MS</vt:lpstr>
      <vt:lpstr>Calibri</vt:lpstr>
      <vt:lpstr>DejaVu Sans</vt:lpstr>
      <vt:lpstr>Verdana</vt:lpstr>
      <vt:lpstr>Ubuntu Light</vt:lpstr>
      <vt:lpstr>Times New Roman</vt:lpstr>
      <vt:lpstr>Caladea</vt:lpstr>
      <vt:lpstr>Communications and Dialogues</vt:lpstr>
      <vt:lpstr>еАРХИВИРАЊЕ  ПОСТУПАЊА И РЕАЛНА РЕШЕЊА</vt:lpstr>
      <vt:lpstr>САДРЖАЈ</vt:lpstr>
      <vt:lpstr>Информациони систем еАРХИВ</vt:lpstr>
      <vt:lpstr>ПРИЈАВА ПРАВНИХ ЛИЦА</vt:lpstr>
      <vt:lpstr>еИД за Одговорно лице-Заступника</vt:lpstr>
      <vt:lpstr>ОБАВЕЗЕ У 2026 години</vt:lpstr>
      <vt:lpstr>КАТАЛОГ ПОСТУПАКА</vt:lpstr>
      <vt:lpstr>ОБАВЕЗЕ У 2026 години</vt:lpstr>
      <vt:lpstr>PowerPoint 演示文稿</vt:lpstr>
      <vt:lpstr>PowerPoint 演示文稿</vt:lpstr>
      <vt:lpstr>PowerPoint 演示文稿</vt:lpstr>
      <vt:lpstr>PowerPoint 演示文稿</vt:lpstr>
      <vt:lpstr>еАРХИВИРАЊЕ</vt:lpstr>
      <vt:lpstr>УРЕДБА О ЈЕДИНСТВЕНИМ ТЕХНИЧКО-ТЕХНОЛОШКИМ ЗАХТЕВИМА И ПРОЦЕДУРАМА ЗА ЧУВАЊЕ И ЗАШТИТУ АРХИВСКЕ ГРАЂЕ И ДОКУМЕНТАРНОГ МАТЕРИЈАЛА У ЕЛЕКТРОНСКОМ ОБЛИКУ верзија 116/2023</vt:lpstr>
      <vt:lpstr>ПРЕДМЕТ УРЕДБЕ</vt:lpstr>
      <vt:lpstr>ЧУВАЊЕ еДОКУМЕНТА</vt:lpstr>
      <vt:lpstr>ОТВОРЕНА ПИТАЊА - 1?</vt:lpstr>
      <vt:lpstr>ЧУВАЊЕ еДОКУМЕНТА</vt:lpstr>
      <vt:lpstr>РАЗЈАШЊЕЊЕ:</vt:lpstr>
      <vt:lpstr>ОТВОРЕНА ПИТАЊА - 2:</vt:lpstr>
      <vt:lpstr>АРХИВСКА КЊИГА ЗА ДОКУМЕНТА КОД ДРЖАВЕ:</vt:lpstr>
      <vt:lpstr>АРХИВСКА КЊИГА ЗА ДОКУМЕНТА КОД ДРЖАВЕ:</vt:lpstr>
      <vt:lpstr>ЧУВАЊЕ еДОКУМЕНТА</vt:lpstr>
      <vt:lpstr>ОТВОРЕНА ПИТАЊА - 3</vt:lpstr>
      <vt:lpstr>НАЈВАЖНИЈА ТЕХНИЧКА И ПРОЦЕДУРАЛНА ПИТАЊА</vt:lpstr>
      <vt:lpstr>еАРХИВИРАЊЕ - ПОУЗДАНО ЧУВАЊЕ  </vt:lpstr>
      <vt:lpstr>КОЈА еДОКУМЕНТА СЕ ПОУЗДАНО ЧУВАЈУ?</vt:lpstr>
      <vt:lpstr> КАКО ПРЕПОЗНАЈЕМО ПРВУ КАТЕГОРИЈУ?</vt:lpstr>
      <vt:lpstr>КАКО СЕ ПОУЗДАНО ЧУВАЈУ?</vt:lpstr>
      <vt:lpstr>КАКО СЕ ПОУЗДАНО ЧУВАЈУ?</vt:lpstr>
      <vt:lpstr>СОФТВЕРСКА РЕШЕЊА ЗА ПОУЗДАНО ЧУВАЊЕ</vt:lpstr>
      <vt:lpstr>СОФТВЕРСКА РЕШЕЊА ЗА ПОУЗДАНО ЧУВАЊЕ</vt:lpstr>
      <vt:lpstr>СОФТВЕРСКА РЕШЕЊА ЗА ПОУЗДАНО ЧУВАЊЕ</vt:lpstr>
      <vt:lpstr>СОФТВЕРСКА РЕШЕЊА ЗА ПОУЗДАНО ЧУВАЊЕ</vt:lpstr>
      <vt:lpstr>Digital Docs</vt:lpstr>
      <vt:lpstr>УСЛОВИ И ДОДАТНЕ МОГУЋНОСТИ</vt:lpstr>
      <vt:lpstr>МАСОВНО ПОТПИСИВАЊЕ</vt:lpstr>
      <vt:lpstr>ЗАКЉУЧАК</vt:lpstr>
      <vt:lpstr>СОФТВЕРСКА РЕШЕЊА ЗА ПОУЗДАНО ЧУВАЊЕ</vt:lpstr>
      <vt:lpstr>ДОДАТНА ОБЈАШЊЕЊА</vt:lpstr>
      <vt:lpstr>ДОДАТНА ОБЈАШЊЕЊА</vt:lpstr>
      <vt:lpstr>ДОДАТНА ОБЈАШЊЕЊА</vt:lpstr>
      <vt:lpstr>ДИГИТАЛИЗАЦИЈА ПАПИРНОГ ДОКУМЕНТА И ПОУЗДАНО ЧУВАЊЕ</vt:lpstr>
      <vt:lpstr>ПОСТУПАЊЕ ОРГАНА ВЛАСТИ</vt:lpstr>
      <vt:lpstr>У ПРИВАТНОМ СЕКТОРУ</vt:lpstr>
      <vt:lpstr>У ПРИВАТНОМ СЕКТОРУ</vt:lpstr>
      <vt:lpstr>ОСНОВНО ПИТАЊЕ</vt:lpstr>
      <vt:lpstr>ФОРМАТИ еДОКУМЕНАТА</vt:lpstr>
      <vt:lpstr>ДОДАТНЕ ИНФОРМАЦИЈЕ</vt:lpstr>
      <vt:lpstr>PowerPoint 演示文稿</vt:lpstr>
      <vt:lpstr>PowerPoint 演示文稿</vt:lpstr>
      <vt:lpstr>PowerPoint 演示文稿</vt:lpstr>
      <vt:lpstr>ШТАМПАЊЕ ПАПИРНЕ ВЕРЗИЈЕ еДОКУМЕНТА</vt:lpstr>
      <vt:lpstr>Формирање Папирне верзије</vt:lpstr>
      <vt:lpstr>Формирање Папирне верзије</vt:lpstr>
      <vt:lpstr>Формирање Папирне верзије</vt:lpstr>
      <vt:lpstr>ПРИМЕР ПРИПРЕМЕ ДОКУМЕНТА ЗА  ПОУЗДАНО ЧУВАЊЕ</vt:lpstr>
      <vt:lpstr> ЛИСТА КАТЕГОРИЈА, МЕТАПОДАЦИ И еДЕЛОВОДНИК </vt:lpstr>
      <vt:lpstr>ИЗРАДА И ОВЕРА ЛИСТЕ КАТЕГОРИЈА</vt:lpstr>
      <vt:lpstr>PowerPoint 演示文稿</vt:lpstr>
      <vt:lpstr>PowerPoint 演示文稿</vt:lpstr>
      <vt:lpstr>PowerPoint 演示文稿</vt:lpstr>
      <vt:lpstr>PowerPoint 演示文稿</vt:lpstr>
      <vt:lpstr>У СЛУЧАЈУ ДА ИСТОМ МЕТОДОМ ЗАВОДИМО ПАПИРНИ/СКЕНИРАНИ ДОКУМЕНТ? </vt:lpstr>
      <vt:lpstr>PowerPoint 演示文稿</vt:lpstr>
      <vt:lpstr>ПРИМЕР УНОСА ЛИСТЕ КАТЕГОРИЈА У ЕЛЕКТРОНСКОЈ ФОРМИ</vt:lpstr>
      <vt:lpstr>ПАРАМЕТРИ АРХИВСКЕ КЊИГЕ</vt:lpstr>
      <vt:lpstr>ПАРАМЕТРИ АРХИВНЕ КЊИГЕ</vt:lpstr>
      <vt:lpstr>ЗАВОДНИ ПОДАЦИ - МЕТАПОДАЦИ</vt:lpstr>
      <vt:lpstr>ПРИМЕР ЗАВОЂЕЊА еМАИЛ ДОКУМЕНТА</vt:lpstr>
      <vt:lpstr>PowerPoint 演示文稿</vt:lpstr>
      <vt:lpstr>PowerPoint 演示文稿</vt:lpstr>
      <vt:lpstr>PowerPoint 演示文稿</vt:lpstr>
      <vt:lpstr>ЕЛЕКТРОНСКИ ДЕЛОВОДНИК</vt:lpstr>
      <vt:lpstr>ДЕФИНИЦИЈА</vt:lpstr>
      <vt:lpstr>Испис еДеловодника</vt:lpstr>
      <vt:lpstr>Испис еДеловодника</vt:lpstr>
      <vt:lpstr>PowerPoint 演示文稿</vt:lpstr>
      <vt:lpstr>PowerPoint 演示文稿</vt:lpstr>
      <vt:lpstr>PowerPoint 演示文稿</vt:lpstr>
      <vt:lpstr>ЕЛЕКТРОНСКА АРХИВА</vt:lpstr>
      <vt:lpstr>PowerPoint 演示文稿</vt:lpstr>
      <vt:lpstr>Дигитализовани документ у еАрхиви</vt:lpstr>
      <vt:lpstr>Повезана еДокумента у еАрхиви</vt:lpstr>
      <vt:lpstr>Повезана еДокумента у еАрхиви</vt:lpstr>
      <vt:lpstr>РАД СА еАРХИВОМ</vt:lpstr>
      <vt:lpstr>Приступ еАрхиви</vt:lpstr>
      <vt:lpstr>Креирање резервне копије</vt:lpstr>
      <vt:lpstr>ПРЕТРАГА еАРХИВЕ</vt:lpstr>
      <vt:lpstr>Израда Електронске архивске књиге</vt:lpstr>
      <vt:lpstr>PowerPoint 演示文稿</vt:lpstr>
      <vt:lpstr> ПИТАЊА?  Војкан Станковић 063 339 125  stankovic.vojkan@gmail.com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ПРИМЕРИ ЕЛЕКТРОНСКИХ РАЧУНОВОДСТВЕНИХ ИСПРАВА И СW СИСТЕМА АУТОМАТСКЕ ОБРАДЕ</dc:title>
  <dc:creator>vojkans</dc:creator>
  <cp:lastModifiedBy>vojkans</cp:lastModifiedBy>
  <cp:revision>107</cp:revision>
  <dcterms:created xsi:type="dcterms:W3CDTF">2026-10-01T09:23:44Z</dcterms:created>
  <dcterms:modified xsi:type="dcterms:W3CDTF">2026-10-01T09:23:44Z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