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91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70" r:id="rId30"/>
    <p:sldId id="319" r:id="rId31"/>
    <p:sldId id="320" r:id="rId32"/>
    <p:sldId id="321" r:id="rId33"/>
    <p:sldId id="322" r:id="rId34"/>
    <p:sldId id="323" r:id="rId35"/>
    <p:sldId id="369" r:id="rId36"/>
    <p:sldId id="324" r:id="rId37"/>
    <p:sldId id="326" r:id="rId38"/>
    <p:sldId id="325" r:id="rId39"/>
    <p:sldId id="327" r:id="rId40"/>
    <p:sldId id="328" r:id="rId41"/>
    <p:sldId id="329" r:id="rId42"/>
    <p:sldId id="330" r:id="rId43"/>
    <p:sldId id="331" r:id="rId44"/>
    <p:sldId id="332" r:id="rId45"/>
    <p:sldId id="333" r:id="rId46"/>
    <p:sldId id="335" r:id="rId47"/>
    <p:sldId id="336" r:id="rId48"/>
    <p:sldId id="337" r:id="rId49"/>
    <p:sldId id="338" r:id="rId50"/>
    <p:sldId id="339" r:id="rId51"/>
    <p:sldId id="340" r:id="rId52"/>
    <p:sldId id="341" r:id="rId53"/>
    <p:sldId id="342" r:id="rId54"/>
    <p:sldId id="345" r:id="rId55"/>
    <p:sldId id="346" r:id="rId56"/>
    <p:sldId id="347" r:id="rId57"/>
    <p:sldId id="348" r:id="rId58"/>
    <p:sldId id="349" r:id="rId59"/>
    <p:sldId id="350" r:id="rId60"/>
    <p:sldId id="351" r:id="rId61"/>
    <p:sldId id="352" r:id="rId62"/>
    <p:sldId id="353" r:id="rId63"/>
    <p:sldId id="354" r:id="rId64"/>
    <p:sldId id="355" r:id="rId65"/>
    <p:sldId id="356" r:id="rId66"/>
    <p:sldId id="357" r:id="rId67"/>
    <p:sldId id="358" r:id="rId68"/>
    <p:sldId id="359" r:id="rId69"/>
    <p:sldId id="360" r:id="rId70"/>
    <p:sldId id="361" r:id="rId71"/>
    <p:sldId id="362" r:id="rId72"/>
    <p:sldId id="363" r:id="rId73"/>
    <p:sldId id="364" r:id="rId74"/>
    <p:sldId id="365" r:id="rId75"/>
    <p:sldId id="366" r:id="rId76"/>
    <p:sldId id="367" r:id="rId77"/>
    <p:sldId id="368" r:id="rId78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422C16"/>
    <a:srgbClr val="0C788E"/>
    <a:srgbClr val="006666"/>
    <a:srgbClr val="0099CC"/>
    <a:srgbClr val="660066"/>
    <a:srgbClr val="CC0000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23" autoAdjust="0"/>
    <p:restoredTop sz="94652" autoAdjust="0"/>
  </p:normalViewPr>
  <p:slideViewPr>
    <p:cSldViewPr>
      <p:cViewPr varScale="1">
        <p:scale>
          <a:sx n="65" d="100"/>
          <a:sy n="65" d="100"/>
        </p:scale>
        <p:origin x="1252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4796F-ECAD-4AFA-8C42-D308FC83F656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304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8E49C-21DB-49E9-8BF9-4DB321FD4E11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659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0B704-2E23-41A3-8C10-5940568E26D6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89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11099-74EA-496A-9E9B-A536B8BE6E2B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6023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BCA3-5579-4ABF-A4DC-1A41AFF5C08B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7414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8805-F246-425E-9956-1F6D5278AFEC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9332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753C0-F883-4200-865E-9D95EA00E4B3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7975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AB6728-0BA7-476F-BEA3-A3F4995E3F06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6924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49680-6B34-46B3-9CA9-2CB4098B100B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4905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F22F-A6BA-4430-A742-0CE500669376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7867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F7E59-6B6E-44BE-A472-FB654ECB4430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730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B8AC28A-EC32-49C3-B61B-52AED4E73CAD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294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episarnica@ite.gov.r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te.gov.rs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Podnaslov 2"/>
          <p:cNvSpPr>
            <a:spLocks noGrp="1"/>
          </p:cNvSpPr>
          <p:nvPr>
            <p:ph type="subTitle" idx="1"/>
          </p:nvPr>
        </p:nvSpPr>
        <p:spPr>
          <a:xfrm>
            <a:off x="0" y="2083377"/>
            <a:ext cx="4642338" cy="1735282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defTabSz="914378"/>
            <a:r>
              <a:rPr lang="ru-RU" sz="3000" dirty="0">
                <a:solidFill>
                  <a:schemeClr val="bg1"/>
                </a:solidFill>
                <a:latin typeface="Arial" panose="02080604020202020204" pitchFamily="34" charset="0"/>
              </a:rPr>
              <a:t>Дигитална трансформација -  актуелности и путеви развоја дигиталног друштва у  ЕУ и Републици Србији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39F5FE-0577-FBF1-76AD-4452631B1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6648"/>
            <a:ext cx="9144000" cy="56612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2CEFFC-5444-0A55-7AC9-8667C280977A}"/>
              </a:ext>
            </a:extLst>
          </p:cNvPr>
          <p:cNvSpPr txBox="1"/>
          <p:nvPr/>
        </p:nvSpPr>
        <p:spPr>
          <a:xfrm>
            <a:off x="539552" y="366384"/>
            <a:ext cx="8280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dirty="0" err="1" smtClean="0">
                <a:solidFill>
                  <a:schemeClr val="accent5">
                    <a:lumMod val="1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Електронско</a:t>
            </a:r>
            <a:r>
              <a:rPr lang="ru-RU" sz="2800" b="1" dirty="0" smtClean="0">
                <a:solidFill>
                  <a:schemeClr val="accent5">
                    <a:lumMod val="1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800" b="1" dirty="0" err="1" smtClean="0">
                <a:solidFill>
                  <a:schemeClr val="accent5">
                    <a:lumMod val="1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архивирање</a:t>
            </a:r>
            <a:endParaRPr lang="ru-RU" sz="2800" b="1" dirty="0">
              <a:solidFill>
                <a:schemeClr val="accent5">
                  <a:lumMod val="1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E07792-49A4-B85B-5C90-31A67300D6C4}"/>
              </a:ext>
            </a:extLst>
          </p:cNvPr>
          <p:cNvSpPr txBox="1"/>
          <p:nvPr/>
        </p:nvSpPr>
        <p:spPr>
          <a:xfrm>
            <a:off x="7464114" y="5991878"/>
            <a:ext cx="1716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dirty="0">
                <a:solidFill>
                  <a:prstClr val="white"/>
                </a:solidFill>
                <a:latin typeface="Calibri" panose="020F0502020204030204"/>
                <a:cs typeface="+mn-cs"/>
              </a:rPr>
              <a:t>Олга Зорић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865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5E7AF-95C6-C18A-E1D1-D1AFCB8A1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841" y="1"/>
            <a:ext cx="1800200" cy="1052736"/>
          </a:xfrm>
        </p:spPr>
        <p:txBody>
          <a:bodyPr>
            <a:normAutofit/>
          </a:bodyPr>
          <a:lstStyle/>
          <a:p>
            <a:pPr algn="l"/>
            <a:r>
              <a:rPr lang="sr-Cyrl-RS" sz="2400" b="1" dirty="0" smtClean="0">
                <a:solidFill>
                  <a:srgbClr val="025198"/>
                </a:solidFill>
                <a:latin typeface="+mn-lt"/>
              </a:rPr>
              <a:t>САДРЖАЈ</a:t>
            </a:r>
            <a:endParaRPr lang="en-GB" sz="2400" b="1" dirty="0">
              <a:solidFill>
                <a:srgbClr val="025198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AC2D3C-54BD-D3EF-E875-BA5525D945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114" y="1602851"/>
            <a:ext cx="7610286" cy="2978277"/>
          </a:xfrm>
        </p:spPr>
        <p:txBody>
          <a:bodyPr>
            <a:noAutofit/>
          </a:bodyPr>
          <a:lstStyle/>
          <a:p>
            <a:pPr marL="342900" indent="-342900" algn="l">
              <a:buAutoNum type="arabicPeriod"/>
            </a:pPr>
            <a:r>
              <a:rPr lang="ru-RU" sz="2000" b="1" dirty="0" smtClean="0">
                <a:solidFill>
                  <a:srgbClr val="422C16"/>
                </a:solidFill>
              </a:rPr>
              <a:t>ЗАКОНОДАВНИ </a:t>
            </a:r>
            <a:r>
              <a:rPr lang="ru-RU" sz="2000" b="1" dirty="0">
                <a:solidFill>
                  <a:srgbClr val="422C16"/>
                </a:solidFill>
              </a:rPr>
              <a:t>ОКВИР КОЈИМ СЕ УРЕЂУЈЕ ЕЛЕКТРОНСКО </a:t>
            </a:r>
            <a:r>
              <a:rPr lang="ru-RU" sz="2000" b="1" dirty="0" smtClean="0">
                <a:solidFill>
                  <a:srgbClr val="422C16"/>
                </a:solidFill>
              </a:rPr>
              <a:t>АРХИВИРАЊЕ</a:t>
            </a:r>
            <a:endParaRPr lang="ru-RU" sz="2000" b="1" dirty="0">
              <a:solidFill>
                <a:srgbClr val="422C16"/>
              </a:solidFill>
            </a:endParaRPr>
          </a:p>
          <a:p>
            <a:pPr marL="342900" indent="-342900" algn="l">
              <a:buAutoNum type="arabicPeriod"/>
            </a:pPr>
            <a:endParaRPr lang="ru-RU" sz="2000" b="1" dirty="0" smtClean="0">
              <a:solidFill>
                <a:srgbClr val="422C16"/>
              </a:solidFill>
            </a:endParaRPr>
          </a:p>
          <a:p>
            <a:pPr marL="342900" indent="-342900" algn="l">
              <a:buAutoNum type="arabicPeriod"/>
            </a:pPr>
            <a:r>
              <a:rPr lang="ru-RU" sz="2000" b="1" dirty="0" smtClean="0">
                <a:solidFill>
                  <a:srgbClr val="422C16"/>
                </a:solidFill>
              </a:rPr>
              <a:t>ПРЕДУСЛОВИ </a:t>
            </a:r>
            <a:r>
              <a:rPr lang="ru-RU" sz="2000" b="1" dirty="0">
                <a:solidFill>
                  <a:srgbClr val="422C16"/>
                </a:solidFill>
              </a:rPr>
              <a:t>ЗА ПРАВИЛНО И ЗАКОНИТО ВОЂЕЊЕ </a:t>
            </a:r>
            <a:r>
              <a:rPr lang="ru-RU" sz="2000" b="1" dirty="0" smtClean="0">
                <a:solidFill>
                  <a:srgbClr val="422C16"/>
                </a:solidFill>
              </a:rPr>
              <a:t>Е-АРХИВИРАЊА</a:t>
            </a:r>
          </a:p>
          <a:p>
            <a:pPr marL="342900" indent="-342900" algn="l">
              <a:buAutoNum type="arabicPeriod"/>
            </a:pPr>
            <a:r>
              <a:rPr lang="ru-RU" sz="2000" b="1" dirty="0" smtClean="0">
                <a:solidFill>
                  <a:srgbClr val="422C16"/>
                </a:solidFill>
              </a:rPr>
              <a:t>е-АРХИВИРАЊЕ – </a:t>
            </a:r>
            <a:r>
              <a:rPr lang="ru-RU" sz="2000" b="1" dirty="0" err="1" smtClean="0">
                <a:solidFill>
                  <a:srgbClr val="422C16"/>
                </a:solidFill>
              </a:rPr>
              <a:t>поступци</a:t>
            </a:r>
            <a:r>
              <a:rPr lang="ru-RU" sz="2000" b="1" dirty="0" smtClean="0">
                <a:solidFill>
                  <a:srgbClr val="422C16"/>
                </a:solidFill>
              </a:rPr>
              <a:t> у складу </a:t>
            </a:r>
            <a:r>
              <a:rPr lang="ru-RU" sz="2000" b="1" dirty="0" err="1" smtClean="0">
                <a:solidFill>
                  <a:srgbClr val="422C16"/>
                </a:solidFill>
              </a:rPr>
              <a:t>са</a:t>
            </a:r>
            <a:r>
              <a:rPr lang="ru-RU" sz="2000" b="1" dirty="0" smtClean="0">
                <a:solidFill>
                  <a:srgbClr val="422C16"/>
                </a:solidFill>
              </a:rPr>
              <a:t> законом</a:t>
            </a:r>
            <a:endParaRPr lang="ru-RU" sz="2000" b="1" dirty="0" smtClean="0">
              <a:solidFill>
                <a:srgbClr val="422C16"/>
              </a:solidFill>
            </a:endParaRPr>
          </a:p>
          <a:p>
            <a:pPr algn="l"/>
            <a:endParaRPr lang="ru-RU" sz="2000" b="1" dirty="0" smtClean="0">
              <a:solidFill>
                <a:srgbClr val="422C16"/>
              </a:solidFill>
            </a:endParaRPr>
          </a:p>
          <a:p>
            <a:r>
              <a:rPr lang="ru-RU" sz="2000" b="1" dirty="0">
                <a:solidFill>
                  <a:schemeClr val="accent1"/>
                </a:solidFill>
              </a:rPr>
              <a:t>4</a:t>
            </a:r>
            <a:r>
              <a:rPr lang="ru-RU" sz="2000" b="1" dirty="0">
                <a:solidFill>
                  <a:srgbClr val="422C16"/>
                </a:solidFill>
              </a:rPr>
              <a:t>. БЕЗБЕДНОСТ </a:t>
            </a:r>
            <a:r>
              <a:rPr lang="ru-RU" sz="2000" b="1" dirty="0" smtClean="0">
                <a:solidFill>
                  <a:srgbClr val="422C16"/>
                </a:solidFill>
              </a:rPr>
              <a:t>е-АРХИВЕ</a:t>
            </a:r>
            <a:endParaRPr lang="ru-RU" sz="2000" b="1" dirty="0" smtClean="0">
              <a:solidFill>
                <a:srgbClr val="422C16"/>
              </a:solidFill>
            </a:endParaRPr>
          </a:p>
          <a:p>
            <a:pPr algn="l"/>
            <a:r>
              <a:rPr lang="sr-Latn-RS" sz="2000" dirty="0" smtClean="0">
                <a:solidFill>
                  <a:schemeClr val="accent1"/>
                </a:solidFill>
              </a:rPr>
              <a:t>5</a:t>
            </a:r>
            <a:r>
              <a:rPr lang="ru-RU" sz="2000" b="1" dirty="0" smtClean="0">
                <a:solidFill>
                  <a:srgbClr val="422C16"/>
                </a:solidFill>
              </a:rPr>
              <a:t>. </a:t>
            </a:r>
            <a:r>
              <a:rPr lang="ru-RU" sz="2000" b="1" dirty="0" smtClean="0">
                <a:solidFill>
                  <a:srgbClr val="422C16"/>
                </a:solidFill>
              </a:rPr>
              <a:t>НАЈЧЕШЋА ПИТАЊА И ОДГОВОРИ</a:t>
            </a:r>
            <a:endParaRPr lang="sr-Latn-RS" sz="2000" b="1" dirty="0">
              <a:solidFill>
                <a:srgbClr val="422C1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97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C8600-3659-E929-5110-C0E31DF42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88640"/>
            <a:ext cx="7543800" cy="324585"/>
          </a:xfrm>
        </p:spPr>
        <p:txBody>
          <a:bodyPr>
            <a:normAutofit fontScale="90000"/>
          </a:bodyPr>
          <a:lstStyle/>
          <a:p>
            <a:r>
              <a:rPr lang="sr-Cyrl-RS" sz="2000" b="1" dirty="0" smtClean="0">
                <a:solidFill>
                  <a:srgbClr val="003366"/>
                </a:solidFill>
                <a:latin typeface="+mn-lt"/>
              </a:rPr>
              <a:t>ПРОПИСИ ОД ЗНАЧАЈА</a:t>
            </a:r>
            <a:endParaRPr lang="en-GB" sz="2000" b="1" dirty="0">
              <a:solidFill>
                <a:srgbClr val="003366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E28926-857D-C2A7-ADFF-1391F22A16CF}"/>
              </a:ext>
            </a:extLst>
          </p:cNvPr>
          <p:cNvSpPr txBox="1"/>
          <p:nvPr/>
        </p:nvSpPr>
        <p:spPr>
          <a:xfrm>
            <a:off x="179512" y="513225"/>
            <a:ext cx="8753231" cy="6602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2" indent="-342892" algn="just" defTabSz="914378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sr-Cyrl-RS" sz="1600" b="1" u="sng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Закон о архивској грађи и архивској делатности </a:t>
            </a:r>
            <a:r>
              <a:rPr lang="sr-Cyrl-RS" sz="1600" dirty="0">
                <a:solidFill>
                  <a:prstClr val="black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(„Службени гласник РС”, број 6/20), којим се </a:t>
            </a:r>
            <a:r>
              <a:rPr lang="ru-RU" sz="1600" dirty="0">
                <a:solidFill>
                  <a:srgbClr val="333333"/>
                </a:solidFill>
              </a:rPr>
              <a:t>систем заштите архивске грађе и документарног материјала, услови и начин коришћења архивске грађе, организација, надлежност и делатност архива у Републици Србији.</a:t>
            </a:r>
            <a:endParaRPr lang="en-US" sz="1600" dirty="0">
              <a:solidFill>
                <a:srgbClr val="333333"/>
              </a:solidFill>
            </a:endParaRPr>
          </a:p>
          <a:p>
            <a:pPr algn="just" defTabSz="914378">
              <a:lnSpc>
                <a:spcPct val="115000"/>
              </a:lnSpc>
              <a:spcAft>
                <a:spcPts val="600"/>
              </a:spcAft>
              <a:defRPr/>
            </a:pPr>
            <a:r>
              <a:rPr lang="sr-Cyrl-RS" sz="1600" b="1" dirty="0">
                <a:solidFill>
                  <a:srgbClr val="333333"/>
                </a:solidFill>
              </a:rPr>
              <a:t>       </a:t>
            </a:r>
            <a:r>
              <a:rPr lang="sr-Cyrl-RS" sz="1600" b="1" dirty="0">
                <a:solidFill>
                  <a:srgbClr val="003366"/>
                </a:solidFill>
              </a:rPr>
              <a:t>Подзаконска акта</a:t>
            </a:r>
          </a:p>
          <a:p>
            <a:pPr>
              <a:buFont typeface="Arial" pitchFamily="34" charset="0"/>
              <a:buChar char="•"/>
            </a:pPr>
            <a:r>
              <a:rPr lang="ru-RU" sz="1400" b="1" dirty="0">
                <a:solidFill>
                  <a:srgbClr val="C00000"/>
                </a:solidFill>
                <a:cs typeface="Times New Roman" panose="02020603050405020304" pitchFamily="18" charset="0"/>
              </a:rPr>
              <a:t>Уредба о јединственим техничко-технолошким захтевима и процедурама за чување и заштиту архивске грађе и документарног материјала у електронском облику </a:t>
            </a:r>
            <a:r>
              <a:rPr lang="sr-Cyrl-CS" altLang="en-US" sz="1400" dirty="0">
                <a:solidFill>
                  <a:srgbClr val="C00000"/>
                </a:solidFill>
                <a:cs typeface="Times New Roman" panose="02020603050405020304" pitchFamily="18" charset="0"/>
              </a:rPr>
              <a:t>(„Службени</a:t>
            </a:r>
            <a:r>
              <a:rPr lang="sr-Latn-RS" altLang="en-US" sz="1400" dirty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r>
              <a:rPr lang="sr-Cyrl-CS" altLang="en-US" sz="1400" dirty="0">
                <a:solidFill>
                  <a:srgbClr val="C00000"/>
                </a:solidFill>
                <a:cs typeface="Times New Roman" panose="02020603050405020304" pitchFamily="18" charset="0"/>
              </a:rPr>
              <a:t>гласник РС“ бр. </a:t>
            </a:r>
            <a:r>
              <a:rPr lang="ru-RU" sz="1400" dirty="0">
                <a:solidFill>
                  <a:srgbClr val="C00000"/>
                </a:solidFill>
                <a:cs typeface="Times New Roman" pitchFamily="18" charset="0"/>
              </a:rPr>
              <a:t>107/2021,</a:t>
            </a:r>
            <a:r>
              <a:rPr lang="en-GB" sz="1400" i="1" dirty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C00000"/>
                </a:solidFill>
                <a:cs typeface="Times New Roman" panose="02020603050405020304" pitchFamily="18" charset="0"/>
              </a:rPr>
              <a:t>94/2022</a:t>
            </a:r>
            <a:r>
              <a:rPr lang="sr-Latn-RS" sz="1400" dirty="0">
                <a:solidFill>
                  <a:srgbClr val="C00000"/>
                </a:solidFill>
                <a:cs typeface="Times New Roman" panose="02020603050405020304" pitchFamily="18" charset="0"/>
              </a:rPr>
              <a:t>,</a:t>
            </a:r>
            <a:r>
              <a:rPr lang="ru-RU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116 од 26. децембра 2023</a:t>
            </a:r>
            <a:r>
              <a:rPr lang="ru-RU" sz="1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sr-Latn-RS" sz="1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sr-Latn-RS" sz="1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ru-RU" sz="1400" b="1" dirty="0">
                <a:cs typeface="Times New Roman" pitchFamily="18" charset="0"/>
              </a:rPr>
              <a:t>Уредба о класификацији документарног материјала са роковима чувања </a:t>
            </a:r>
            <a:r>
              <a:rPr lang="sr-Cyrl-CS" altLang="en-US" sz="1400" dirty="0">
                <a:cs typeface="Times New Roman" pitchFamily="18" charset="0"/>
              </a:rPr>
              <a:t>(„Службени гласник РС“ бр. </a:t>
            </a:r>
            <a:r>
              <a:rPr lang="ru-RU" sz="1400" dirty="0">
                <a:cs typeface="Times New Roman" pitchFamily="18" charset="0"/>
              </a:rPr>
              <a:t>14/2023</a:t>
            </a:r>
            <a:r>
              <a:rPr lang="sr-Latn-RS" sz="1400" dirty="0">
                <a:cs typeface="Times New Roman" pitchFamily="18" charset="0"/>
              </a:rPr>
              <a:t>)</a:t>
            </a:r>
            <a:endParaRPr lang="ru-RU" sz="1400" dirty="0"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ru-RU" sz="1400" dirty="0">
                <a:cs typeface="Times New Roman" pitchFamily="18" charset="0"/>
              </a:rPr>
              <a:t>Одлука о промени назива Архива Србије </a:t>
            </a:r>
            <a:r>
              <a:rPr lang="sr-Cyrl-CS" altLang="en-US" sz="1400" dirty="0">
                <a:cs typeface="Times New Roman" pitchFamily="18" charset="0"/>
              </a:rPr>
              <a:t>(„Службени гласник РС“ бр. </a:t>
            </a:r>
            <a:r>
              <a:rPr lang="ru-RU" sz="1400" dirty="0">
                <a:cs typeface="Times New Roman" pitchFamily="18" charset="0"/>
              </a:rPr>
              <a:t>5/2021)</a:t>
            </a:r>
          </a:p>
          <a:p>
            <a:pPr>
              <a:buFont typeface="Arial" pitchFamily="34" charset="0"/>
              <a:buChar char="•"/>
            </a:pPr>
            <a:r>
              <a:rPr lang="ru-RU" sz="1400" dirty="0">
                <a:cs typeface="Times New Roman" pitchFamily="18" charset="0"/>
              </a:rPr>
              <a:t> </a:t>
            </a:r>
            <a:r>
              <a:rPr lang="ru-RU" sz="1400" b="1" dirty="0">
                <a:cs typeface="Times New Roman" pitchFamily="18" charset="0"/>
              </a:rPr>
              <a:t>Правилник о обрасцу архивске књиге </a:t>
            </a:r>
            <a:r>
              <a:rPr lang="sr-Cyrl-CS" altLang="en-US" sz="1400" dirty="0">
                <a:cs typeface="Times New Roman" pitchFamily="18" charset="0"/>
              </a:rPr>
              <a:t>(„Службени гласник РС“ бр. </a:t>
            </a:r>
            <a:r>
              <a:rPr lang="ru-RU" sz="1400" dirty="0">
                <a:cs typeface="Times New Roman" pitchFamily="18" charset="0"/>
              </a:rPr>
              <a:t>34/2022) </a:t>
            </a:r>
          </a:p>
          <a:p>
            <a:pPr>
              <a:buFont typeface="Arial" pitchFamily="34" charset="0"/>
              <a:buChar char="•"/>
            </a:pPr>
            <a:r>
              <a:rPr lang="ru-RU" sz="1400" b="1" dirty="0">
                <a:cs typeface="Times New Roman" pitchFamily="18" charset="0"/>
              </a:rPr>
              <a:t> Правилник о ближим условима за обезбеђење одговарајућег простора и опреме за смештај и заштиту архивске грађе и документарног материјала код ствараоца и имаоца архивске грађе и документарног материјала </a:t>
            </a:r>
            <a:r>
              <a:rPr lang="sr-Cyrl-CS" altLang="en-US" sz="1400" dirty="0">
                <a:cs typeface="Times New Roman" pitchFamily="18" charset="0"/>
              </a:rPr>
              <a:t>(„Службени гласник РС“ бр. </a:t>
            </a:r>
            <a:r>
              <a:rPr lang="ru-RU" sz="1400" dirty="0">
                <a:cs typeface="Times New Roman" pitchFamily="18" charset="0"/>
              </a:rPr>
              <a:t>111/2021)</a:t>
            </a:r>
          </a:p>
          <a:p>
            <a:pPr>
              <a:buFont typeface="Arial" pitchFamily="34" charset="0"/>
              <a:buChar char="•"/>
            </a:pPr>
            <a:r>
              <a:rPr lang="ru-RU" sz="1400" b="1" dirty="0">
                <a:cs typeface="Times New Roman" pitchFamily="18" charset="0"/>
              </a:rPr>
              <a:t>Правилник о ближим условима и начину стицања виших стручних звања у архивској делатности </a:t>
            </a:r>
            <a:r>
              <a:rPr lang="sr-Cyrl-CS" altLang="en-US" sz="1400" dirty="0">
                <a:cs typeface="Times New Roman" pitchFamily="18" charset="0"/>
              </a:rPr>
              <a:t>(„Службени гласник РС“ бр. </a:t>
            </a:r>
            <a:r>
              <a:rPr lang="ru-RU" sz="1400" dirty="0">
                <a:cs typeface="Times New Roman" pitchFamily="18" charset="0"/>
              </a:rPr>
              <a:t>97/2021)</a:t>
            </a:r>
          </a:p>
          <a:p>
            <a:pPr>
              <a:buFont typeface="Arial" pitchFamily="34" charset="0"/>
              <a:buChar char="•"/>
            </a:pPr>
            <a:r>
              <a:rPr lang="ru-RU" sz="1400" b="1" dirty="0">
                <a:cs typeface="Times New Roman" pitchFamily="18" charset="0"/>
              </a:rPr>
              <a:t>Правилник о ближим мерама заштите архивске грађе </a:t>
            </a:r>
            <a:r>
              <a:rPr lang="sr-Cyrl-CS" altLang="en-US" sz="1400" dirty="0">
                <a:cs typeface="Times New Roman" pitchFamily="18" charset="0"/>
              </a:rPr>
              <a:t>(„Службени гласник РС“ бр. </a:t>
            </a:r>
            <a:r>
              <a:rPr lang="ru-RU" sz="1400" dirty="0">
                <a:cs typeface="Times New Roman" pitchFamily="18" charset="0"/>
              </a:rPr>
              <a:t>29/2021)</a:t>
            </a:r>
          </a:p>
          <a:p>
            <a:pPr>
              <a:buFont typeface="Arial" pitchFamily="34" charset="0"/>
              <a:buChar char="•"/>
            </a:pPr>
            <a:r>
              <a:rPr lang="ru-RU" sz="1400" b="1" dirty="0">
                <a:cs typeface="Times New Roman" pitchFamily="18" charset="0"/>
              </a:rPr>
              <a:t>Правилник о условима и начину ревизије архивских фондова и збирки у архивима </a:t>
            </a:r>
            <a:r>
              <a:rPr lang="sr-Cyrl-CS" altLang="en-US" sz="1400" dirty="0">
                <a:cs typeface="Times New Roman" pitchFamily="18" charset="0"/>
              </a:rPr>
              <a:t>(„Службени гласник РС“ бр. </a:t>
            </a:r>
            <a:r>
              <a:rPr lang="ru-RU" sz="1400" dirty="0">
                <a:cs typeface="Times New Roman" pitchFamily="18" charset="0"/>
              </a:rPr>
              <a:t>29/2021)</a:t>
            </a:r>
          </a:p>
          <a:p>
            <a:pPr>
              <a:buFont typeface="Arial" pitchFamily="34" charset="0"/>
              <a:buChar char="•"/>
            </a:pPr>
            <a:r>
              <a:rPr lang="ru-RU" sz="1400" b="1" dirty="0">
                <a:cs typeface="Times New Roman" pitchFamily="18" charset="0"/>
              </a:rPr>
              <a:t>Правилник о обрасцу и начину коришћења службене легитимације овлашћеног лица за вршење стручног надзора у заштити архивске грађе и документарног материјала ван архива</a:t>
            </a:r>
            <a:r>
              <a:rPr lang="ru-RU" sz="1400" dirty="0">
                <a:cs typeface="Times New Roman" pitchFamily="18" charset="0"/>
              </a:rPr>
              <a:t> </a:t>
            </a:r>
            <a:r>
              <a:rPr lang="sr-Cyrl-CS" altLang="en-US" sz="1400" dirty="0">
                <a:cs typeface="Times New Roman" pitchFamily="18" charset="0"/>
              </a:rPr>
              <a:t>(„Службени гласник РС“ бр. </a:t>
            </a:r>
            <a:r>
              <a:rPr lang="ru-RU" sz="1400" dirty="0">
                <a:cs typeface="Times New Roman" pitchFamily="18" charset="0"/>
              </a:rPr>
              <a:t>24/2021)</a:t>
            </a:r>
            <a:endParaRPr lang="sr-Cyrl-CS" altLang="en-US" sz="1400" dirty="0">
              <a:cs typeface="Times New Roman" pitchFamily="18" charset="0"/>
            </a:endParaRPr>
          </a:p>
          <a:p>
            <a:pPr algn="just" defTabSz="914378">
              <a:lnSpc>
                <a:spcPct val="115000"/>
              </a:lnSpc>
              <a:spcAft>
                <a:spcPts val="600"/>
              </a:spcAft>
              <a:defRPr/>
            </a:pPr>
            <a:endParaRPr lang="en-US" sz="1200" dirty="0">
              <a:solidFill>
                <a:srgbClr val="333333"/>
              </a:solidFill>
            </a:endParaRPr>
          </a:p>
          <a:p>
            <a:pPr marL="342892" indent="-342892" algn="just" defTabSz="914378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endParaRPr lang="ru-RU" sz="1050" dirty="0">
              <a:solidFill>
                <a:srgbClr val="333333"/>
              </a:solidFill>
              <a:latin typeface="Verdana" panose="020B0604030504040204" pitchFamily="34" charset="0"/>
            </a:endParaRPr>
          </a:p>
          <a:p>
            <a:pPr marL="171446" indent="-171446" algn="just" defTabSz="914378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ru-RU" sz="1050" dirty="0">
              <a:solidFill>
                <a:srgbClr val="333333"/>
              </a:solidFill>
              <a:latin typeface="Verdana" panose="020B0604030504040204" pitchFamily="34" charset="0"/>
            </a:endParaRPr>
          </a:p>
          <a:p>
            <a:pPr algn="just" defTabSz="914378">
              <a:lnSpc>
                <a:spcPct val="115000"/>
              </a:lnSpc>
              <a:spcAft>
                <a:spcPts val="600"/>
              </a:spcAft>
              <a:defRPr/>
            </a:pPr>
            <a:endParaRPr lang="sr-Cyrl-RS" sz="1400" dirty="0">
              <a:solidFill>
                <a:prstClr val="black"/>
              </a:solidFill>
              <a:latin typeface="Calibri"/>
              <a:ea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32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C8600-3659-E929-5110-C0E31DF42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127" y="114683"/>
            <a:ext cx="7886700" cy="994172"/>
          </a:xfrm>
        </p:spPr>
        <p:txBody>
          <a:bodyPr>
            <a:normAutofit/>
          </a:bodyPr>
          <a:lstStyle/>
          <a:p>
            <a:r>
              <a:rPr lang="sr-Cyrl-RS" sz="2000" b="1" dirty="0">
                <a:latin typeface="+mn-lt"/>
              </a:rPr>
              <a:t>Прописи од значаја</a:t>
            </a:r>
            <a:endParaRPr lang="en-GB" sz="2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1687D-3F88-63BA-45D0-2C7D58B80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83" y="980728"/>
            <a:ext cx="9018954" cy="3971377"/>
          </a:xfrm>
        </p:spPr>
        <p:txBody>
          <a:bodyPr>
            <a:noAutofit/>
          </a:bodyPr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b="1" dirty="0" smtClean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Закон 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о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електронском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документу,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електронској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идентификацији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и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услугама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од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поверења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у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електронском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пословању</a:t>
            </a:r>
            <a:endParaRPr lang="ru-RU" sz="1400" b="1" dirty="0">
              <a:solidFill>
                <a:srgbClr val="C00000"/>
              </a:solidFill>
              <a:ea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Уредба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о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јединственим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техничко-технолошким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захтевима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и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процедурама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за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чување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и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заштиту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архивске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грађе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и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документарног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материјала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у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електронском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облику</a:t>
            </a: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Правилник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о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обрасцу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архивске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књиге</a:t>
            </a:r>
            <a:endParaRPr lang="ru-RU" sz="1400" b="1" dirty="0">
              <a:solidFill>
                <a:srgbClr val="C00000"/>
              </a:solidFill>
              <a:ea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Уредба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о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канцеларијском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пословању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органа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државне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управе</a:t>
            </a: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Правилник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о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условима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за поступке и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технолошка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решења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који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се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користе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током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поузданог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електронског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чувања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документа</a:t>
            </a: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Уредба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о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условима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за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припрему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документа за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поуздано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електронско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чување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и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форматима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документа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који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су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погодни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за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дуготрајно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чување</a:t>
            </a:r>
            <a:endParaRPr lang="ru-RU" sz="1400" b="1" dirty="0">
              <a:solidFill>
                <a:srgbClr val="C00000"/>
              </a:solidFill>
              <a:ea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Закон о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информационој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безбедности</a:t>
            </a: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Закон о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електронској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управи</a:t>
            </a:r>
            <a:endParaRPr lang="ru-RU" sz="1400" b="1" dirty="0">
              <a:solidFill>
                <a:srgbClr val="C00000"/>
              </a:solidFill>
              <a:ea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Закон о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електронском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 smtClean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фактурисању</a:t>
            </a:r>
            <a:endParaRPr lang="ru-RU" sz="1400" b="1" dirty="0" smtClean="0">
              <a:solidFill>
                <a:srgbClr val="C00000"/>
              </a:solidFill>
              <a:ea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b="1" dirty="0" smtClean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Закон о </a:t>
            </a:r>
            <a:r>
              <a:rPr lang="ru-RU" sz="1400" b="1" dirty="0" err="1" smtClean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електронским</a:t>
            </a:r>
            <a:r>
              <a:rPr lang="ru-RU" sz="1400" b="1" dirty="0" smtClean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 smtClean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отпремницама</a:t>
            </a:r>
            <a:endParaRPr lang="ru-RU" sz="1400" b="1" dirty="0">
              <a:solidFill>
                <a:srgbClr val="C00000"/>
              </a:solidFill>
              <a:ea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Упутство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о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канцеларијском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пословању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органа </a:t>
            </a:r>
            <a:r>
              <a:rPr lang="ru-RU" sz="1400" b="1" dirty="0" err="1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државне</a:t>
            </a:r>
            <a:r>
              <a:rPr lang="ru-RU" sz="1400" b="1" dirty="0">
                <a:solidFill>
                  <a:srgbClr val="C00000"/>
                </a:solidFill>
                <a:ea typeface="Courier New" panose="02070309020205020404" pitchFamily="49" charset="0"/>
                <a:cs typeface="Courier New" panose="02070309020205020404" pitchFamily="49" charset="0"/>
              </a:rPr>
              <a:t> управе</a:t>
            </a:r>
            <a:r>
              <a:rPr lang="sr-Cyrl-RS" sz="1400" b="1" dirty="0" smtClean="0">
                <a:solidFill>
                  <a:srgbClr val="C00000"/>
                </a:solidFill>
                <a:ea typeface="Calibri" panose="020F0502020204030204" pitchFamily="34" charset="0"/>
              </a:rPr>
              <a:t>                </a:t>
            </a:r>
            <a:r>
              <a:rPr lang="sr-Cyrl-RS" sz="1400" b="1" dirty="0">
                <a:solidFill>
                  <a:srgbClr val="C00000"/>
                </a:solidFill>
                <a:ea typeface="Calibri" panose="020F0502020204030204" pitchFamily="34" charset="0"/>
              </a:rPr>
              <a:t>....</a:t>
            </a:r>
            <a:endParaRPr lang="en-GB" sz="1400" dirty="0"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4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3613B-1D5B-CD3C-2602-83158CBA0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99" y="332656"/>
            <a:ext cx="8480068" cy="572077"/>
          </a:xfrm>
        </p:spPr>
        <p:txBody>
          <a:bodyPr>
            <a:normAutofit/>
          </a:bodyPr>
          <a:lstStyle/>
          <a:p>
            <a:r>
              <a:rPr lang="sr-Cyrl-RS" sz="2000" b="1" dirty="0" smtClean="0">
                <a:latin typeface="+mn-lt"/>
              </a:rPr>
              <a:t>е-Писарница и </a:t>
            </a:r>
            <a:r>
              <a:rPr lang="sr-Cyrl-RS" sz="2000" b="1" dirty="0">
                <a:latin typeface="+mn-lt"/>
              </a:rPr>
              <a:t>п</a:t>
            </a:r>
            <a:r>
              <a:rPr lang="sr-Cyrl-RS" sz="2000" b="1" dirty="0" smtClean="0">
                <a:latin typeface="+mn-lt"/>
              </a:rPr>
              <a:t>редуслови </a:t>
            </a:r>
            <a:r>
              <a:rPr lang="sr-Cyrl-RS" sz="2000" b="1" dirty="0">
                <a:latin typeface="+mn-lt"/>
              </a:rPr>
              <a:t>за рад у е-Писарници</a:t>
            </a:r>
            <a:endParaRPr lang="en-GB" sz="2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AAD6F-2025-8649-3A83-A8C3ABCE6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77" y="1196752"/>
            <a:ext cx="8862646" cy="4896544"/>
          </a:xfrm>
        </p:spPr>
        <p:txBody>
          <a:bodyPr>
            <a:normAutofit fontScale="92500" lnSpcReduction="10000"/>
          </a:bodyPr>
          <a:lstStyle/>
          <a:p>
            <a:r>
              <a:rPr lang="sr-Cyrl-RS" sz="1900" dirty="0">
                <a:ea typeface="Calibri" panose="020F0502020204030204" pitchFamily="34" charset="0"/>
              </a:rPr>
              <a:t>Софтверско решење Писарница омогућава вођење евиденције о документарном материјалу (формирање предмета) и вођење канцеларијског пословања у електронском облику у складу са </a:t>
            </a:r>
            <a:r>
              <a:rPr lang="sr-Cyrl-RS" sz="1900" b="1" i="1" dirty="0">
                <a:solidFill>
                  <a:srgbClr val="C00000"/>
                </a:solidFill>
                <a:ea typeface="Calibri" panose="020F0502020204030204" pitchFamily="34" charset="0"/>
              </a:rPr>
              <a:t>Уредбом о канцеларијском пословању органа државне управе</a:t>
            </a:r>
            <a:r>
              <a:rPr lang="sr-Cyrl-RS" sz="1900" dirty="0">
                <a:solidFill>
                  <a:srgbClr val="C00000"/>
                </a:solidFill>
                <a:ea typeface="Calibri" panose="020F0502020204030204" pitchFamily="34" charset="0"/>
              </a:rPr>
              <a:t> </a:t>
            </a:r>
            <a:r>
              <a:rPr lang="sr-Cyrl-RS" sz="1900" dirty="0">
                <a:ea typeface="Calibri" panose="020F0502020204030204" pitchFamily="34" charset="0"/>
              </a:rPr>
              <a:t>(„Службени гласник РС”, бр. 21/20 и 32/21) </a:t>
            </a:r>
            <a:r>
              <a:rPr lang="sr-Cyrl-RS" sz="1900" dirty="0">
                <a:highlight>
                  <a:srgbClr val="FFFF00"/>
                </a:highlight>
                <a:ea typeface="Calibri" panose="020F0502020204030204" pitchFamily="34" charset="0"/>
              </a:rPr>
              <a:t>која се примењује од 1. фебруара 2022.</a:t>
            </a:r>
            <a:r>
              <a:rPr lang="sr-Cyrl-RS" sz="1900" dirty="0">
                <a:ea typeface="Calibri" panose="020F0502020204030204" pitchFamily="34" charset="0"/>
              </a:rPr>
              <a:t> године. </a:t>
            </a:r>
          </a:p>
          <a:p>
            <a:r>
              <a:rPr lang="sr-Cyrl-RS" sz="1900" dirty="0">
                <a:ea typeface="Calibri" panose="020F0502020204030204" pitchFamily="34" charset="0"/>
              </a:rPr>
              <a:t>Коришћење Писарнице захтева испуњење организационих и техничких предуслова, као и именовање лица која ће обављати канцеларијско пословања у електронском облику. </a:t>
            </a:r>
          </a:p>
          <a:p>
            <a:pPr marL="0" indent="0">
              <a:buNone/>
            </a:pPr>
            <a:r>
              <a:rPr lang="sr-Cyrl-RS" sz="1900" dirty="0">
                <a:ea typeface="Calibri" panose="020F0502020204030204" pitchFamily="34" charset="0"/>
              </a:rPr>
              <a:t>Главни предуслови за раду у е-Писарници су:</a:t>
            </a:r>
          </a:p>
          <a:p>
            <a:pPr marL="0" algn="just">
              <a:spcBef>
                <a:spcPts val="1200"/>
              </a:spcBef>
            </a:pPr>
            <a:r>
              <a:rPr lang="sr-Cyrl-RS" sz="1900" b="1" u="sng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Поседовање квалификованог електронског печата</a:t>
            </a:r>
            <a:endParaRPr lang="en-GB" sz="1900" dirty="0">
              <a:solidFill>
                <a:srgbClr val="C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algn="just">
              <a:spcBef>
                <a:spcPts val="1200"/>
              </a:spcBef>
            </a:pPr>
            <a:r>
              <a:rPr lang="sr-Cyrl-RS" sz="1900" b="1" u="sng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Коришћење електронског потписа у cloud-у</a:t>
            </a:r>
            <a:endParaRPr lang="en-GB" sz="1900" dirty="0">
              <a:solidFill>
                <a:srgbClr val="C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algn="just">
              <a:spcBef>
                <a:spcPts val="1200"/>
              </a:spcBef>
            </a:pPr>
            <a:r>
              <a:rPr lang="sr-Cyrl-RS" sz="1900" b="1" u="sng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Именовање Администратора органа Писарнице</a:t>
            </a:r>
            <a:endParaRPr lang="en-GB" sz="1900" dirty="0">
              <a:solidFill>
                <a:srgbClr val="C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algn="just">
              <a:spcBef>
                <a:spcPts val="1200"/>
              </a:spcBef>
            </a:pPr>
            <a:r>
              <a:rPr lang="sr-Cyrl-RS" sz="1900" b="1" u="sng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Креирање Листе категорија архивске грађе и документарног материјала са роковима чувања</a:t>
            </a:r>
            <a:endParaRPr lang="en-GB" sz="1900" dirty="0">
              <a:solidFill>
                <a:srgbClr val="C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algn="just">
              <a:spcBef>
                <a:spcPts val="1200"/>
              </a:spcBef>
            </a:pPr>
            <a:r>
              <a:rPr lang="sr-Cyrl-RS" sz="1900" b="1" u="sng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Технички предуслови за вођење електронског канцеларијског пословања</a:t>
            </a:r>
          </a:p>
          <a:p>
            <a:pPr marL="0" algn="just">
              <a:spcBef>
                <a:spcPts val="1200"/>
              </a:spcBef>
            </a:pPr>
            <a:r>
              <a:rPr lang="sr-Cyrl-RS" sz="1900" b="1" u="sng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Употреба е-сандучета/Регистрација на порталу е-Управа</a:t>
            </a:r>
            <a:endParaRPr lang="en-GB" sz="1900" dirty="0">
              <a:solidFill>
                <a:srgbClr val="C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6582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A019-92AF-E7A8-AB1B-0D4FE6728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59" y="332656"/>
            <a:ext cx="8259098" cy="763526"/>
          </a:xfrm>
        </p:spPr>
        <p:txBody>
          <a:bodyPr>
            <a:normAutofit fontScale="90000"/>
          </a:bodyPr>
          <a:lstStyle/>
          <a:p>
            <a:pPr defTabSz="914378">
              <a:spcBef>
                <a:spcPts val="1200"/>
              </a:spcBef>
              <a:defRPr/>
            </a:pPr>
            <a:r>
              <a:rPr lang="en-GB" sz="1800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1800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600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1600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200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2200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sr-Cyrl-RS" sz="2200" b="1" dirty="0">
                <a:solidFill>
                  <a:srgbClr val="003366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>Технички предуслови за вођење</a:t>
            </a:r>
            <a:br>
              <a:rPr lang="sr-Cyrl-RS" sz="2200" b="1" dirty="0">
                <a:solidFill>
                  <a:srgbClr val="003366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sr-Cyrl-RS" sz="2200" b="1" dirty="0">
                <a:solidFill>
                  <a:srgbClr val="003366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>е-канцеларијског пословања</a:t>
            </a:r>
            <a:r>
              <a:rPr lang="en-GB" sz="2200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2200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GB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F05EC-B948-B9AE-23D7-D9ADD44CF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1268760"/>
            <a:ext cx="7632848" cy="6192688"/>
          </a:xfrm>
        </p:spPr>
        <p:txBody>
          <a:bodyPr>
            <a:noAutofit/>
          </a:bodyPr>
          <a:lstStyle/>
          <a:p>
            <a:pPr marL="0" indent="0" algn="just">
              <a:spcBef>
                <a:spcPts val="600"/>
              </a:spcBef>
              <a:buNone/>
            </a:pPr>
            <a:r>
              <a:rPr lang="sr-Cyrl-RS" sz="16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Прелазак </a:t>
            </a:r>
            <a:r>
              <a:rPr lang="sr-Cyrl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на електронско канцеларијско пословање захтева испуњење одређених техничких предуслова, односно набавку:</a:t>
            </a:r>
            <a:endParaRPr lang="en-GB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892" indent="-342892" algn="just">
              <a:spcBef>
                <a:spcPts val="0"/>
              </a:spcBef>
              <a:buFont typeface="+mj-lt"/>
              <a:buAutoNum type="arabicPeriod"/>
            </a:pPr>
            <a:r>
              <a:rPr lang="sr-Cyrl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рачунара за овлашћена лица која воде канцеларијско пословање;</a:t>
            </a:r>
            <a:endParaRPr lang="en-GB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892" indent="-342892" algn="just">
              <a:spcBef>
                <a:spcPts val="0"/>
              </a:spcBef>
              <a:buFont typeface="+mj-lt"/>
              <a:buAutoNum type="arabicPeriod"/>
            </a:pPr>
            <a:r>
              <a:rPr lang="sr-Cyrl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опреме у писарници/канцеларији за пријем – уређај за дигитализацију докумената у папирном облику (скенер) и уређај за штампање потврде о пријему поднеска (штампач)</a:t>
            </a:r>
            <a:endParaRPr lang="en-GB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892" indent="-342892" algn="just">
              <a:spcBef>
                <a:spcPts val="0"/>
              </a:spcBef>
              <a:buFont typeface="+mj-lt"/>
              <a:buAutoNum type="arabicPeriod"/>
            </a:pPr>
            <a:r>
              <a:rPr lang="sr-Cyrl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електронског печата на </a:t>
            </a:r>
            <a:r>
              <a:rPr lang="sr-Latn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HSM</a:t>
            </a:r>
            <a:r>
              <a:rPr lang="sr-Cyrl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 уређају;</a:t>
            </a:r>
            <a:endParaRPr lang="en-GB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892" indent="-342892" algn="just">
              <a:spcBef>
                <a:spcPts val="0"/>
              </a:spcBef>
              <a:buFont typeface="+mj-lt"/>
              <a:buAutoNum type="arabicPeriod"/>
            </a:pPr>
            <a:r>
              <a:rPr lang="sr-Cyrl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квалификованих електронских сертификата на картици/УСБ-у или </a:t>
            </a:r>
            <a:r>
              <a:rPr lang="sr-Latn-RS" sz="1600" i="1" dirty="0">
                <a:ea typeface="Calibri" panose="020F0502020204030204" pitchFamily="34" charset="0"/>
                <a:cs typeface="Times New Roman" panose="02020603050405020304" pitchFamily="18" charset="0"/>
              </a:rPr>
              <a:t>cloud</a:t>
            </a:r>
            <a:r>
              <a:rPr lang="sr-Cyrl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-у за овлашћена лица која раде у Писарници (</a:t>
            </a:r>
            <a:r>
              <a:rPr lang="sr-Cyrl-RS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квалификовани електронски сертификат на ЛК – бесплатан</a:t>
            </a:r>
            <a:r>
              <a:rPr lang="sr-Cyrl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, комерцијални квалификовани сертификати код Поште, Привредне коморе Србије и др, или </a:t>
            </a:r>
            <a:r>
              <a:rPr lang="sr-Cyrl-RS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сертификат на мобилном уређају - </a:t>
            </a:r>
            <a:r>
              <a:rPr lang="sr-Latn-RS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ConsentID</a:t>
            </a:r>
            <a:r>
              <a:rPr lang="sr-Cyrl-RS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 апликација – бесплатна</a:t>
            </a:r>
            <a:r>
              <a:rPr lang="sr-Cyrl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) за пријаву и електронско потписивање аката;</a:t>
            </a:r>
            <a:endParaRPr lang="en-GB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892" indent="-342892" algn="just">
              <a:spcBef>
                <a:spcPts val="0"/>
              </a:spcBef>
              <a:buFont typeface="+mj-lt"/>
              <a:buAutoNum type="arabicPeriod"/>
            </a:pPr>
            <a:r>
              <a:rPr lang="sr-Cyrl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интернет конекцију на рачунарима са којих се приступа Писарници;</a:t>
            </a:r>
          </a:p>
          <a:p>
            <a:pPr marL="342892" indent="-342892" algn="just">
              <a:spcBef>
                <a:spcPts val="0"/>
              </a:spcBef>
              <a:buFont typeface="+mj-lt"/>
              <a:buAutoNum type="arabicPeriod"/>
            </a:pPr>
            <a:r>
              <a:rPr lang="sr-Cyrl-RS" sz="1600" dirty="0">
                <a:ea typeface="Calibri" panose="020F0502020204030204" pitchFamily="34" charset="0"/>
              </a:rPr>
              <a:t>потребно је да рачунари буду обезбеђени карактеристикама за неометано функционисање;</a:t>
            </a:r>
          </a:p>
          <a:p>
            <a:pPr marL="342892" indent="-342892" algn="just">
              <a:spcBef>
                <a:spcPts val="0"/>
              </a:spcBef>
              <a:buFont typeface="+mj-lt"/>
              <a:buAutoNum type="arabicPeriod"/>
            </a:pPr>
            <a:r>
              <a:rPr lang="sr-Cyrl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на</a:t>
            </a:r>
            <a:r>
              <a:rPr lang="sr-Cyrl-RS" sz="1600" dirty="0">
                <a:ea typeface="Calibri" panose="020F0502020204030204" pitchFamily="34" charset="0"/>
              </a:rPr>
              <a:t> сваком рачунару треба да буду инсталирани потребни софтверски алати;</a:t>
            </a:r>
          </a:p>
          <a:p>
            <a:pPr marL="342892" indent="-342892" algn="just">
              <a:spcBef>
                <a:spcPts val="0"/>
              </a:spcBef>
              <a:buFont typeface="+mj-lt"/>
              <a:buAutoNum type="arabicPeriod"/>
            </a:pPr>
            <a:r>
              <a:rPr lang="sr-Cyrl-RS" sz="1600" dirty="0">
                <a:ea typeface="Calibri" panose="020F0502020204030204" pitchFamily="34" charset="0"/>
              </a:rPr>
              <a:t>скенери треба да имају одређене карактеристике;</a:t>
            </a:r>
          </a:p>
          <a:p>
            <a:pPr marL="342892" indent="-342892" algn="just">
              <a:spcBef>
                <a:spcPts val="0"/>
              </a:spcBef>
              <a:buFont typeface="+mj-lt"/>
              <a:buAutoNum type="arabicPeriod"/>
            </a:pPr>
            <a:r>
              <a:rPr lang="sr-Cyrl-RS" sz="1600" dirty="0">
                <a:ea typeface="Calibri" panose="020F0502020204030204" pitchFamily="34" charset="0"/>
              </a:rPr>
              <a:t>сва овлашћена лица потребно је да поседују службену адресу електронске поште.</a:t>
            </a:r>
            <a:endParaRPr lang="en-GB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 defTabSz="914378">
              <a:spcBef>
                <a:spcPts val="1200"/>
              </a:spcBef>
              <a:buNone/>
              <a:defRPr/>
            </a:pPr>
            <a:r>
              <a:rPr lang="sr-Cyrl-RS" sz="1600" b="1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>У другом делу ове едукације детаљно о техничким </a:t>
            </a:r>
            <a:r>
              <a:rPr lang="sr-Cyrl-RS" sz="1600" b="1" dirty="0" smtClean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>предусловима.</a:t>
            </a:r>
            <a:endParaRPr lang="en-GB" sz="1600" b="1" dirty="0">
              <a:solidFill>
                <a:srgbClr val="C00000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600"/>
              </a:spcBef>
              <a:buNone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210606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A019-92AF-E7A8-AB1B-0D4FE6728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198" y="1133333"/>
            <a:ext cx="8259098" cy="763526"/>
          </a:xfrm>
        </p:spPr>
        <p:txBody>
          <a:bodyPr>
            <a:normAutofit fontScale="90000"/>
          </a:bodyPr>
          <a:lstStyle/>
          <a:p>
            <a:pPr defTabSz="914378">
              <a:spcBef>
                <a:spcPts val="1200"/>
              </a:spcBef>
              <a:defRPr/>
            </a:pPr>
            <a:r>
              <a:rPr lang="sr-Cyrl-RS" sz="2200" b="1" dirty="0"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sr-Cyrl-RS" sz="2200" b="1" dirty="0"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sr-Cyrl-RS" sz="2200" b="1" u="sng" dirty="0"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>Коришћење електронског потписа у cloud-у</a:t>
            </a:r>
            <a:r>
              <a:rPr lang="en-GB" sz="1800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1800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600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1600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F05EC-B948-B9AE-23D7-D9ADD44CF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633" y="2213030"/>
            <a:ext cx="8588230" cy="3635478"/>
          </a:xfrm>
        </p:spPr>
        <p:txBody>
          <a:bodyPr>
            <a:noAutofit/>
          </a:bodyPr>
          <a:lstStyle/>
          <a:p>
            <a:pPr marL="0" algn="just">
              <a:spcBef>
                <a:spcPts val="1200"/>
              </a:spcBef>
            </a:pPr>
            <a:r>
              <a:rPr lang="sr-Cyrl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У складу са </a:t>
            </a:r>
            <a:r>
              <a:rPr lang="sr-Cyrl-RS" sz="1600" b="1" i="1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Законом о електронском документу, електронској идентификацији и услугама од поверења у електронском пословању</a:t>
            </a:r>
            <a:r>
              <a:rPr lang="sr-Cyrl-RS" sz="1600" b="1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r-Cyrl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(„Службени гласник РС”, број 94/17, 52/21), </a:t>
            </a:r>
            <a:r>
              <a:rPr lang="sr-Cyrl-RS" sz="1600" u="sng" dirty="0">
                <a:ea typeface="Calibri" panose="020F0502020204030204" pitchFamily="34" charset="0"/>
                <a:cs typeface="Times New Roman" panose="02020603050405020304" pitchFamily="18" charset="0"/>
              </a:rPr>
              <a:t>орган акт у електронском облику може оверити квалификованим електронским потписом уместо печатом. </a:t>
            </a:r>
          </a:p>
          <a:p>
            <a:pPr marL="0" algn="just">
              <a:spcBef>
                <a:spcPts val="1200"/>
              </a:spcBef>
            </a:pPr>
            <a:r>
              <a:rPr lang="sr-Cyrl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Овлашћена лица која у име органа доносе акта могу прибавити квалификовани електронски потпис у </a:t>
            </a:r>
            <a:r>
              <a:rPr lang="sr-Latn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cloud-</a:t>
            </a:r>
            <a:r>
              <a:rPr lang="sr-Cyrl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у који </a:t>
            </a:r>
            <a:r>
              <a:rPr lang="sr-Cyrl-RS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бесплатно издаје Канцеларија за информационе технологије и електронску управу</a:t>
            </a:r>
            <a:r>
              <a:rPr lang="sr-Cyrl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algn="just">
              <a:spcBef>
                <a:spcPts val="1200"/>
              </a:spcBef>
            </a:pPr>
            <a:r>
              <a:rPr lang="sr-Cyrl-RS" sz="1600" u="sng" dirty="0">
                <a:ea typeface="Calibri" panose="020F0502020204030204" pitchFamily="34" charset="0"/>
                <a:cs typeface="Times New Roman" panose="02020603050405020304" pitchFamily="18" charset="0"/>
              </a:rPr>
              <a:t>Коришћење електронског потписа у </a:t>
            </a:r>
            <a:r>
              <a:rPr lang="sr-Latn-RS" sz="1600" u="sng" dirty="0">
                <a:ea typeface="Calibri" panose="020F0502020204030204" pitchFamily="34" charset="0"/>
                <a:cs typeface="Times New Roman" panose="02020603050405020304" pitchFamily="18" charset="0"/>
              </a:rPr>
              <a:t>cloud-</a:t>
            </a:r>
            <a:r>
              <a:rPr lang="sr-Cyrl-RS" sz="1600" u="sng" dirty="0">
                <a:ea typeface="Calibri" panose="020F0502020204030204" pitchFamily="34" charset="0"/>
                <a:cs typeface="Times New Roman" panose="02020603050405020304" pitchFamily="18" charset="0"/>
              </a:rPr>
              <a:t>у биће омогућено из софтверског решења Писарница што поједностављује поступак овере акта</a:t>
            </a:r>
            <a:r>
              <a:rPr lang="sr-Cyrl-RS" sz="16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600"/>
              </a:spcBef>
              <a:buNone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793113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A019-92AF-E7A8-AB1B-0D4FE6728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66" y="332656"/>
            <a:ext cx="8259098" cy="763526"/>
          </a:xfrm>
        </p:spPr>
        <p:txBody>
          <a:bodyPr>
            <a:normAutofit fontScale="90000"/>
          </a:bodyPr>
          <a:lstStyle/>
          <a:p>
            <a:pPr defTabSz="914378">
              <a:spcBef>
                <a:spcPts val="1200"/>
              </a:spcBef>
              <a:defRPr/>
            </a:pPr>
            <a:r>
              <a:rPr lang="sr-Cyrl-RS" sz="2200" b="1" dirty="0"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sr-Cyrl-RS" sz="2200" b="1" dirty="0"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1800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1800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600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1600" dirty="0">
                <a:solidFill>
                  <a:srgbClr val="C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sr-Cyrl-RS" sz="2200" b="1" dirty="0">
                <a:solidFill>
                  <a:srgbClr val="003366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>Именовање Администратора </a:t>
            </a:r>
            <a:br>
              <a:rPr lang="sr-Cyrl-RS" sz="2200" b="1" dirty="0">
                <a:solidFill>
                  <a:srgbClr val="003366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sr-Cyrl-RS" sz="2200" b="1" dirty="0">
                <a:solidFill>
                  <a:srgbClr val="003366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>органа Писарнице</a:t>
            </a:r>
            <a:endParaRPr lang="en-GB" sz="2200" dirty="0">
              <a:solidFill>
                <a:srgbClr val="00336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F05EC-B948-B9AE-23D7-D9ADD44CF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268760"/>
            <a:ext cx="8711951" cy="468052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600"/>
              </a:spcBef>
              <a:buNone/>
            </a:pPr>
            <a:r>
              <a:rPr lang="sr-Cyrl-RS" sz="1400" b="1" i="1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Закон о електронској управи</a:t>
            </a:r>
            <a:r>
              <a:rPr lang="sr-Cyrl-RS" sz="1400" b="1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r-Cyrl-RS" sz="1400" dirty="0">
                <a:ea typeface="Calibri" panose="020F0502020204030204" pitchFamily="34" charset="0"/>
                <a:cs typeface="Times New Roman" panose="02020603050405020304" pitchFamily="18" charset="0"/>
              </a:rPr>
              <a:t>(„Службени гласник РС”, број 27/18) и подзаконска акта уређују обавезу именовања Администратора органа за свако софтверско решење које се развија у оквиру електронске управе. Администратор органа у складу са Уредбом о канцеларијском пословању органа државне управе обавља следеће послове:</a:t>
            </a:r>
            <a:endParaRPr lang="en-GB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892" indent="-342892" algn="just">
              <a:spcBef>
                <a:spcPts val="0"/>
              </a:spcBef>
              <a:buFont typeface="+mj-lt"/>
              <a:buAutoNum type="arabicParenR"/>
            </a:pPr>
            <a:r>
              <a:rPr lang="sr-Cyrl-RS" sz="1400" dirty="0">
                <a:ea typeface="Calibri" panose="020F0502020204030204" pitchFamily="34" charset="0"/>
                <a:cs typeface="Times New Roman" panose="02020603050405020304" pitchFamily="18" charset="0"/>
              </a:rPr>
              <a:t>управља налозима писара које је одредио орган;</a:t>
            </a:r>
            <a:endParaRPr lang="en-GB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892" indent="-342892" algn="just">
              <a:spcBef>
                <a:spcPts val="0"/>
              </a:spcBef>
              <a:buFont typeface="+mj-lt"/>
              <a:buAutoNum type="arabicParenR"/>
            </a:pPr>
            <a:r>
              <a:rPr lang="sr-Cyrl-RS" sz="1400" dirty="0">
                <a:ea typeface="Calibri" panose="020F0502020204030204" pitchFamily="34" charset="0"/>
                <a:cs typeface="Times New Roman" panose="02020603050405020304" pitchFamily="18" charset="0"/>
              </a:rPr>
              <a:t>води шифарник категорија документарног материјала са роковима чувања;</a:t>
            </a:r>
            <a:endParaRPr lang="en-GB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892" indent="-342892" algn="just">
              <a:spcBef>
                <a:spcPts val="0"/>
              </a:spcBef>
              <a:buFont typeface="+mj-lt"/>
              <a:buAutoNum type="arabicParenR"/>
            </a:pPr>
            <a:r>
              <a:rPr lang="sr-Cyrl-RS" sz="1400" dirty="0">
                <a:ea typeface="Calibri" panose="020F0502020204030204" pitchFamily="34" charset="0"/>
                <a:cs typeface="Times New Roman" panose="02020603050405020304" pitchFamily="18" charset="0"/>
              </a:rPr>
              <a:t>пријављује техничке проблеме Служби Владе – Канцеларији за информационе технологије и електронску управу.</a:t>
            </a:r>
            <a:endParaRPr lang="en-GB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algn="just">
              <a:spcBef>
                <a:spcPts val="600"/>
              </a:spcBef>
            </a:pPr>
            <a:r>
              <a:rPr lang="sr-Cyrl-RS" sz="1400" dirty="0">
                <a:ea typeface="Calibri" panose="020F0502020204030204" pitchFamily="34" charset="0"/>
                <a:cs typeface="Times New Roman" panose="02020603050405020304" pitchFamily="18" charset="0"/>
              </a:rPr>
              <a:t>Како би се обезбедио приступ Писарници неопходно је да руководилац органа именује Администратора органа за Писарницу (у именовању навести: ЈМБГ, име и презиме, адресу електронске поште) и решење о именовању послати на адресу </a:t>
            </a:r>
            <a:r>
              <a:rPr lang="sr-Latn-RS" sz="1400" u="sng" dirty="0">
                <a:solidFill>
                  <a:srgbClr val="0563C1"/>
                </a:solidFill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episarnica</a:t>
            </a:r>
            <a:r>
              <a:rPr lang="en-US" sz="1400" u="sng" dirty="0">
                <a:solidFill>
                  <a:srgbClr val="0563C1"/>
                </a:solidFill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@ite.gov.rs</a:t>
            </a:r>
            <a:r>
              <a:rPr lang="sr-Cyrl-RS" sz="14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algn="just">
              <a:spcBef>
                <a:spcPts val="600"/>
              </a:spcBef>
            </a:pPr>
            <a:r>
              <a:rPr lang="sr-Cyrl-RS" sz="1400" dirty="0">
                <a:ea typeface="Calibri" panose="020F0502020204030204" pitchFamily="34" charset="0"/>
                <a:cs typeface="Times New Roman" panose="02020603050405020304" pitchFamily="18" charset="0"/>
              </a:rPr>
              <a:t>Администратор органа у Писарници:</a:t>
            </a:r>
            <a:endParaRPr lang="en-GB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892" indent="-342892" algn="just">
              <a:spcBef>
                <a:spcPts val="0"/>
              </a:spcBef>
              <a:buFont typeface="+mj-lt"/>
              <a:buAutoNum type="arabicPeriod"/>
            </a:pPr>
            <a:r>
              <a:rPr lang="sr-Cyrl-RS" sz="1400" dirty="0">
                <a:ea typeface="Calibri" panose="020F0502020204030204" pitchFamily="34" charset="0"/>
                <a:cs typeface="Times New Roman" panose="02020603050405020304" pitchFamily="18" charset="0"/>
              </a:rPr>
              <a:t>дефинише организационе јединице органа у којима се обављају послови канцеларијског пословања;</a:t>
            </a:r>
            <a:endParaRPr lang="en-GB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892" indent="-342892" algn="just">
              <a:spcBef>
                <a:spcPts val="600"/>
              </a:spcBef>
              <a:buFont typeface="+mj-lt"/>
              <a:buAutoNum type="arabicPeriod"/>
            </a:pPr>
            <a:r>
              <a:rPr lang="sr-Cyrl-RS" sz="1400" dirty="0">
                <a:ea typeface="Calibri" panose="020F0502020204030204" pitchFamily="34" charset="0"/>
                <a:cs typeface="Times New Roman" panose="02020603050405020304" pitchFamily="18" charset="0"/>
              </a:rPr>
              <a:t>ауторизује приступ овлашћеним лицима у Писарници (потребни подаци: ЈМБГ, име и презиме, адресу електронске поште) у односу на послове које обављају *Напомена: Овлашћено лице које ради у Писарници пријаву врши шемом електронске идентификације високог нивоа поузданости (квалификовани електронски сертификат на ЛК – бесплатан, комерцијални квалификовани сертификати код Поште, Привредне коморе Србије и др, или </a:t>
            </a:r>
            <a:r>
              <a:rPr lang="sr-Cyrl-RS" sz="1400" b="1" dirty="0">
                <a:ea typeface="Calibri" panose="020F0502020204030204" pitchFamily="34" charset="0"/>
                <a:cs typeface="Times New Roman" panose="02020603050405020304" pitchFamily="18" charset="0"/>
              </a:rPr>
              <a:t>сертификат на мобилном уређају - </a:t>
            </a:r>
            <a:r>
              <a:rPr lang="sr-Latn-RS" sz="1400" b="1" dirty="0">
                <a:ea typeface="Calibri" panose="020F0502020204030204" pitchFamily="34" charset="0"/>
                <a:cs typeface="Times New Roman" panose="02020603050405020304" pitchFamily="18" charset="0"/>
              </a:rPr>
              <a:t>ConsentID</a:t>
            </a:r>
            <a:r>
              <a:rPr lang="sr-Cyrl-RS" sz="1400" b="1" dirty="0">
                <a:ea typeface="Calibri" panose="020F0502020204030204" pitchFamily="34" charset="0"/>
                <a:cs typeface="Times New Roman" panose="02020603050405020304" pitchFamily="18" charset="0"/>
              </a:rPr>
              <a:t> апликација – бесплатна</a:t>
            </a:r>
            <a:r>
              <a:rPr lang="sr-Cyrl-RS" sz="1400" dirty="0"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en-GB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892" indent="-342892" algn="just">
              <a:spcBef>
                <a:spcPts val="600"/>
              </a:spcBef>
              <a:buFont typeface="+mj-lt"/>
              <a:buAutoNum type="arabicPeriod"/>
            </a:pPr>
            <a:r>
              <a:rPr lang="sr-Cyrl-RS" sz="1400" dirty="0">
                <a:ea typeface="Calibri" panose="020F0502020204030204" pitchFamily="34" charset="0"/>
                <a:cs typeface="Times New Roman" panose="02020603050405020304" pitchFamily="18" charset="0"/>
              </a:rPr>
              <a:t>ажурира Каталог поступака - шифарник документарног материјала</a:t>
            </a:r>
            <a:r>
              <a:rPr lang="sr-Latn-RS" sz="14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600"/>
              </a:spcBef>
              <a:buNone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72694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4C94-EB3E-FA49-82F8-7751E1110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456202"/>
          </a:xfrm>
        </p:spPr>
        <p:txBody>
          <a:bodyPr>
            <a:normAutofit/>
          </a:bodyPr>
          <a:lstStyle/>
          <a:p>
            <a:r>
              <a:rPr lang="sr-Cyrl-RS" sz="2100" b="1" dirty="0">
                <a:solidFill>
                  <a:srgbClr val="C00000"/>
                </a:solidFill>
              </a:rPr>
              <a:t>Портал е-Управа</a:t>
            </a:r>
            <a:endParaRPr lang="en-GB" sz="21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B5DC7-62B9-A745-6E14-25DB3245C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295" y="1909378"/>
            <a:ext cx="7886700" cy="3263504"/>
          </a:xfrm>
        </p:spPr>
        <p:txBody>
          <a:bodyPr>
            <a:normAutofit/>
          </a:bodyPr>
          <a:lstStyle/>
          <a:p>
            <a:pPr algn="l"/>
            <a:r>
              <a:rPr lang="ru-RU" sz="15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Портал еУправа представља јединствено место свих електронских услуга у Републици Србији.</a:t>
            </a:r>
          </a:p>
          <a:p>
            <a:pPr algn="l"/>
            <a:r>
              <a:rPr lang="ru-RU" sz="15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Веб презентацију одржава </a:t>
            </a:r>
            <a:r>
              <a:rPr lang="ru-RU" sz="1500" dirty="0">
                <a:solidFill>
                  <a:srgbClr val="253965"/>
                </a:solidFill>
                <a:latin typeface="Verdana" panose="020B0604030504040204" pitchFamily="34" charset="0"/>
                <a:ea typeface="Verdana" panose="020B0604030504040204" pitchFamily="34" charset="0"/>
                <a:hlinkClick r:id="rId2"/>
              </a:rPr>
              <a:t>Канцеларија за информационе технологије и електронску управу</a:t>
            </a:r>
            <a:r>
              <a:rPr lang="ru-RU" sz="15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sr-Cyrl-RS" sz="1500" dirty="0">
                <a:latin typeface="Verdana" panose="020B0604030504040204" pitchFamily="34" charset="0"/>
                <a:ea typeface="Verdana" panose="020B0604030504040204" pitchFamily="34" charset="0"/>
              </a:rPr>
              <a:t>Начин пријављивања:</a:t>
            </a:r>
          </a:p>
          <a:p>
            <a:pPr>
              <a:buFontTx/>
              <a:buChar char="-"/>
            </a:pPr>
            <a:r>
              <a:rPr lang="sr-Cyrl-RS" sz="1500" dirty="0">
                <a:latin typeface="Verdana" panose="020B0604030504040204" pitchFamily="34" charset="0"/>
                <a:ea typeface="Verdana" panose="020B0604030504040204" pitchFamily="34" charset="0"/>
              </a:rPr>
              <a:t>Пријава корисничким именом и лозинком,</a:t>
            </a:r>
          </a:p>
          <a:p>
            <a:pPr>
              <a:buFontTx/>
              <a:buChar char="-"/>
            </a:pPr>
            <a:r>
              <a:rPr lang="sr-Cyrl-RS" sz="1500" dirty="0">
                <a:latin typeface="Verdana" panose="020B0604030504040204" pitchFamily="34" charset="0"/>
                <a:ea typeface="Verdana" panose="020B0604030504040204" pitchFamily="34" charset="0"/>
              </a:rPr>
              <a:t>Пријава мобилним телефоном (апликација </a:t>
            </a:r>
            <a:r>
              <a:rPr lang="sr-Latn-RS" sz="1500" dirty="0">
                <a:latin typeface="Verdana" panose="020B0604030504040204" pitchFamily="34" charset="0"/>
                <a:ea typeface="Verdana" panose="020B0604030504040204" pitchFamily="34" charset="0"/>
              </a:rPr>
              <a:t>ConsentID) </a:t>
            </a:r>
            <a:r>
              <a:rPr lang="sr-Cyrl-RS" sz="1500" dirty="0">
                <a:latin typeface="Verdana" panose="020B0604030504040204" pitchFamily="34" charset="0"/>
                <a:ea typeface="Verdana" panose="020B0604030504040204" pitchFamily="34" charset="0"/>
              </a:rPr>
              <a:t>или</a:t>
            </a:r>
          </a:p>
          <a:p>
            <a:pPr>
              <a:buFontTx/>
              <a:buChar char="-"/>
            </a:pPr>
            <a:r>
              <a:rPr lang="sr-Cyrl-RS" sz="1500" dirty="0">
                <a:latin typeface="Verdana" panose="020B0604030504040204" pitchFamily="34" charset="0"/>
                <a:ea typeface="Verdana" panose="020B0604030504040204" pitchFamily="34" charset="0"/>
              </a:rPr>
              <a:t>Пријава квалификованим електронским сертификатом.</a:t>
            </a:r>
            <a:endParaRPr lang="en-GB" sz="15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536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75BE2-505F-66F6-3ADE-C5E8B5F8B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4664"/>
            <a:ext cx="7886700" cy="994172"/>
          </a:xfrm>
        </p:spPr>
        <p:txBody>
          <a:bodyPr>
            <a:normAutofit/>
          </a:bodyPr>
          <a:lstStyle/>
          <a:p>
            <a:r>
              <a:rPr lang="ru-RU" sz="1800" b="1" dirty="0">
                <a:solidFill>
                  <a:srgbClr val="003366"/>
                </a:solidFill>
              </a:rPr>
              <a:t>Регистрација корисника услуга електронске управе</a:t>
            </a:r>
            <a:endParaRPr lang="en-GB" sz="1800" b="1" dirty="0">
              <a:solidFill>
                <a:srgbClr val="00336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24DB7-82CC-E7E0-30AC-F633D2F62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09378"/>
            <a:ext cx="7886700" cy="3263504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Регистрација налога на Порталу еУправа врши се регистрацијом корисничког налога на Порталу за електронску идентификацију (у даљем тексту Портал еИД), а првом пријавом на Портал еУправа врши се аутоматски упис ваших података у базу корисника Портала еУправа. </a:t>
            </a:r>
          </a:p>
          <a:p>
            <a:r>
              <a:rPr lang="ru-RU" dirty="0"/>
              <a:t>Пријавом на Портал еУправа сматра се да сте сагласни да постанете корисник услуга електронске управе и омогућено је да извршите активности као што су:</a:t>
            </a:r>
          </a:p>
          <a:p>
            <a:pPr>
              <a:buFontTx/>
              <a:buChar char="-"/>
            </a:pPr>
            <a:r>
              <a:rPr lang="ru-RU" dirty="0"/>
              <a:t>подношење електронских поднесака;</a:t>
            </a:r>
          </a:p>
          <a:p>
            <a:pPr>
              <a:buFontTx/>
              <a:buChar char="-"/>
            </a:pPr>
            <a:r>
              <a:rPr lang="ru-RU" dirty="0"/>
              <a:t>паћење статуса предмета;</a:t>
            </a:r>
          </a:p>
          <a:p>
            <a:pPr>
              <a:buFontTx/>
              <a:buChar char="-"/>
            </a:pPr>
            <a:r>
              <a:rPr lang="ru-RU" dirty="0"/>
              <a:t>примање обавештења и аката надлежних органа као личну доставу у Јединствени електронски сандучић;</a:t>
            </a:r>
          </a:p>
          <a:p>
            <a:pPr>
              <a:buFontTx/>
              <a:buChar char="-"/>
            </a:pPr>
            <a:r>
              <a:rPr lang="ru-RU" dirty="0"/>
              <a:t>плаћање такси и накнада за услуге електронске управе...</a:t>
            </a:r>
          </a:p>
          <a:p>
            <a:pPr marL="0" indent="0">
              <a:buNone/>
            </a:pPr>
            <a:endParaRPr lang="ru-RU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129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CEAAF-1691-025D-E3A4-233E890A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08" y="548680"/>
            <a:ext cx="8745791" cy="763526"/>
          </a:xfrm>
        </p:spPr>
        <p:txBody>
          <a:bodyPr/>
          <a:lstStyle/>
          <a:p>
            <a:r>
              <a:rPr lang="sr-Cyrl-RS" sz="2100" b="1" dirty="0">
                <a:solidFill>
                  <a:srgbClr val="003366"/>
                </a:solidFill>
              </a:rPr>
              <a:t>Употреба електронског потписа и </a:t>
            </a:r>
            <a:br>
              <a:rPr lang="sr-Cyrl-RS" sz="2100" b="1" dirty="0">
                <a:solidFill>
                  <a:srgbClr val="003366"/>
                </a:solidFill>
              </a:rPr>
            </a:br>
            <a:r>
              <a:rPr lang="sr-Cyrl-RS" sz="2100" b="1" dirty="0">
                <a:solidFill>
                  <a:srgbClr val="003366"/>
                </a:solidFill>
              </a:rPr>
              <a:t>безбедност података у електронском облику</a:t>
            </a:r>
            <a:endParaRPr lang="en-GB" sz="2100" b="1" dirty="0">
              <a:solidFill>
                <a:srgbClr val="00336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BA2AC-5CFA-0364-5EBE-908D6491F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92" y="1959219"/>
            <a:ext cx="8659446" cy="33557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 i="1" dirty="0">
                <a:cs typeface="Arial" panose="020B0604020202020204" pitchFamily="34" charset="0"/>
              </a:rPr>
              <a:t>Закон о електронском документу, електронској идентификацији и услугама од поверења </a:t>
            </a:r>
            <a:r>
              <a:rPr lang="ru-RU" sz="1600" dirty="0">
                <a:cs typeface="Arial" panose="020B0604020202020204" pitchFamily="34" charset="0"/>
              </a:rPr>
              <a:t>дефинише да је </a:t>
            </a:r>
            <a:r>
              <a:rPr lang="ru-RU" sz="1600" b="1" dirty="0">
                <a:cs typeface="Arial" panose="020B0604020202020204" pitchFamily="34" charset="0"/>
              </a:rPr>
              <a:t>потписник</a:t>
            </a:r>
            <a:r>
              <a:rPr lang="ru-RU" sz="1600" dirty="0">
                <a:cs typeface="Arial" panose="020B0604020202020204" pitchFamily="34" charset="0"/>
              </a:rPr>
              <a:t> физичко лице које је креирало електронски потпис и чији су идентификациони подаци наведени у сертификату на основу кога је креиран тај електронски потпис, то јест сертификату којим се потврђује веза између идентитета тог потписника и података за валидацију електронског потписа који одговарају подацима за креирање електронског потписа које је потписник користио при креирању тог електронског потписа;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dirty="0">
                <a:cs typeface="Arial" panose="020B0604020202020204" pitchFamily="34" charset="0"/>
              </a:rPr>
              <a:t>печатилац </a:t>
            </a:r>
            <a:r>
              <a:rPr lang="ru-RU" sz="1600" dirty="0">
                <a:cs typeface="Arial" panose="020B0604020202020204" pitchFamily="34" charset="0"/>
              </a:rPr>
              <a:t>је правно лице, физичко лице у својству регистрованог субјекта, физичко лице коме је поверено вршење јавних овлашћења или физичко лице које у обављању делатности у складу са посебним прописима има право на коришћење печата (нпр. лица која имају лиценцу за вршење послова или обављање делатности), у чије име се креира електронски печат и чији су идентификациони подаци наведени у сертификату на основу кога је креиран тај електронски печат, односно у сертификату којим се потврђује веза између идентитета тог печатиоца и података за валидацију електронског печата који одговарају подацима за креирање електронског печата који су по овлашћењу печатиоца коришћени при креирању тог електронског печата;</a:t>
            </a:r>
          </a:p>
        </p:txBody>
      </p:sp>
      <p:sp>
        <p:nvSpPr>
          <p:cNvPr id="4" name="Right Arrow 3"/>
          <p:cNvSpPr/>
          <p:nvPr/>
        </p:nvSpPr>
        <p:spPr>
          <a:xfrm>
            <a:off x="8172400" y="6483257"/>
            <a:ext cx="876123" cy="3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43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0596A-F465-B4EB-1D3B-EB69C331B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4" y="2091955"/>
            <a:ext cx="8480954" cy="3647012"/>
          </a:xfrm>
        </p:spPr>
        <p:txBody>
          <a:bodyPr>
            <a:normAutofit/>
          </a:bodyPr>
          <a:lstStyle/>
          <a:p>
            <a:pPr algn="l"/>
            <a:r>
              <a:rPr lang="ru-RU" sz="1600" b="1" dirty="0">
                <a:solidFill>
                  <a:srgbClr val="333333"/>
                </a:solidFill>
                <a:cs typeface="Arial" panose="020B0604020202020204" pitchFamily="34" charset="0"/>
              </a:rPr>
              <a:t>валидација</a:t>
            </a:r>
            <a:r>
              <a:rPr lang="ru-RU" sz="1600" dirty="0">
                <a:solidFill>
                  <a:srgbClr val="333333"/>
                </a:solidFill>
                <a:cs typeface="Arial" panose="020B0604020202020204" pitchFamily="34" charset="0"/>
              </a:rPr>
              <a:t> је поступак провере и потврђивања исправности електронског потписа односно електронског печата;</a:t>
            </a:r>
          </a:p>
          <a:p>
            <a:pPr algn="l"/>
            <a:r>
              <a:rPr lang="ru-RU" sz="1600" dirty="0">
                <a:solidFill>
                  <a:srgbClr val="333333"/>
                </a:solidFill>
                <a:cs typeface="Arial" panose="020B0604020202020204" pitchFamily="34" charset="0"/>
              </a:rPr>
              <a:t> </a:t>
            </a:r>
            <a:r>
              <a:rPr lang="ru-RU" sz="1600" b="1" dirty="0">
                <a:solidFill>
                  <a:srgbClr val="333333"/>
                </a:solidFill>
                <a:cs typeface="Arial" panose="020B0604020202020204" pitchFamily="34" charset="0"/>
              </a:rPr>
              <a:t>напредни електронски потпис </a:t>
            </a:r>
            <a:r>
              <a:rPr lang="ru-RU" sz="1600" dirty="0">
                <a:solidFill>
                  <a:srgbClr val="333333"/>
                </a:solidFill>
                <a:cs typeface="Arial" panose="020B0604020202020204" pitchFamily="34" charset="0"/>
              </a:rPr>
              <a:t>је електронски потпис који испуњава додатне услове за обезбеђивање вишег нивоа поузданости потврђивања интегритета података и идентитета потписника у складу са овим законом;</a:t>
            </a:r>
          </a:p>
          <a:p>
            <a:pPr algn="l"/>
            <a:r>
              <a:rPr lang="ru-RU" sz="1600" b="1" dirty="0">
                <a:cs typeface="Arial" panose="020B0604020202020204" pitchFamily="34" charset="0"/>
              </a:rPr>
              <a:t>квалификовани електронски потпис </a:t>
            </a:r>
            <a:r>
              <a:rPr lang="ru-RU" sz="1600" dirty="0">
                <a:solidFill>
                  <a:srgbClr val="333333"/>
                </a:solidFill>
                <a:cs typeface="Arial" panose="020B0604020202020204" pitchFamily="34" charset="0"/>
              </a:rPr>
              <a:t>је напредни електронски потпис који је креиран квалификованим средством за креирање електронског потписа и који се заснива на квалификованом сертификату за електронски потпис </a:t>
            </a:r>
            <a:r>
              <a:rPr lang="ru-RU" sz="1600" b="1" dirty="0">
                <a:solidFill>
                  <a:srgbClr val="333333"/>
                </a:solidFill>
                <a:cs typeface="Arial" panose="020B0604020202020204" pitchFamily="34" charset="0"/>
              </a:rPr>
              <a:t>и који је издат од стране пружаоца квалификоване услуге од поверења у складу са овим законом</a:t>
            </a:r>
            <a:r>
              <a:rPr lang="ru-RU" sz="1600" dirty="0">
                <a:solidFill>
                  <a:srgbClr val="333333"/>
                </a:solidFill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r>
              <a:rPr lang="ru-RU" sz="1600" dirty="0"/>
              <a:t>Дакле, </a:t>
            </a:r>
            <a:r>
              <a:rPr lang="ru-RU" sz="1600" dirty="0">
                <a:solidFill>
                  <a:srgbClr val="C00000"/>
                </a:solidFill>
              </a:rPr>
              <a:t>наш Закон познаје </a:t>
            </a:r>
            <a:r>
              <a:rPr lang="ru-RU" sz="1600" b="1" u="sng" dirty="0">
                <a:solidFill>
                  <a:srgbClr val="C00000"/>
                </a:solidFill>
              </a:rPr>
              <a:t>три врсте електронског потписа</a:t>
            </a:r>
            <a:r>
              <a:rPr lang="ru-RU" sz="1600" dirty="0"/>
              <a:t>, који се разликују по степену сигурности коју обезбеђују у правном промету, и по томе како се креирају.</a:t>
            </a:r>
            <a:endParaRPr lang="en-GB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EFD41-A52F-BA91-C2C2-0CBC933E7D1C}"/>
              </a:ext>
            </a:extLst>
          </p:cNvPr>
          <p:cNvSpPr txBox="1"/>
          <p:nvPr/>
        </p:nvSpPr>
        <p:spPr>
          <a:xfrm>
            <a:off x="611560" y="476672"/>
            <a:ext cx="748159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21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+mj-ea"/>
                <a:cs typeface="+mj-cs"/>
              </a:rPr>
              <a:t>Употреба електронског потписа и </a:t>
            </a:r>
            <a:br>
              <a:rPr lang="sr-Cyrl-RS" sz="21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+mj-ea"/>
                <a:cs typeface="+mj-cs"/>
              </a:rPr>
            </a:br>
            <a:r>
              <a:rPr lang="sr-Cyrl-RS" sz="21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+mj-ea"/>
                <a:cs typeface="+mj-cs"/>
              </a:rPr>
              <a:t>безбедност података у електронском облику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3808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8EF7E-D0CF-277A-45E3-7EC543CF8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88640"/>
            <a:ext cx="7543800" cy="1450757"/>
          </a:xfrm>
        </p:spPr>
        <p:txBody>
          <a:bodyPr/>
          <a:lstStyle/>
          <a:p>
            <a:r>
              <a:rPr lang="sr-Cyrl-RS" sz="1800" dirty="0"/>
              <a:t>Напредни електронски потпис</a:t>
            </a:r>
            <a:endParaRPr lang="en-GB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65B87-482C-7C77-E7EF-0E66D8EBA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600" dirty="0"/>
              <a:t>Сваки од наведене три врсте електронског потписа има довољну правну снагу да представља доказ да је нека радња предузета, односно да је неки документ потписан, али се њихова дејства и </a:t>
            </a:r>
            <a:r>
              <a:rPr lang="ru-RU" sz="1600" b="1" dirty="0">
                <a:solidFill>
                  <a:srgbClr val="C00000"/>
                </a:solidFill>
              </a:rPr>
              <a:t>степен сигурности </a:t>
            </a:r>
            <a:r>
              <a:rPr lang="ru-RU" sz="1600" dirty="0"/>
              <a:t>који пружају међусобно разликују.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1600" b="1" dirty="0">
                <a:solidFill>
                  <a:srgbClr val="C00000"/>
                </a:solidFill>
              </a:rPr>
              <a:t>Напредни електронски потпис </a:t>
            </a:r>
            <a:r>
              <a:rPr lang="ru-RU" sz="1600" dirty="0"/>
              <a:t>- технологија којом се омогућава провера аутентичности идентитета потписника у електронском пословању и гарантује се да је документ стигао од пошиљаоца до примаоца у неизмењеном облику. То је онај електронски потпис који истовремено задовољава све следеће услове:</a:t>
            </a:r>
          </a:p>
          <a:p>
            <a:r>
              <a:rPr lang="ru-RU" sz="1600" dirty="0"/>
              <a:t>На јединствен начин идентификује потписника и повезује га са његовим потписом;</a:t>
            </a:r>
          </a:p>
          <a:p>
            <a:r>
              <a:rPr lang="ru-RU" sz="1600" dirty="0"/>
              <a:t>Креиран је коришћењем података које потписник користи под својом искључивом контролом;</a:t>
            </a:r>
          </a:p>
          <a:p>
            <a:r>
              <a:rPr lang="ru-RU" sz="1600" dirty="0"/>
              <a:t>Повезан је са садржајем документа (који се потписује) на такав начин да се може утврдити било која накнадна измена документа.</a:t>
            </a:r>
          </a:p>
        </p:txBody>
      </p:sp>
    </p:spTree>
    <p:extLst>
      <p:ext uri="{BB962C8B-B14F-4D97-AF65-F5344CB8AC3E}">
        <p14:creationId xmlns:p14="http://schemas.microsoft.com/office/powerpoint/2010/main" val="4274054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EFF57-A54A-E4C5-B1FA-9A0FF1E79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sr-Cyrl-RS" sz="2100" b="1" dirty="0">
                <a:solidFill>
                  <a:srgbClr val="003366"/>
                </a:solidFill>
              </a:rPr>
              <a:t>Квалификовани е-потпис</a:t>
            </a:r>
            <a:endParaRPr lang="en-GB" sz="2100" b="1" dirty="0">
              <a:solidFill>
                <a:srgbClr val="00336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1B148-1129-B53C-4DF7-B06D4C0E3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sz="1600" dirty="0"/>
              <a:t>Квалификовани електронски </a:t>
            </a:r>
            <a:r>
              <a:rPr lang="ru-RU" sz="1600" dirty="0" err="1"/>
              <a:t>потпис</a:t>
            </a:r>
            <a:r>
              <a:rPr lang="ru-RU" sz="1600" dirty="0"/>
              <a:t> </a:t>
            </a:r>
            <a:r>
              <a:rPr lang="ru-RU" sz="1600" dirty="0" err="1" smtClean="0"/>
              <a:t>је</a:t>
            </a:r>
            <a:r>
              <a:rPr lang="ru-RU" sz="1600" dirty="0" smtClean="0"/>
              <a:t> </a:t>
            </a:r>
            <a:r>
              <a:rPr lang="ru-RU" sz="1600" dirty="0"/>
              <a:t>посебна врста напредног електронског потписа. Он је заснован на посебном квалификованом сертификату које </a:t>
            </a:r>
            <a:r>
              <a:rPr lang="ru-RU" sz="1600" dirty="0" err="1"/>
              <a:t>издаје</a:t>
            </a:r>
            <a:r>
              <a:rPr lang="ru-RU" sz="1600" dirty="0"/>
              <a:t> </a:t>
            </a:r>
            <a:r>
              <a:rPr lang="ru-RU" sz="1600" dirty="0" err="1" smtClean="0"/>
              <a:t>једно</a:t>
            </a:r>
            <a:r>
              <a:rPr lang="ru-RU" sz="1600" dirty="0" smtClean="0"/>
              <a:t> </a:t>
            </a:r>
            <a:r>
              <a:rPr lang="ru-RU" sz="1600" dirty="0"/>
              <a:t>од овлашћених сертификационих тела у Србији.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1600" dirty="0"/>
              <a:t>Квалификованом ел. потпису Закон даје посебну </a:t>
            </a:r>
            <a:r>
              <a:rPr lang="ru-RU" sz="1600" dirty="0" err="1"/>
              <a:t>правну</a:t>
            </a:r>
            <a:r>
              <a:rPr lang="ru-RU" sz="1600" dirty="0"/>
              <a:t> </a:t>
            </a:r>
            <a:r>
              <a:rPr lang="ru-RU" sz="1600" dirty="0" err="1" smtClean="0"/>
              <a:t>снагу</a:t>
            </a:r>
            <a:r>
              <a:rPr lang="ru-RU" sz="1600" dirty="0" smtClean="0"/>
              <a:t>.</a:t>
            </a:r>
            <a:endParaRPr lang="ru-RU" sz="1600" dirty="0"/>
          </a:p>
          <a:p>
            <a:pPr marL="0" indent="0">
              <a:buNone/>
            </a:pPr>
            <a:r>
              <a:rPr lang="ru-RU" sz="1600" u="sng" dirty="0"/>
              <a:t>Од марта 2022. године Агенција за привредне регистре је омогућила </a:t>
            </a:r>
            <a:r>
              <a:rPr lang="ru-RU" sz="1600" b="1" u="sng" dirty="0"/>
              <a:t>коришћење  електронског потписа у клауду</a:t>
            </a:r>
            <a:r>
              <a:rPr lang="ru-RU" sz="1600" u="sng" dirty="0"/>
              <a:t>, што значи да потписник није везан ни за један додатни уређај приликом потписивања докумената електронским путем. Једино што је потребно за коришћење ове услуге је да преузмете мобилну апликацију </a:t>
            </a:r>
            <a:r>
              <a:rPr lang="sr-Latn-RS" sz="1600" u="sng" dirty="0"/>
              <a:t>Concent ID</a:t>
            </a:r>
            <a:r>
              <a:rPr lang="ru-RU" sz="1600" dirty="0"/>
              <a:t>. </a:t>
            </a:r>
            <a:r>
              <a:rPr lang="ru-RU" sz="1600" dirty="0">
                <a:highlight>
                  <a:srgbClr val="FF9933"/>
                </a:highlight>
              </a:rPr>
              <a:t>Квалификовани електронски сертификат у клауду издаје Канцеларија за ИТ и е-Управу, без накнаде</a:t>
            </a:r>
            <a:r>
              <a:rPr lang="ru-RU" sz="1600" dirty="0"/>
              <a:t>, а додатне информације о томе можете пронаћи на њиховом Порталу за електронску идентификацију</a:t>
            </a:r>
            <a:r>
              <a:rPr lang="sr-Latn-RS" sz="1600" dirty="0"/>
              <a:t> </a:t>
            </a:r>
            <a:r>
              <a:rPr lang="ru-RU" sz="1600" dirty="0"/>
              <a:t>да га изједначава са својеручним потписом на папиру.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08026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620688"/>
            <a:ext cx="6172200" cy="857250"/>
          </a:xfrm>
        </p:spPr>
        <p:txBody>
          <a:bodyPr>
            <a:normAutofit fontScale="90000"/>
          </a:bodyPr>
          <a:lstStyle/>
          <a:p>
            <a:r>
              <a:rPr lang="sr-Latn-RS" sz="2700" dirty="0">
                <a:latin typeface="Arial" pitchFamily="34" charset="0"/>
                <a:cs typeface="Arial" pitchFamily="34" charset="0"/>
              </a:rPr>
              <a:t/>
            </a:r>
            <a:br>
              <a:rPr lang="sr-Latn-RS" sz="2700" dirty="0">
                <a:latin typeface="Arial" pitchFamily="34" charset="0"/>
                <a:cs typeface="Arial" pitchFamily="34" charset="0"/>
              </a:rPr>
            </a:br>
            <a:r>
              <a:rPr lang="sr-Latn-RS" sz="2700" dirty="0">
                <a:latin typeface="Arial" pitchFamily="34" charset="0"/>
                <a:cs typeface="Arial" pitchFamily="34" charset="0"/>
              </a:rPr>
              <a:t/>
            </a:r>
            <a:br>
              <a:rPr lang="sr-Latn-RS" sz="2700" dirty="0">
                <a:latin typeface="Arial" pitchFamily="34" charset="0"/>
                <a:cs typeface="Arial" pitchFamily="34" charset="0"/>
              </a:rPr>
            </a:br>
            <a:r>
              <a:rPr lang="sr-Cyrl-RS" sz="2700" dirty="0">
                <a:solidFill>
                  <a:schemeClr val="accent1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sr-Cyrl-RS" sz="2700" dirty="0">
                <a:solidFill>
                  <a:schemeClr val="accent1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US" sz="2700" dirty="0">
                <a:latin typeface="Arial" pitchFamily="34" charset="0"/>
                <a:cs typeface="Arial" pitchFamily="34" charset="0"/>
              </a:rPr>
              <a:t/>
            </a:r>
            <a:br>
              <a:rPr lang="en-US" sz="2700" dirty="0">
                <a:latin typeface="Arial" pitchFamily="34" charset="0"/>
                <a:cs typeface="Arial" pitchFamily="34" charset="0"/>
              </a:rPr>
            </a:br>
            <a:r>
              <a:rPr lang="en-US" sz="2700" dirty="0">
                <a:latin typeface="Arial" pitchFamily="34" charset="0"/>
                <a:cs typeface="Arial" pitchFamily="34" charset="0"/>
              </a:rPr>
              <a:t/>
            </a:r>
            <a:br>
              <a:rPr lang="en-US" sz="2700" dirty="0">
                <a:latin typeface="Arial" pitchFamily="34" charset="0"/>
                <a:cs typeface="Arial" pitchFamily="34" charset="0"/>
              </a:rPr>
            </a:br>
            <a:r>
              <a:rPr lang="sr-Cyrl-RS" sz="2700" dirty="0">
                <a:solidFill>
                  <a:schemeClr val="accent1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Изузеци – када не користимо е-потпис</a:t>
            </a:r>
            <a:r>
              <a:rPr lang="en-US" sz="2700" dirty="0">
                <a:latin typeface="Arial" pitchFamily="34" charset="0"/>
                <a:cs typeface="Arial" pitchFamily="34" charset="0"/>
              </a:rPr>
              <a:t/>
            </a:r>
            <a:br>
              <a:rPr lang="en-US" sz="2700" dirty="0">
                <a:latin typeface="Arial" pitchFamily="34" charset="0"/>
                <a:cs typeface="Arial" pitchFamily="34" charset="0"/>
              </a:rPr>
            </a:br>
            <a:r>
              <a:rPr lang="en-US" sz="2700" dirty="0">
                <a:latin typeface="Arial" pitchFamily="34" charset="0"/>
                <a:cs typeface="Arial" pitchFamily="34" charset="0"/>
              </a:rPr>
              <a:t>  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39552" y="1772816"/>
            <a:ext cx="8064896" cy="4686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/>
            <a:fld id="{5A63B860-824E-400B-AD17-A4C85D569EA6}" type="slidenum">
              <a:rPr lang="en-US" sz="1050">
                <a:solidFill>
                  <a:srgbClr val="000000"/>
                </a:solidFill>
              </a:rPr>
              <a:pPr defTabSz="685783"/>
              <a:t>15</a:t>
            </a:fld>
            <a:endParaRPr lang="en-US" sz="105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62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Rectangle 110"/>
          <p:cNvSpPr>
            <a:spLocks noGrp="1" noChangeArrowheads="1"/>
          </p:cNvSpPr>
          <p:nvPr>
            <p:ph type="ctrTitle"/>
          </p:nvPr>
        </p:nvSpPr>
        <p:spPr>
          <a:xfrm>
            <a:off x="1528171" y="3657945"/>
            <a:ext cx="5886413" cy="408384"/>
          </a:xfrm>
          <a:noFill/>
          <a:ln/>
        </p:spPr>
        <p:txBody>
          <a:bodyPr>
            <a:noAutofit/>
          </a:bodyPr>
          <a:lstStyle/>
          <a:p>
            <a:r>
              <a:rPr lang="sr-Latn-RS" sz="3600" b="1" dirty="0">
                <a:solidFill>
                  <a:srgbClr val="003366"/>
                </a:solidFill>
              </a:rPr>
              <a:t>E</a:t>
            </a:r>
            <a:r>
              <a:rPr lang="sr-Cyrl-RS" sz="3600" b="1" dirty="0">
                <a:solidFill>
                  <a:srgbClr val="003366"/>
                </a:solidFill>
              </a:rPr>
              <a:t>лектронско архивирање</a:t>
            </a:r>
            <a:endParaRPr lang="es-ES" sz="3600" b="1" dirty="0">
              <a:solidFill>
                <a:srgbClr val="00336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1DC86F-50FE-879E-7065-1A6EBD6FB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182" y="908720"/>
            <a:ext cx="2711967" cy="20383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561714F-68E1-0F72-D220-7835C9FB4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20" y="908720"/>
            <a:ext cx="2439587" cy="20383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427974-0F80-3BD2-27F2-313EDEE67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908720"/>
            <a:ext cx="2808312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27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64385" y="1687414"/>
            <a:ext cx="664371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endParaRPr lang="sr-Cyrl-R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sr-Cyrl-R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Кључне </a:t>
            </a:r>
            <a:r>
              <a:rPr lang="sr-Latn-R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sr-Cyrl-R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бавезе</a:t>
            </a:r>
            <a:endParaRPr lang="sr-Cyrl-R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sr-Cyrl-R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sr-Cyrl-R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Мере које је неопходно предузети ради безбедности електронских докумената</a:t>
            </a:r>
          </a:p>
          <a:p>
            <a:pPr eaLnBrk="1" hangingPunct="1">
              <a:buFont typeface="Wingdings" pitchFamily="2" charset="2"/>
              <a:buChar char="Ø"/>
            </a:pPr>
            <a:endParaRPr lang="sr-Cyrl-R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sr-Cyrl-R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Интерна нормативна акта од значаја за правилну примену прописа у пракси</a:t>
            </a:r>
          </a:p>
          <a:p>
            <a:pPr eaLnBrk="1" hangingPunct="1">
              <a:buFont typeface="Wingdings" pitchFamily="2" charset="2"/>
              <a:buChar char="Ø"/>
            </a:pPr>
            <a:endParaRPr lang="sr-Cyrl-R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itchFamily="2" charset="2"/>
              <a:buChar char="Ø"/>
            </a:pPr>
            <a:endParaRPr lang="sr-Cyrl-C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94770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B10AC871-A1C0-499B-B3E7-E2688F5A5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027" y="964389"/>
            <a:ext cx="6107906" cy="714375"/>
          </a:xfrm>
        </p:spPr>
        <p:txBody>
          <a:bodyPr>
            <a:noAutofit/>
          </a:bodyPr>
          <a:lstStyle/>
          <a:p>
            <a:r>
              <a:rPr lang="sr-Cyrl-CS" altLang="en-US" sz="1800" b="1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Обавезе ствараоца и имаоца архивске грађе и документарног материјала по Закону о архивској грађи и архивској делатности</a:t>
            </a:r>
            <a:endParaRPr lang="en-US" altLang="en-US" sz="1800" b="1" dirty="0">
              <a:solidFill>
                <a:schemeClr val="accent1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17B5986-A697-409E-B5B4-51F7073A9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75224"/>
            <a:ext cx="6800850" cy="12001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sr-Cyrl-CS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sr-Cyrl-CS" altLang="en-US" sz="17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Стваралац и ималац архивске грађе и документарног материјала, осим физичких лица, дужан је да:</a:t>
            </a:r>
            <a:endParaRPr lang="en-US" altLang="en-US" sz="1725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B63E22-7269-43E9-B74B-68B69CEE7985}"/>
              </a:ext>
            </a:extLst>
          </p:cNvPr>
          <p:cNvSpPr txBox="1"/>
          <p:nvPr/>
        </p:nvSpPr>
        <p:spPr>
          <a:xfrm>
            <a:off x="1114425" y="2951632"/>
            <a:ext cx="6858000" cy="30931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>
              <a:buFont typeface="+mj-lt"/>
              <a:buAutoNum type="arabicPeriod"/>
              <a:defRPr/>
            </a:pPr>
            <a:r>
              <a:rPr lang="sr-Cyrl-C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Обезбеди одговарајући простор и опрему за смештај и заштиту архивске грађе и документарног материјала;</a:t>
            </a:r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sr-Cyrl-C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Одреди одговорно стручно лице за заштиту архивске грађе и документарног материјал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поступање са архивском грађом и документарним материјалом;</a:t>
            </a:r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Евидентира, означава, класификује, датира и архивира архивску грађу и документарни материјал;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Предаје архивску грађу надлежном архиву под условима и у роковима       предвиђеним овим законом;</a:t>
            </a:r>
          </a:p>
          <a:p>
            <a:pPr marL="342900" indent="-342900" algn="just">
              <a:buFont typeface="+mj-lt"/>
              <a:buAutoNum type="arabicPeriod"/>
              <a:defRPr/>
            </a:pPr>
            <a:endParaRPr lang="sr-Cyrl-R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E7B8AF59-6AB8-A02C-67A6-0A7230911605}"/>
              </a:ext>
            </a:extLst>
          </p:cNvPr>
          <p:cNvSpPr/>
          <p:nvPr/>
        </p:nvSpPr>
        <p:spPr>
          <a:xfrm>
            <a:off x="7236296" y="5615221"/>
            <a:ext cx="648072" cy="2691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164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A8571-2135-4893-BC1D-BE69050ED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954" y="692696"/>
            <a:ext cx="7331478" cy="5688632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 startAt="4"/>
              <a:defRPr/>
            </a:pPr>
            <a:r>
              <a:rPr lang="sr-Cyrl-R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Осигура трајно чување архивске грађе у електронском облику,</a:t>
            </a:r>
            <a:r>
              <a:rPr lang="sr-Latn-R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њено одржавање, мигрирање, односно пребацивање на нове носаче у</a:t>
            </a:r>
            <a:r>
              <a:rPr lang="sr-Latn-R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прописаним форматима до предаје архивске грађе у електронском облику</a:t>
            </a:r>
            <a:r>
              <a:rPr lang="sr-Latn-R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надлежном јавном архиву;</a:t>
            </a:r>
          </a:p>
          <a:p>
            <a:pPr algn="just">
              <a:buFont typeface="+mj-lt"/>
              <a:buAutoNum type="arabicPeriod" startAt="4"/>
              <a:defRPr/>
            </a:pPr>
            <a:r>
              <a:rPr lang="sr-Cyrl-R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Води архивску књигу на прописаном обрасцу;</a:t>
            </a:r>
          </a:p>
          <a:p>
            <a:pPr algn="just">
              <a:buFont typeface="+mj-lt"/>
              <a:buAutoNum type="arabicPeriod" startAt="4"/>
              <a:defRPr/>
            </a:pPr>
            <a:r>
              <a:rPr lang="sr-Cyrl-R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Достави надлежном архиву препис архивске књиге најкасније до 30. априла      текуће године, за документарни материјал настао у претходној години,</a:t>
            </a:r>
          </a:p>
          <a:p>
            <a:pPr algn="just">
              <a:buFont typeface="+mj-lt"/>
              <a:buAutoNum type="arabicPeriod" startAt="4"/>
              <a:defRPr/>
            </a:pPr>
            <a:r>
              <a:rPr lang="sr-Cyrl-R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Прибави мишљење надлежног архива пре предузимања мера које се односе на архивску грађу и документарни материјал (статусне промене, физичко пресељење, адаптација просторија, отварање стечаја или ликвидације, микрофилмовање, дигитализација и др.)</a:t>
            </a:r>
          </a:p>
          <a:p>
            <a:pPr algn="just">
              <a:buFont typeface="+mj-lt"/>
              <a:buAutoNum type="arabicPeriod" startAt="4"/>
              <a:defRPr/>
            </a:pPr>
            <a:r>
              <a:rPr lang="sr-Cyrl-R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Одабира архивску грађу и издваја ради уништења безвредан  документарни материјал којем је истекао рок чувања, годину дана од дана истека утврђеног рока;</a:t>
            </a:r>
          </a:p>
          <a:p>
            <a:pPr marL="0" indent="0" algn="just">
              <a:buNone/>
              <a:defRPr/>
            </a:pPr>
            <a:endParaRPr lang="sr-Cyrl-RS" sz="18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5EED28DF-7EFD-B779-3AE3-A2B26BC996AA}"/>
              </a:ext>
            </a:extLst>
          </p:cNvPr>
          <p:cNvSpPr/>
          <p:nvPr/>
        </p:nvSpPr>
        <p:spPr>
          <a:xfrm>
            <a:off x="7664007" y="5517232"/>
            <a:ext cx="702078" cy="2691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656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81C6C-AA56-4C85-A6DD-1970EA7E0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980728"/>
            <a:ext cx="7344816" cy="3964809"/>
          </a:xfrm>
        </p:spPr>
        <p:txBody>
          <a:bodyPr>
            <a:noAutofit/>
          </a:bodyPr>
          <a:lstStyle/>
          <a:p>
            <a:pPr algn="just">
              <a:buFont typeface="+mj-lt"/>
              <a:buAutoNum type="arabicPeriod" startAt="10"/>
              <a:defRPr/>
            </a:pPr>
            <a:r>
              <a:rPr lang="sr-Cyrl-R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Омогући овлашћеном лицу надлежног јавног архива стручни надзор над евидентирањем, класификовањем, одабирањем, архивирањем, чувањем, стручним одржавањем и заштитом архивске грађе, односно над њеним одабирањем из документарног материјала;</a:t>
            </a:r>
          </a:p>
          <a:p>
            <a:pPr algn="just">
              <a:buFont typeface="+mj-lt"/>
              <a:buAutoNum type="arabicPeriod" startAt="10"/>
              <a:defRPr/>
            </a:pPr>
            <a:r>
              <a:rPr lang="sr-Cyrl-R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Поступа у складу са мерама и роковима које надлежни архив наложи решењем а на основу претходно сачињеног записника о утврђеном стању заштите архивске грађе и документарног материјала;</a:t>
            </a:r>
          </a:p>
          <a:p>
            <a:pPr algn="just">
              <a:buFont typeface="+mj-lt"/>
              <a:buAutoNum type="arabicPeriod" startAt="10"/>
              <a:defRPr/>
            </a:pPr>
            <a:r>
              <a:rPr lang="sr-Cyrl-R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Обавести надлежни јавни архив о свим променама које су од значаја за архивску грађу најкасније у року од 30 дана од дана њиховог настанка.</a:t>
            </a:r>
          </a:p>
          <a:p>
            <a:pPr algn="just">
              <a:defRPr/>
            </a:pPr>
            <a:r>
              <a:rPr lang="sr-Cyrl-R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Стваралац и ималац је дужан да обезбеди стручно оспособљавање и усавршавање, као и проверу стручне оспособљености запослених који управљају документима.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defRPr/>
            </a:pPr>
            <a:r>
              <a:rPr lang="ru-RU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Стваралац и ималац је дужан да у року од 30 дана обавести надлежан архив о свом оснивању, као и свим изменама статуса и организације </a:t>
            </a:r>
            <a:endParaRPr lang="sr-Latn-R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  <a:defRPr/>
            </a:pPr>
            <a:r>
              <a:rPr lang="sr-Latn-R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ru-RU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промена адресе, седишта, промени назива, престанку рада...) </a:t>
            </a:r>
            <a:endParaRPr lang="sr-Cyrl-R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sr-Cyrl-R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sr-Cyrl-R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610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6E47E59C-63BE-4EBE-A29F-64C9FED77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476672"/>
            <a:ext cx="4916150" cy="1143000"/>
          </a:xfrm>
        </p:spPr>
        <p:txBody>
          <a:bodyPr>
            <a:normAutofit/>
          </a:bodyPr>
          <a:lstStyle/>
          <a:p>
            <a:r>
              <a:rPr lang="sr-Cyrl-CS" altLang="en-US" sz="2400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Управљање документима</a:t>
            </a:r>
            <a:r>
              <a:rPr lang="sr-Cyrl-CS" altLang="en-US" sz="2400" b="1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sr-Cyrl-CS" altLang="en-US" sz="2400" b="1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r-Cyrl-CS" altLang="en-US" sz="2400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(Чл. 14 Закона)</a:t>
            </a:r>
            <a:endParaRPr lang="en-US" altLang="en-US" sz="2400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EC1D6-3E48-4549-AD91-7772530D1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057401"/>
            <a:ext cx="7203132" cy="4107903"/>
          </a:xfrm>
        </p:spPr>
        <p:txBody>
          <a:bodyPr>
            <a:normAutofit fontScale="92500" lnSpcReduction="10000"/>
          </a:bodyPr>
          <a:lstStyle/>
          <a:p>
            <a:pPr marL="0" indent="1191" algn="just">
              <a:buNone/>
              <a:defRPr/>
            </a:pPr>
            <a:r>
              <a:rPr lang="sr-Cyrl-C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Стваралац и ималац, осим физичких лица, дужан је да донесе:</a:t>
            </a:r>
          </a:p>
          <a:p>
            <a:pPr marL="0" indent="1191" algn="just">
              <a:buNone/>
              <a:defRPr/>
            </a:pPr>
            <a:endParaRPr lang="sr-Cyrl-C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5763" indent="-385763" algn="just">
              <a:buFont typeface="+mj-lt"/>
              <a:buAutoNum type="arabicPeriod"/>
              <a:defRPr/>
            </a:pPr>
            <a:r>
              <a:rPr lang="sr-Cyrl-C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Општи акт о начину евидентирања, класификовања, архивирања и чувања архивске грађе и документарног материјала;</a:t>
            </a:r>
          </a:p>
          <a:p>
            <a:pPr marL="385763" indent="-385763" algn="just">
              <a:buFont typeface="+mj-lt"/>
              <a:buAutoNum type="arabicPeriod"/>
              <a:defRPr/>
            </a:pPr>
            <a:r>
              <a:rPr lang="sr-Cyrl-C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Листу категорија архивске грађе и документарног материјала са роковима чувања;</a:t>
            </a:r>
          </a:p>
          <a:p>
            <a:pPr marL="385763" indent="-385763" algn="just">
              <a:buFont typeface="+mj-lt"/>
              <a:buAutoNum type="arabicPeriod"/>
              <a:defRPr/>
            </a:pPr>
            <a:r>
              <a:rPr lang="sr-Cyrl-C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Општи акт о начину евидентирања, заштите, и коришћења електронских докумената;</a:t>
            </a:r>
          </a:p>
          <a:p>
            <a:pPr marL="385763" indent="-385763" algn="just">
              <a:buFont typeface="+mj-lt"/>
              <a:buAutoNum type="arabicPeriod"/>
              <a:defRPr/>
            </a:pPr>
            <a:endParaRPr lang="sr-Cyrl-C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  <a:defRPr/>
            </a:pPr>
            <a:r>
              <a:rPr lang="sr-Cyrl-C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Надлежни јавни архив даје сагласност на листу категорија архивске грађе и документарног материјала са роковима чувања.</a:t>
            </a:r>
          </a:p>
          <a:p>
            <a:pPr marL="0" indent="1191" algn="just">
              <a:buNone/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07738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3">
            <a:extLst>
              <a:ext uri="{FF2B5EF4-FFF2-40B4-BE49-F238E27FC236}">
                <a16:creationId xmlns:a16="http://schemas.microsoft.com/office/drawing/2014/main" id="{3C92BAB7-8DDE-B944-109E-D366D9A48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1640" y="4149080"/>
            <a:ext cx="6858000" cy="2322909"/>
          </a:xfrm>
        </p:spPr>
        <p:txBody>
          <a:bodyPr/>
          <a:lstStyle/>
          <a:p>
            <a:pPr algn="ctr"/>
            <a:r>
              <a:rPr lang="sr-Cyrl-R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</a:t>
            </a:r>
            <a:r>
              <a:rPr lang="en-GB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ување</a:t>
            </a:r>
            <a:r>
              <a:rPr lang="en-GB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GB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заштит</a:t>
            </a:r>
            <a:r>
              <a:rPr lang="sr-Cyrl-R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GB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архивске</a:t>
            </a:r>
            <a:r>
              <a:rPr lang="en-GB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грађе</a:t>
            </a:r>
            <a:r>
              <a:rPr lang="en-GB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GB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документарног</a:t>
            </a:r>
            <a:r>
              <a:rPr lang="en-GB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материјала</a:t>
            </a:r>
            <a:r>
              <a:rPr lang="en-GB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GB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електронском</a:t>
            </a:r>
            <a:r>
              <a:rPr lang="en-GB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3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облику</a:t>
            </a:r>
            <a:r>
              <a:rPr lang="sr-Cyrl-RS" altLang="en-US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sr-Cyrl-RS" altLang="en-US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r-Cyrl-R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sr-Cyrl-R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sr-Cyrl-RS" altLang="en-US" sz="3000" b="1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124745"/>
            <a:ext cx="4468755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745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345E9-868C-B641-5E76-59D2DF916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21A58C-0F8C-4A80-9A07-0F39863A70D3}" type="slidenum">
              <a:rPr lang="sr-Latn-CS" altLang="en-US" smtClean="0"/>
              <a:pPr>
                <a:defRPr/>
              </a:pPr>
              <a:t>23</a:t>
            </a:fld>
            <a:endParaRPr lang="sr-Latn-C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44717-AC7F-B25F-ABC9-26F4979EBE4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83568" y="404664"/>
            <a:ext cx="7434262" cy="5695950"/>
          </a:xfrm>
        </p:spPr>
        <p:txBody>
          <a:bodyPr/>
          <a:lstStyle/>
          <a:p>
            <a:pPr marL="0" indent="0" algn="ctr">
              <a:buNone/>
              <a:defRPr/>
            </a:pPr>
            <a:r>
              <a:rPr lang="ru-RU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Архивска грађа и документарни материјал</a:t>
            </a: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забрана уништења и оштећења, чување и кривица </a:t>
            </a:r>
            <a:r>
              <a:rPr lang="ru-RU" altLang="en-US" sz="1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</a:p>
          <a:p>
            <a:pPr marL="0" indent="0">
              <a:buNone/>
              <a:defRPr/>
            </a:pPr>
            <a:endParaRPr lang="ru-RU" altLang="en-US" sz="1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обзира</a:t>
            </a:r>
            <a:r>
              <a:rPr lang="ru-RU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то </a:t>
            </a:r>
            <a:r>
              <a:rPr lang="ru-RU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 ли је микрофилмован</a:t>
            </a:r>
            <a:r>
              <a:rPr lang="sr-Cyrl-R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дигитализована</a:t>
            </a:r>
            <a:r>
              <a:rPr lang="sr-Latn-C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СМЕ СЕ ОШТЕТИТИ НИ УНИШТИТИ:                                                                         	</a:t>
            </a:r>
            <a:r>
              <a:rPr lang="ru-RU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архивска</a:t>
            </a:r>
            <a:r>
              <a:rPr lang="ru-RU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грађа</a:t>
            </a:r>
            <a:r>
              <a:rPr lang="ru-RU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sr-Cyrl-R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	</a:t>
            </a:r>
            <a:r>
              <a:rPr lang="ru-RU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документарни материјал</a:t>
            </a:r>
            <a:r>
              <a:rPr lang="ru-RU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који се трајно чува</a:t>
            </a:r>
            <a:r>
              <a:rPr lang="ru-RU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из којег није извршено одабирање архивске грађе</a:t>
            </a:r>
            <a:endParaRPr lang="sr-Cyrl-R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Архивска грађа ЧУВА СЕ ТРАЈНО </a:t>
            </a:r>
            <a:r>
              <a:rPr lang="ru-RU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облику у којем је настала</a:t>
            </a:r>
          </a:p>
          <a:p>
            <a:pPr>
              <a:defRPr/>
            </a:pPr>
            <a:r>
              <a:rPr lang="ru-RU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ИЗВОРНИ ОБЛИК ДОКУМЕНТАРНОГ МАТЕРИЈАЛА</a:t>
            </a:r>
            <a:r>
              <a:rPr lang="ru-RU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који није електронски и за који није прописан трајан рок чувања</a:t>
            </a:r>
            <a:r>
              <a:rPr lang="ru-RU" altLang="en-US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 се уништити и пре истека прописаног периода чувања</a:t>
            </a:r>
            <a:r>
              <a:rPr lang="ru-RU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уколико се чува у оквиру услуге квалификованог електронског чувања докумената</a:t>
            </a:r>
          </a:p>
          <a:p>
            <a:pPr>
              <a:defRPr/>
            </a:pPr>
            <a:r>
              <a:rPr lang="sr-Cyrl-R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sr-Cyrl-R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Казнене одредбе члан 66. Закона</a:t>
            </a:r>
            <a:r>
              <a:rPr lang="sr-Cyrl-R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Надлежни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јавни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архив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право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активне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легитимације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погледу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остваривања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заштите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коришћења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културних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добара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подношења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захтева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покретање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кривичног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прекршајног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поступка</a:t>
            </a:r>
            <a:endParaRPr lang="en-US" alt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047384"/>
      </p:ext>
    </p:extLst>
  </p:cSld>
  <p:clrMapOvr>
    <a:masterClrMapping/>
  </p:clrMapOvr>
  <p:timing>
    <p:tnLst>
      <p:par>
        <p:cTn id="1" dur="indefinite" restart="never" nodeType="tmRoot"/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2">
            <a:extLst>
              <a:ext uri="{FF2B5EF4-FFF2-40B4-BE49-F238E27FC236}">
                <a16:creationId xmlns:a16="http://schemas.microsoft.com/office/drawing/2014/main" id="{98D5E16C-D18D-596D-F34B-52AB0B827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696" y="767383"/>
            <a:ext cx="5023247" cy="479822"/>
          </a:xfrm>
        </p:spPr>
        <p:txBody>
          <a:bodyPr>
            <a:normAutofit fontScale="90000"/>
          </a:bodyPr>
          <a:lstStyle/>
          <a:p>
            <a:r>
              <a:rPr lang="sr-Cyrl-RS" altLang="en-US" sz="1800" b="1" i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Правилник о обрасцу архивске књиге</a:t>
            </a:r>
            <a:r>
              <a:rPr lang="sr-Cyrl-RS" altLang="en-US" sz="1800" b="1" dirty="0"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(„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Сл</a:t>
            </a:r>
            <a:r>
              <a:rPr lang="sr-Cyrl-R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гласник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РС”,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бр</a:t>
            </a:r>
            <a:r>
              <a:rPr lang="sr-Cyrl-R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. 34/22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)</a:t>
            </a:r>
            <a:r>
              <a:rPr lang="sr-Cyrl-R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sr-Cyrl-R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ступио је на снагу 24. марта 2022.</a:t>
            </a:r>
            <a:r>
              <a:rPr lang="sr-Cyrl-RS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sr-Cyrl-R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године</a:t>
            </a:r>
            <a:endParaRPr lang="en-US" alt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94379-0021-993B-DC58-575D6FC1B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08" y="1484785"/>
            <a:ext cx="7285809" cy="4760440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ct val="0"/>
              </a:spcBef>
              <a:buNone/>
              <a:defRPr/>
            </a:pPr>
            <a:r>
              <a:rPr lang="sr-Cyrl-RS" alt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sr-Cyrl-RS" alt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Архивска књига </a:t>
            </a:r>
            <a:r>
              <a:rPr lang="sr-Cyrl-RS" altLang="en-US" sz="19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представља</a:t>
            </a:r>
            <a:r>
              <a:rPr lang="sr-Cyrl-RS" altLang="en-US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altLang="en-US" sz="19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ct val="0"/>
              </a:spcBef>
              <a:buFont typeface="Symbol" panose="05050102010706020507" pitchFamily="18" charset="2"/>
              <a:buChar char=""/>
              <a:defRPr/>
            </a:pP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</a:t>
            </a:r>
            <a:r>
              <a:rPr lang="sr-Cyrl-R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ЕВИДЕНЦИЈ</a:t>
            </a:r>
            <a:r>
              <a:rPr lang="sr-Cyrl-R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целокупној</a:t>
            </a:r>
            <a:r>
              <a:rPr lang="en-US" altLang="en-US" sz="19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архивској</a:t>
            </a:r>
            <a:r>
              <a:rPr lang="en-US" altLang="en-US" sz="19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грађи</a:t>
            </a:r>
            <a:r>
              <a:rPr lang="en-US" altLang="en-US" sz="19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altLang="en-US" sz="19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документарном</a:t>
            </a:r>
            <a:r>
              <a:rPr lang="en-US" altLang="en-US" sz="19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материјалу</a:t>
            </a:r>
            <a:r>
              <a:rPr lang="en-US" altLang="en-US" sz="19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r-Cyrl-R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endParaRPr lang="en-US" altLang="en-US" sz="19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15000"/>
              </a:lnSpc>
              <a:spcBef>
                <a:spcPct val="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насталом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у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раду</a:t>
            </a:r>
            <a:r>
              <a:rPr lang="en-US" altLang="en-US" sz="19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ствараоца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односно</a:t>
            </a:r>
            <a:r>
              <a:rPr lang="sr-Cyrl-R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US" altLang="en-US" sz="19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ct val="0"/>
              </a:spcBef>
              <a:buFont typeface="Symbol" panose="05050102010706020507" pitchFamily="18" charset="2"/>
              <a:buChar char=""/>
              <a:defRPr/>
            </a:pP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ОПШТИ ИНВЕНТАРНИ ПРЕГЛЕД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целокупног</a:t>
            </a:r>
            <a:r>
              <a:rPr lang="en-US" altLang="en-US" sz="19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архивског</a:t>
            </a:r>
            <a:r>
              <a:rPr lang="en-US" altLang="en-US" sz="19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altLang="en-US" sz="19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документарног</a:t>
            </a:r>
            <a:r>
              <a:rPr lang="en-US" altLang="en-US" sz="19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материјала</a:t>
            </a:r>
            <a:r>
              <a:rPr lang="en-US" altLang="en-US" sz="19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ранијих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година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r-Cyrl-R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endParaRPr lang="en-US" altLang="en-US" sz="19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15000"/>
              </a:lnSpc>
              <a:spcBef>
                <a:spcPct val="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коју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ствараоци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имаоци</a:t>
            </a:r>
            <a:r>
              <a:rPr lang="en-US" altLang="en-US" sz="19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архивске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грађе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документарног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материјала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обавезни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воде</a:t>
            </a:r>
            <a:r>
              <a:rPr lang="sr-Cyrl-RS" alt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altLang="en-US" sz="19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Char char=""/>
              <a:defRPr/>
            </a:pPr>
            <a:r>
              <a:rPr lang="en-US" altLang="en-US" sz="19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ОД ОСНИВАЊА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као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</a:p>
          <a:p>
            <a:pPr lvl="2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Char char=""/>
              <a:defRPr/>
            </a:pP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документарног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материјала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који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се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било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којем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основу</a:t>
            </a:r>
            <a:r>
              <a:rPr lang="en-US" altLang="en-US" sz="19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налази</a:t>
            </a:r>
            <a:r>
              <a:rPr lang="en-US" altLang="en-US" sz="19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код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ствараоца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имаоца</a:t>
            </a:r>
            <a:r>
              <a:rPr lang="sr-Cyrl-R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US" altLang="en-US" sz="19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ct val="0"/>
              </a:spcBef>
              <a:buFont typeface="Symbol" panose="05050102010706020507" pitchFamily="18" charset="2"/>
              <a:buChar char=""/>
              <a:defRPr/>
            </a:pPr>
            <a:r>
              <a:rPr lang="sr-Cyrl-RS" altLang="en-US" sz="19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</a:t>
            </a:r>
            <a:r>
              <a:rPr lang="en-US" altLang="en-US" sz="19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ОЖЕ </a:t>
            </a:r>
            <a:r>
              <a:rPr lang="sr-Cyrl-RS" altLang="en-US" sz="19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СЕ </a:t>
            </a:r>
            <a:r>
              <a:rPr lang="en-US" altLang="en-US" sz="19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ВОДИТИ</a:t>
            </a:r>
            <a:r>
              <a:rPr lang="en-US" altLang="en-US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 </a:t>
            </a:r>
            <a:r>
              <a:rPr lang="sr-Cyrl-RS" altLang="en-US" sz="19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ДВА ОБЛИКА</a:t>
            </a:r>
            <a:r>
              <a:rPr lang="sr-Cyrl-RS" altLang="en-US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altLang="en-US" sz="19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15000"/>
              </a:lnSpc>
              <a:spcBef>
                <a:spcPct val="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en-US" sz="19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папирном</a:t>
            </a:r>
            <a:r>
              <a:rPr lang="en-US" alt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r-Cyrl-R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када треба да буде:</a:t>
            </a:r>
            <a:endParaRPr lang="en-US" altLang="en-US" sz="19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Char char=""/>
              <a:defRPr/>
            </a:pPr>
            <a:r>
              <a:rPr lang="en-US" altLang="en-US" sz="19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књиг</a:t>
            </a:r>
            <a:r>
              <a:rPr lang="sr-Cyrl-RS" alt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</a:t>
            </a:r>
            <a:r>
              <a:rPr lang="en-US" alt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тврдог</a:t>
            </a:r>
            <a:r>
              <a:rPr lang="en-US" alt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повеза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хоризонталног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формата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А4</a:t>
            </a:r>
            <a:r>
              <a:rPr lang="sr-Cyrl-R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altLang="en-US" sz="19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Char char=""/>
              <a:defRPr/>
            </a:pPr>
            <a:r>
              <a:rPr lang="sr-Cyrl-RS" altLang="en-US" sz="19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</a:t>
            </a:r>
            <a:r>
              <a:rPr lang="en-US" alt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 </a:t>
            </a:r>
            <a:r>
              <a:rPr lang="en-US" altLang="en-US" sz="19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корицама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архивске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књиге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одштампан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је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назив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Aрхивска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књига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простор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у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који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се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уписује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назив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ствараоца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имаоца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место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и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распон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бројева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у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књизи</a:t>
            </a:r>
            <a:r>
              <a:rPr lang="sr-Cyrl-R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altLang="en-US" sz="19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Char char=""/>
              <a:defRPr/>
            </a:pPr>
            <a:r>
              <a:rPr lang="sr-Cyrl-RS" altLang="en-US" sz="19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en-US" altLang="en-US" sz="19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транице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књиге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осим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првог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последњег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листа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нумерисане</a:t>
            </a:r>
            <a:r>
              <a:rPr lang="en-US" alt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</a:t>
            </a:r>
            <a:r>
              <a:rPr lang="sr-Cyrl-RS" altLang="en-US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altLang="en-US" sz="19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15000"/>
              </a:lnSpc>
              <a:spcBef>
                <a:spcPct val="0"/>
              </a:spcBef>
              <a:buFont typeface="Courier New" panose="02070309020205020404" pitchFamily="49" charset="0"/>
              <a:buChar char="o"/>
              <a:defRPr/>
            </a:pPr>
            <a:r>
              <a:rPr lang="sr-Cyrl-RS" altLang="en-US" sz="19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електронском</a:t>
            </a:r>
            <a:r>
              <a:rPr lang="sr-Cyrl-RS" altLang="en-US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US" altLang="en-US" sz="19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20C7C7-E727-1702-FED7-FD3578C45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63789E-8E02-4495-992F-6DB74CE112BA}" type="slidenum">
              <a:rPr lang="sr-Latn-CS" altLang="en-US" smtClean="0"/>
              <a:pPr>
                <a:defRPr/>
              </a:pPr>
              <a:t>24</a:t>
            </a:fld>
            <a:endParaRPr lang="sr-Latn-CS" alt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82A421D-3804-2649-22F9-04D92462FDC2}"/>
              </a:ext>
            </a:extLst>
          </p:cNvPr>
          <p:cNvSpPr/>
          <p:nvPr/>
        </p:nvSpPr>
        <p:spPr>
          <a:xfrm>
            <a:off x="1331640" y="1510428"/>
            <a:ext cx="607669" cy="13194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918360"/>
      </p:ext>
    </p:extLst>
  </p:cSld>
  <p:clrMapOvr>
    <a:masterClrMapping/>
  </p:clrMapOvr>
  <p:timing>
    <p:tnLst>
      <p:par>
        <p:cTn id="1" dur="indefinite" restart="never" nodeType="tmRoot"/>
      </p:par>
    </p:tnLst>
    <p:bldLst>
      <p:bldP spid="4" grpId="0" build="p"/>
      <p:bldP spid="4" grpI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9CAEE-A771-8ECC-F0F6-0DD65D248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32656"/>
            <a:ext cx="7886700" cy="4807256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5000"/>
              </a:lnSpc>
              <a:spcBef>
                <a:spcPct val="0"/>
              </a:spcBef>
              <a:buFont typeface="Symbol" panose="05050102010706020507" pitchFamily="18" charset="2"/>
              <a:buChar char=""/>
              <a:defRPr/>
            </a:pP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ВОДИ СЕ НА ОБРАСЦУ </a:t>
            </a:r>
            <a:r>
              <a:rPr lang="sr-Cyrl-R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„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АК</a:t>
            </a:r>
            <a:r>
              <a:rPr lang="sr-Cyrl-R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“, </a:t>
            </a:r>
            <a:r>
              <a:rPr lang="sr-Cyrl-RS" alt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који има 11 рубрика, </a:t>
            </a:r>
            <a:r>
              <a:rPr lang="sr-Cyrl-R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од тога </a:t>
            </a:r>
            <a:r>
              <a:rPr lang="sr-Cyrl-RS" altLang="en-US" sz="1800" b="1" u="sng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две рубрике</a:t>
            </a:r>
            <a:r>
              <a:rPr lang="sr-Cyrl-R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lvl="1">
              <a:defRPr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рубрика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Количина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документарног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материјала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уписује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укупан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број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јединица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фасцикла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кутија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регистратор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истоврсног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документарног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односно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код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електронског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документарног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материјала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електронске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архивске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грађе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уписује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формат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меморијски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капацитет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сваки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унос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посебно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lvl="1">
              <a:defRPr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рубрика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Просторије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полице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уређаји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складиштење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локацијом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уписује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податак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којој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просторији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полици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ормару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је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смештен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документарни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као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све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промене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вези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смештајем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односно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код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електронског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документарног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материјала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уписује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врста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уређаја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складиштење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података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локацијом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налази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sr-Cyrl-RS" altLang="en-US" sz="1800" b="1" dirty="0">
              <a:solidFill>
                <a:srgbClr val="0000FF"/>
              </a:solidFill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Bef>
                <a:spcPct val="0"/>
              </a:spcBef>
              <a:buFont typeface="Symbol" panose="05050102010706020507" pitchFamily="18" charset="2"/>
              <a:buChar char=""/>
              <a:defRPr/>
            </a:pPr>
            <a:r>
              <a:rPr lang="sr-Cyrl-R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У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ПИС</a:t>
            </a: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архивске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грађе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и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документарног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материјала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у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архивску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књигу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врши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се</a:t>
            </a: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хронолошки</a:t>
            </a:r>
            <a:r>
              <a:rPr lang="sr-Cyrl-R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:</a:t>
            </a:r>
            <a:endParaRPr lang="en-US" altLang="en-US" sz="1800" dirty="0">
              <a:solidFill>
                <a:srgbClr val="FF0000"/>
              </a:solidFill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 lvl="1">
              <a:lnSpc>
                <a:spcPct val="115000"/>
              </a:lnSpc>
              <a:spcBef>
                <a:spcPct val="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по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годинама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и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класификационим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ознакама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, </a:t>
            </a:r>
            <a:endParaRPr lang="en-US" altLang="en-US" sz="1800" dirty="0"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 lvl="1">
              <a:lnSpc>
                <a:spcPct val="115000"/>
              </a:lnSpc>
              <a:spcBef>
                <a:spcPct val="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по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називу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категорија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документарног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материјала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према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важећој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sr-Cyrl-R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sr-Cyrl-R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усвојеној, односно одобреној од стране надлежног јавног архива</a:t>
            </a:r>
            <a:r>
              <a:rPr lang="sr-Cyrl-R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altLang="en-US" sz="1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Листи</a:t>
            </a:r>
            <a:r>
              <a:rPr lang="en-US" altLang="en-US" sz="1800" b="1" i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категорија</a:t>
            </a:r>
            <a:r>
              <a:rPr lang="en-US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архивске</a:t>
            </a:r>
            <a:r>
              <a:rPr lang="en-US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грађе</a:t>
            </a:r>
            <a:r>
              <a:rPr lang="en-US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и </a:t>
            </a:r>
            <a:r>
              <a:rPr lang="en-US" altLang="en-US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документарног</a:t>
            </a:r>
            <a:r>
              <a:rPr lang="en-US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материјала</a:t>
            </a:r>
            <a:r>
              <a:rPr lang="en-US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са</a:t>
            </a:r>
            <a:r>
              <a:rPr lang="en-US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роковима</a:t>
            </a:r>
            <a:r>
              <a:rPr lang="en-US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чувања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57426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0A6D9-5F25-38AF-236E-7B08E8198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76672"/>
            <a:ext cx="7886700" cy="41455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 dirty="0"/>
              <a:t>Образац архивске књиге садржи следеће рубрике:</a:t>
            </a:r>
          </a:p>
          <a:p>
            <a:r>
              <a:rPr lang="ru-RU" sz="1600" dirty="0"/>
              <a:t>1) прва рубрика </a:t>
            </a:r>
            <a:r>
              <a:rPr lang="ru-RU" sz="1600" b="1" dirty="0"/>
              <a:t>"Редни број</a:t>
            </a:r>
            <a:r>
              <a:rPr lang="ru-RU" sz="1600" dirty="0"/>
              <a:t>" - у ову рубрику уписују се од броја један надаље бројеви документарног материјала исте врсте (исте класификационе ознаке) насталог током једне године, без обзира на број јединица. Редни бројеви се настављају у књизи континуирано из године у годину. Документарне јединице обележавају се редним бројем под којим се материјал одређене врсте води у архивској књизи;</a:t>
            </a:r>
          </a:p>
          <a:p>
            <a:r>
              <a:rPr lang="ru-RU" sz="1600" dirty="0"/>
              <a:t>2) друга рубрика </a:t>
            </a:r>
            <a:r>
              <a:rPr lang="ru-RU" sz="1600" b="1" dirty="0"/>
              <a:t>"Датум уписа" </a:t>
            </a:r>
            <a:r>
              <a:rPr lang="ru-RU" sz="1600" dirty="0"/>
              <a:t>- уписује се дан, месец и година уписа документарног материјала. Документарни материјал из претходне године уписује се у архивску књигу најкасније до краја априла наредне године;</a:t>
            </a:r>
          </a:p>
          <a:p>
            <a:r>
              <a:rPr lang="ru-RU" sz="1600" dirty="0"/>
              <a:t>3) трећа рубрика </a:t>
            </a:r>
            <a:r>
              <a:rPr lang="ru-RU" sz="1600" b="1" dirty="0"/>
              <a:t>"Година настанка" </a:t>
            </a:r>
            <a:r>
              <a:rPr lang="ru-RU" sz="1600" dirty="0"/>
              <a:t>- уписује се година, односно раздобље у којем је документарни материјал настао. За документарни материјал који обухвата податке из више година, уписује се почетна и завршна година, односно распон година (на пример: матична књига за период 1960-1964);</a:t>
            </a:r>
          </a:p>
          <a:p>
            <a:r>
              <a:rPr lang="ru-RU" sz="1600" dirty="0"/>
              <a:t>4) четврта рубрика </a:t>
            </a:r>
            <a:r>
              <a:rPr lang="ru-RU" sz="1600" b="1" dirty="0"/>
              <a:t>"Садржај" </a:t>
            </a:r>
            <a:r>
              <a:rPr lang="ru-RU" sz="1600" dirty="0"/>
              <a:t>- уписује се кратка садржина документарног материјала;</a:t>
            </a:r>
          </a:p>
          <a:p>
            <a:r>
              <a:rPr lang="ru-RU" sz="1600" dirty="0"/>
              <a:t>5) пета рубрика </a:t>
            </a:r>
            <a:r>
              <a:rPr lang="ru-RU" sz="1600" b="1" dirty="0"/>
              <a:t>"Класификациона ознака" </a:t>
            </a:r>
            <a:r>
              <a:rPr lang="ru-RU" sz="1600" dirty="0"/>
              <a:t>- уписује се класификациона ознака документарног материјала;</a:t>
            </a:r>
          </a:p>
          <a:p>
            <a:r>
              <a:rPr lang="ru-RU" sz="1600" dirty="0"/>
              <a:t>6) шеста рубрика </a:t>
            </a:r>
            <a:r>
              <a:rPr lang="ru-RU" sz="1600" b="1" dirty="0"/>
              <a:t>"Рок чувања из Листе категорија" </a:t>
            </a:r>
            <a:r>
              <a:rPr lang="ru-RU" sz="1600" dirty="0"/>
              <a:t>- уписује се рок чувања документарног материјала из усвојене Листе категорија;</a:t>
            </a:r>
          </a:p>
          <a:p>
            <a:r>
              <a:rPr lang="ru-RU" sz="1600" dirty="0"/>
              <a:t>7) седма рубрика </a:t>
            </a:r>
            <a:r>
              <a:rPr lang="ru-RU" sz="1600" b="1" dirty="0"/>
              <a:t>"Број сагласности на Листу категорија" </a:t>
            </a:r>
            <a:r>
              <a:rPr lang="ru-RU" sz="1600" dirty="0"/>
              <a:t>- уписује се број сагласности надлежног архива на усвојену Листу категорија;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85E282F9-E90A-7863-2D37-F9E391EE9D4C}"/>
              </a:ext>
            </a:extLst>
          </p:cNvPr>
          <p:cNvSpPr/>
          <p:nvPr/>
        </p:nvSpPr>
        <p:spPr>
          <a:xfrm>
            <a:off x="7890706" y="6453336"/>
            <a:ext cx="792088" cy="340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4833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0A6D9-5F25-38AF-236E-7B08E8198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332656"/>
            <a:ext cx="7886700" cy="32635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 dirty="0"/>
              <a:t>Образац архивске књиге садржи следеће рубрике:</a:t>
            </a:r>
          </a:p>
          <a:p>
            <a:r>
              <a:rPr lang="ru-RU" sz="1600" dirty="0"/>
              <a:t>8) осма рубрика </a:t>
            </a:r>
            <a:r>
              <a:rPr lang="ru-RU" sz="1600" b="1" dirty="0"/>
              <a:t>"Количина документарног материјала" </a:t>
            </a:r>
            <a:r>
              <a:rPr lang="ru-RU" sz="1600" dirty="0"/>
              <a:t>- уписује се укупан број јединица (фасцикла, кутија, регистратор) истоврсног документарног материјала, односно код електронског документарног материјала и електронске архивске грађе уписује се формат и меморијски капацитет за сваки унос посебно;</a:t>
            </a:r>
          </a:p>
          <a:p>
            <a:endParaRPr lang="ru-RU" sz="1600" dirty="0"/>
          </a:p>
          <a:p>
            <a:r>
              <a:rPr lang="ru-RU" sz="1600" dirty="0"/>
              <a:t>9) девета рубрика </a:t>
            </a:r>
            <a:r>
              <a:rPr lang="ru-RU" sz="1600" b="1" dirty="0"/>
              <a:t>"Просторије и полице/уређаји за складиштење са локацијом" </a:t>
            </a:r>
            <a:r>
              <a:rPr lang="ru-RU" sz="1600" dirty="0"/>
              <a:t>- уписује се податак у којој просторији, полици и ормару је смештен документарни материјал, као и све промене у вези са смештајем, односно код електронског документарног материјала уписује се врста уређаја за складиштење података са локацијом где се налази;</a:t>
            </a:r>
          </a:p>
          <a:p>
            <a:endParaRPr lang="ru-RU" sz="1600" dirty="0"/>
          </a:p>
          <a:p>
            <a:r>
              <a:rPr lang="ru-RU" sz="1600" dirty="0"/>
              <a:t>10) десета рубрика "Број и датум записника" - уписује се број и датум давања сагласности од стране надлежног архива за издвајање ради уништења документарног материјала којем је истекао рок чувања;</a:t>
            </a:r>
          </a:p>
          <a:p>
            <a:endParaRPr lang="ru-RU" sz="1600" dirty="0"/>
          </a:p>
          <a:p>
            <a:r>
              <a:rPr lang="ru-RU" sz="1600" dirty="0"/>
              <a:t>11) једанаеста рубрика </a:t>
            </a:r>
            <a:r>
              <a:rPr lang="ru-RU" sz="1600" b="1" dirty="0"/>
              <a:t>"Примедба" </a:t>
            </a:r>
            <a:r>
              <a:rPr lang="ru-RU" sz="1600" dirty="0"/>
              <a:t>- уписују се подаци у вези са издвајањем или предајом архивске грађе надлежном јавном архиву, односно додатне информације од значаја за претрагу и приступ подацима.</a:t>
            </a:r>
            <a:endParaRPr lang="en-GB" sz="1600" dirty="0"/>
          </a:p>
          <a:p>
            <a:pPr marL="0" indent="0">
              <a:buNone/>
            </a:pPr>
            <a:endParaRPr lang="ru-RU" sz="1350" b="1" dirty="0"/>
          </a:p>
        </p:txBody>
      </p:sp>
    </p:spTree>
    <p:extLst>
      <p:ext uri="{BB962C8B-B14F-4D97-AF65-F5344CB8AC3E}">
        <p14:creationId xmlns:p14="http://schemas.microsoft.com/office/powerpoint/2010/main" val="2291294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C16042-C5E1-BCF0-36D8-88D461D0AB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20" y="476672"/>
            <a:ext cx="8568952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3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F2C8F-6683-568A-BDD7-F2C486B4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839B83-10D4-48A9-8C58-C1A515CF47F4}" type="slidenum">
              <a:rPr lang="sr-Latn-CS" altLang="en-US" smtClean="0"/>
              <a:pPr>
                <a:defRPr/>
              </a:pPr>
              <a:t>29</a:t>
            </a:fld>
            <a:endParaRPr lang="sr-Latn-C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E9D1D-B71D-0A58-06EB-DD8F58621A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331640" y="908720"/>
            <a:ext cx="6696075" cy="4429125"/>
          </a:xfrm>
        </p:spPr>
        <p:txBody>
          <a:bodyPr/>
          <a:lstStyle/>
          <a:p>
            <a:pPr marL="0" indent="0" algn="ctr">
              <a:buNone/>
            </a:pPr>
            <a:r>
              <a:rPr lang="sr-Cyrl-RS" altLang="en-US" sz="20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Важна напомена за унос података у Архивску књигу (АК</a:t>
            </a:r>
            <a:r>
              <a:rPr lang="sr-Cyrl-RS" altLang="en-US" sz="2000" b="1" dirty="0" smtClean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r-Cyrl-RS" altLang="en-US" b="1" dirty="0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sr-Cyrl-RS" altLang="en-US" b="1" dirty="0" smtClean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 податке који се налазе у електронском формату</a:t>
            </a:r>
            <a:endParaRPr lang="sr-Latn-RS" altLang="en-US" sz="2000" b="1" dirty="0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sr-Cyrl-R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sr-Latn-R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sr-Latn-R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рубрику 9 архивске књиге </a:t>
            </a:r>
            <a:r>
              <a:rPr lang="sr-Cyrl-R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Просторије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полице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уређаји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складиштење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локацијом</a:t>
            </a:r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sr-Cyrl-R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sr-Latn-R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уносе </a:t>
            </a:r>
            <a:r>
              <a:rPr lang="sr-Cyrl-R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 </a:t>
            </a:r>
            <a:r>
              <a:rPr lang="sr-Latn-R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подаци на основу којих се може закључити</a:t>
            </a:r>
            <a:r>
              <a:rPr lang="sr-Cyrl-R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где се налази односно чува одређени документарни материјал:</a:t>
            </a:r>
          </a:p>
          <a:p>
            <a:pPr lvl="1"/>
            <a:r>
              <a:rPr lang="sr-Cyrl-R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(папирни) </a:t>
            </a:r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en-US" altLang="en-US" sz="1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којој</a:t>
            </a:r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просторији</a:t>
            </a:r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полици</a:t>
            </a:r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ормару</a:t>
            </a:r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је</a:t>
            </a:r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смештен</a:t>
            </a:r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као</a:t>
            </a:r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све</a:t>
            </a:r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промене</a:t>
            </a:r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altLang="en-US" sz="1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вези</a:t>
            </a:r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смештајем</a:t>
            </a:r>
            <a:r>
              <a:rPr lang="sr-Latn-R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endParaRPr lang="sr-Cyrl-RS" altLang="en-US" sz="1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sr-Cyrl-R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(електронски) </a:t>
            </a:r>
            <a:r>
              <a:rPr lang="sr-Latn-R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конкретну врсту уређаја и податке који су релевантни у том смислу (</a:t>
            </a:r>
            <a:r>
              <a:rPr lang="sr-Latn-R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cloud, сервер, десктоп, рачунар</a:t>
            </a:r>
            <a:r>
              <a:rPr lang="sr-Latn-R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...)</a:t>
            </a:r>
            <a:endParaRPr lang="en-US" altLang="en-US" sz="18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863388"/>
      </p:ext>
    </p:extLst>
  </p:cSld>
  <p:clrMapOvr>
    <a:masterClrMapping/>
  </p:clrMapOvr>
  <p:timing>
    <p:tnLst>
      <p:par>
        <p:cTn id="1" dur="indefinite" restart="never" nodeType="tmRoot"/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D9DA6-F193-0E30-6043-DB3DF89D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BD199-7BF0-464A-B704-BADE0A66F90B}" type="slidenum">
              <a:rPr lang="sr-Latn-CS" altLang="en-US" smtClean="0"/>
              <a:pPr>
                <a:defRPr/>
              </a:pPr>
              <a:t>30</a:t>
            </a:fld>
            <a:endParaRPr lang="sr-Latn-CS" altLang="en-US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B5FF0EED-19CC-DA98-FEDB-209C2AF8470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2794" y="908720"/>
            <a:ext cx="6858000" cy="3833813"/>
          </a:xfrm>
        </p:spPr>
        <p:txBody>
          <a:bodyPr/>
          <a:lstStyle/>
          <a:p>
            <a:pPr marL="0" indent="0" algn="ctr">
              <a:buNone/>
            </a:pPr>
            <a:r>
              <a:rPr lang="sr-Cyrl-RS" altLang="en-US" b="1" i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Уредба </a:t>
            </a:r>
            <a:r>
              <a:rPr lang="en-GB" altLang="en-US" b="1" i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 </a:t>
            </a:r>
            <a:r>
              <a:rPr lang="en-GB" altLang="en-US" b="1" i="1" dirty="0" err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јединственим</a:t>
            </a:r>
            <a:r>
              <a:rPr lang="en-GB" altLang="en-US" b="1" i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b="1" i="1" dirty="0" err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техничко-технолошким</a:t>
            </a:r>
            <a:r>
              <a:rPr lang="en-GB" altLang="en-US" b="1" i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b="1" i="1" dirty="0" err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захтевима</a:t>
            </a:r>
            <a:r>
              <a:rPr lang="en-GB" altLang="en-US" b="1" i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GB" altLang="en-US" b="1" i="1" dirty="0" err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процедурама</a:t>
            </a:r>
            <a:r>
              <a:rPr lang="en-GB" altLang="en-US" b="1" i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b="1" i="1" dirty="0" err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GB" altLang="en-US" b="1" i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b="1" i="1" dirty="0" err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r>
              <a:rPr lang="en-GB" altLang="en-US" b="1" i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GB" altLang="en-US" b="1" i="1" dirty="0" err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заштиту</a:t>
            </a:r>
            <a:r>
              <a:rPr lang="en-GB" altLang="en-US" b="1" i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b="1" i="1" dirty="0" err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архивске</a:t>
            </a:r>
            <a:r>
              <a:rPr lang="en-GB" altLang="en-US" b="1" i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b="1" i="1" dirty="0" err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грађе</a:t>
            </a:r>
            <a:r>
              <a:rPr lang="en-GB" altLang="en-US" b="1" i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GB" altLang="en-US" b="1" i="1" dirty="0" err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документарног</a:t>
            </a:r>
            <a:r>
              <a:rPr lang="en-GB" altLang="en-US" b="1" i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b="1" i="1" dirty="0" err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материјала</a:t>
            </a:r>
            <a:r>
              <a:rPr lang="en-GB" altLang="en-US" b="1" i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GB" altLang="en-US" b="1" i="1" dirty="0" err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електронском</a:t>
            </a:r>
            <a:r>
              <a:rPr lang="en-GB" altLang="en-US" b="1" i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b="1" i="1" dirty="0" err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облику</a:t>
            </a:r>
            <a:r>
              <a:rPr lang="en-GB" altLang="en-US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sr-Cyrl-RS" altLang="en-US" b="1" dirty="0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GB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(„</a:t>
            </a:r>
            <a:r>
              <a:rPr lang="en-GB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</a:t>
            </a: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гласник</a:t>
            </a:r>
            <a:r>
              <a:rPr lang="en-GB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РС”, </a:t>
            </a:r>
            <a:r>
              <a:rPr lang="en-GB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</a:t>
            </a: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107/21, </a:t>
            </a:r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94/22</a:t>
            </a: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116/23</a:t>
            </a:r>
            <a:r>
              <a:rPr lang="en-GB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r-Cyrl-R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Првобитно је ступила на снагу 20. новембра 2021. </a:t>
            </a: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године</a:t>
            </a:r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онда је одложена примена од 1. јануара 2024. </a:t>
            </a: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године</a:t>
            </a:r>
          </a:p>
          <a:p>
            <a:pPr marL="0" indent="0" algn="ctr">
              <a:buNone/>
            </a:pPr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DB66A3-7184-73A0-8B04-E91280BF6A37}"/>
              </a:ext>
            </a:extLst>
          </p:cNvPr>
          <p:cNvSpPr txBox="1"/>
          <p:nvPr/>
        </p:nvSpPr>
        <p:spPr>
          <a:xfrm>
            <a:off x="683568" y="3159532"/>
            <a:ext cx="73448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sr-Cyrl-R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r-Cyrl-RS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члан 1.</a:t>
            </a:r>
            <a:r>
              <a:rPr lang="sr-Cyrl-R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Овом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уредбом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уређују</a:t>
            </a:r>
            <a:r>
              <a:rPr 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се</a:t>
            </a:r>
            <a:r>
              <a:rPr 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јединствени</a:t>
            </a:r>
            <a:r>
              <a:rPr 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техничко-технолошки</a:t>
            </a:r>
            <a:r>
              <a:rPr 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захтеви</a:t>
            </a:r>
            <a:r>
              <a:rPr 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процедуре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које</a:t>
            </a:r>
            <a:r>
              <a:rPr 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треба</a:t>
            </a:r>
            <a:r>
              <a:rPr 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</a:t>
            </a:r>
            <a:r>
              <a:rPr 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испуне</a:t>
            </a:r>
            <a:r>
              <a:rPr 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ствараоци</a:t>
            </a:r>
            <a:r>
              <a:rPr 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имаоци</a:t>
            </a:r>
            <a:r>
              <a:rPr lang="en-US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архивске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грађе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документарног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материјала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</a:t>
            </a:r>
            <a:r>
              <a:rPr 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чувању</a:t>
            </a:r>
            <a:r>
              <a:rPr 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заштити</a:t>
            </a:r>
            <a:r>
              <a:rPr 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архивске</a:t>
            </a:r>
            <a:r>
              <a:rPr 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грађе</a:t>
            </a:r>
            <a:r>
              <a:rPr 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документарног</a:t>
            </a:r>
            <a:r>
              <a:rPr 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материјала</a:t>
            </a:r>
            <a:r>
              <a:rPr 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у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електронском</a:t>
            </a:r>
            <a:r>
              <a:rPr 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облику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trike="sngStrike" kern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en-US" strike="sngStrike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даљем</a:t>
            </a:r>
            <a:r>
              <a:rPr lang="en-US" strike="sngStrike" kern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trike="sngStrike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тексту</a:t>
            </a:r>
            <a:r>
              <a:rPr lang="en-US" strike="sngStrike" kern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trike="sngStrike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електронско</a:t>
            </a:r>
            <a:r>
              <a:rPr lang="en-US" strike="sngStrike" kern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trike="sngStrike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архивирање</a:t>
            </a:r>
            <a:r>
              <a:rPr lang="en-US" kern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955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D768-C665-24D0-687B-65FD6AEF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696" y="347024"/>
            <a:ext cx="5084322" cy="72649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sr-Cyrl-RS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Промењен је </a:t>
            </a:r>
            <a:r>
              <a:rPr lang="sr-Cyrl-RS" sz="1600" b="1" u="sng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назив и члан 2</a:t>
            </a:r>
            <a:r>
              <a:rPr lang="sr-Cyrl-RS" sz="16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Уредбе, који је раније гласио </a:t>
            </a:r>
            <a:r>
              <a:rPr lang="en-US" sz="1600" strike="sngStrike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Сходна</a:t>
            </a:r>
            <a:r>
              <a:rPr lang="en-US" sz="1600" strike="sngStrike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trike="sngStrike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примена</a:t>
            </a:r>
            <a:r>
              <a:rPr lang="en-US" sz="1600" strike="sngStrike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trike="sngStrike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прописа</a:t>
            </a:r>
            <a:r>
              <a:rPr lang="en-US" sz="1600" strike="sngStrike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 </a:t>
            </a:r>
            <a:r>
              <a:rPr lang="en-US" sz="1600" strike="sngStrike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електронском</a:t>
            </a:r>
            <a:r>
              <a:rPr lang="en-US" sz="1600" strike="sngStrike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trike="sngStrike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чувању</a:t>
            </a:r>
            <a:r>
              <a:rPr lang="en-US" sz="1600" strike="sngStrike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r-Cyrl-ME" sz="1600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</a:t>
            </a:r>
            <a:r>
              <a:rPr lang="sr-Cyrl-RS" sz="1600" b="1" i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ување</a:t>
            </a:r>
            <a:r>
              <a:rPr lang="sr-Cyrl-RS" sz="1600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електронског документа</a:t>
            </a:r>
            <a:endParaRPr 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A27280E-486F-4962-563F-AA1E8FA09C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3773047"/>
              </p:ext>
            </p:extLst>
          </p:nvPr>
        </p:nvGraphicFramePr>
        <p:xfrm>
          <a:off x="611560" y="980728"/>
          <a:ext cx="8064896" cy="5346854"/>
        </p:xfrm>
        <a:graphic>
          <a:graphicData uri="http://schemas.openxmlformats.org/drawingml/2006/table">
            <a:tbl>
              <a:tblPr firstRow="1" firstCol="1" bandRow="1"/>
              <a:tblGrid>
                <a:gridCol w="4031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5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sr-Cyrl-RS" sz="1100" b="1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НОВИ</a:t>
                      </a:r>
                      <a:r>
                        <a:rPr lang="sr-Cyrl-R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члан 2.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986" marR="439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sr-Cyrl-R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Стари члан 2.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986" marR="439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9380">
                <a:tc>
                  <a:txBody>
                    <a:bodyPr/>
                    <a:lstStyle/>
                    <a:p>
                      <a:pPr indent="44958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Ствараоци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имаоци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документарног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материјала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sr-Cyrl-R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који се трајно чува</a:t>
                      </a:r>
                      <a:r>
                        <a:rPr lang="sr-Cyrl-RS" sz="1400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електронском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облику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дужни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су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sr-Cyrl-R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до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предаје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надлежном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архиву</a:t>
                      </a:r>
                      <a:r>
                        <a:rPr lang="sr-Cyrl-R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sr-Cyrl-R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осигурају његово</a:t>
                      </a:r>
                      <a:r>
                        <a:rPr lang="sr-Cyrl-RS" sz="1400" b="1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sr-Cyrl-R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поуздано електронско чување</a:t>
                      </a:r>
                      <a:r>
                        <a:rPr lang="sr-Cyrl-RS" sz="1400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складу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са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прописом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којим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се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уређују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услови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за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припрему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документа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за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поуздано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електронско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чување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форматима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документа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који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су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погодни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за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дуготрајно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чување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indent="44958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sr-Cyrl-R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Поуздано електронско чување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документарног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материјала</a:t>
                      </a:r>
                      <a:r>
                        <a:rPr lang="sr-Cyrl-R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који се трајно чува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електронском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облику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sr-Cyrl-R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који су ствараоци предали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државном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органу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организацији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органу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територијалне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аутономије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јединици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локалне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самоуправе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установи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јавном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предузећу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имаoц</a:t>
                      </a:r>
                      <a:r>
                        <a:rPr lang="sr-Cyrl-R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јавних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овлашћења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sr-Cyrl-R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(у даљем тексту: органи), осигурава се преко тог органа као имаоца.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indent="44958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sr-Cyrl-R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Ствараоци и имаоци документарног материјала у електронском облику који нема трајни рок чувања, дужни су да осигурају његов интегритет,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аутентичност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веродостојност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целовитост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употребљивост</a:t>
                      </a:r>
                      <a:r>
                        <a:rPr lang="en-U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sr-Cyrl-RS" sz="14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квалификованим електронским потписом, односно квалификованим електронским печатом. ˮ.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986" marR="439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sr-Cyrl-R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Ствараоци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имаоци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документарног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материјала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електронском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облику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дужни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су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trike="sngStrike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електронско</a:t>
                      </a:r>
                      <a:r>
                        <a:rPr lang="en-US" sz="1400" strike="sngStrike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trike="sngStrike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архивирање</a:t>
                      </a:r>
                      <a:r>
                        <a:rPr lang="en-US" sz="14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до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предаје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trike="sngStrike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архивске</a:t>
                      </a:r>
                      <a:r>
                        <a:rPr lang="en-US" sz="1400" strike="sngStrike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trike="sngStrike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грађе</a:t>
                      </a:r>
                      <a:r>
                        <a:rPr lang="en-US" sz="14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надлежном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архиву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strike="sngStrike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врше</a:t>
                      </a:r>
                      <a:r>
                        <a:rPr lang="en-US" sz="1400" strike="sngStrike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 </a:t>
                      </a:r>
                      <a:r>
                        <a:rPr lang="en-US" sz="14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складу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са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прописом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којим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се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уређују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услови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за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припрему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документа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за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поуздано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електронско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чување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форматима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документа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који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су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погодни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за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дуготрајно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чување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sr-Cyrl-RS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986" marR="439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BB1ED-1F7D-2F81-96D0-6463DA6BB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535F64-07A3-4DA3-841F-5F897E19654C}" type="slidenum">
              <a:rPr lang="sr-Latn-CS" altLang="en-US" smtClean="0"/>
              <a:pPr>
                <a:defRPr/>
              </a:pPr>
              <a:t>31</a:t>
            </a:fld>
            <a:endParaRPr lang="sr-Latn-CS" altLang="en-US"/>
          </a:p>
        </p:txBody>
      </p:sp>
    </p:spTree>
    <p:extLst>
      <p:ext uri="{BB962C8B-B14F-4D97-AF65-F5344CB8AC3E}">
        <p14:creationId xmlns:p14="http://schemas.microsoft.com/office/powerpoint/2010/main" val="410030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B516007A-52E1-98D0-87C7-3B3112AF0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2" y="332656"/>
            <a:ext cx="5076825" cy="548879"/>
          </a:xfrm>
        </p:spPr>
        <p:txBody>
          <a:bodyPr/>
          <a:lstStyle/>
          <a:p>
            <a:r>
              <a:rPr lang="sr-Cyrl-RS" altLang="en-US" sz="1500" b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Промењен је </a:t>
            </a:r>
            <a:r>
              <a:rPr lang="sr-Cyrl-RS" altLang="en-US" sz="1500" b="1" u="sng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назив и члан 3</a:t>
            </a:r>
            <a:r>
              <a:rPr lang="sr-Cyrl-RS" altLang="en-US" sz="1500" b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. Уредбе</a:t>
            </a:r>
            <a:endParaRPr lang="en-US" altLang="en-US" sz="15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8000B8A-A3BE-96A0-AB78-D58813CC54DA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621904" y="1412776"/>
          <a:ext cx="8064896" cy="4692005"/>
        </p:xfrm>
        <a:graphic>
          <a:graphicData uri="http://schemas.openxmlformats.org/drawingml/2006/table">
            <a:tbl>
              <a:tblPr firstRow="1" firstCol="1" bandRow="1"/>
              <a:tblGrid>
                <a:gridCol w="4032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875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sr-Cyrl-R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НОВИ</a:t>
                      </a:r>
                      <a:r>
                        <a:rPr lang="sr-Cyrl-RS" sz="14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назив и члан 3. Уредбе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sr-Cyrl-RS" sz="14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Стари назив и члан 3. Уредбе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208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Коришћење</a:t>
                      </a:r>
                      <a:r>
                        <a:rPr lang="en-US" sz="1400" b="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софтверског</a:t>
                      </a:r>
                      <a:r>
                        <a:rPr lang="en-US" sz="1400" b="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решења</a:t>
                      </a:r>
                      <a:r>
                        <a:rPr lang="en-US" sz="14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еАрхив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Коришћење</a:t>
                      </a: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софтверског</a:t>
                      </a: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решења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за</a:t>
                      </a:r>
                      <a:r>
                        <a:rPr lang="en-US" sz="1400" b="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електронско</a:t>
                      </a:r>
                      <a:r>
                        <a:rPr lang="en-US" sz="1400" b="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архивирање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8437">
                <a:tc>
                  <a:txBody>
                    <a:bodyPr/>
                    <a:lstStyle/>
                    <a:p>
                      <a:pPr indent="457200"/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Органи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као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ствараоци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имаоци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врше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поуздано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електронско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чување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софтверском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решењу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еАрхив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(у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даљем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тексту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еАрхив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који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је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део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архивског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информационог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система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457200"/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еАрхив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Војног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архива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није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део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информационог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система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архива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већ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функционише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независно</a:t>
                      </a: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/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Ствараоци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имаоци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врше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електронско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архивирање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софтверском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решењу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информационом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систему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за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поуздано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електронско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чување</a:t>
                      </a:r>
                      <a:r>
                        <a:rPr lang="en-US" sz="140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endParaRPr lang="en-US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457200"/>
                      <a:r>
                        <a:rPr lang="en-US" sz="140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Државни</a:t>
                      </a:r>
                      <a:r>
                        <a:rPr lang="en-US" sz="140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органи</a:t>
                      </a:r>
                      <a:r>
                        <a:rPr lang="en-US" sz="140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организације</a:t>
                      </a:r>
                      <a:r>
                        <a:rPr lang="en-US" sz="140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органи</a:t>
                      </a:r>
                      <a:r>
                        <a:rPr lang="en-US" sz="140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територијалне</a:t>
                      </a:r>
                      <a:r>
                        <a:rPr lang="en-US" sz="140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аутономије</a:t>
                      </a:r>
                      <a:r>
                        <a:rPr lang="en-US" sz="140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јединица</a:t>
                      </a:r>
                      <a:r>
                        <a:rPr lang="en-US" sz="140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локалне</a:t>
                      </a:r>
                      <a:r>
                        <a:rPr lang="en-US" sz="140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самоуправе</a:t>
                      </a:r>
                      <a:r>
                        <a:rPr lang="en-US" sz="140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установе</a:t>
                      </a:r>
                      <a:r>
                        <a:rPr lang="en-US" sz="140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имаоци</a:t>
                      </a:r>
                      <a:r>
                        <a:rPr lang="en-US" sz="140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јавних</a:t>
                      </a:r>
                      <a:r>
                        <a:rPr lang="en-US" sz="140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овлашћења</a:t>
                      </a:r>
                      <a:r>
                        <a:rPr lang="en-US" sz="140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(у </a:t>
                      </a:r>
                      <a:r>
                        <a:rPr lang="en-US" sz="140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даљем</a:t>
                      </a:r>
                      <a:r>
                        <a:rPr lang="en-US" sz="140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тексту</a:t>
                      </a:r>
                      <a:r>
                        <a:rPr lang="en-US" sz="140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органи</a:t>
                      </a:r>
                      <a:r>
                        <a:rPr lang="en-US" sz="1400" strike="sngStrike" dirty="0"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400" strike="sng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као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ствараоци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имаоци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врше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електронско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архивирање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софтверском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решењу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еАрхив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(у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даљем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тексту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еАрхив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који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је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део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архивског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информационог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система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indent="457200"/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еАрхив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Војног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архива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није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део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информационог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система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архива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већ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функционише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независно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indent="457200"/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Ствараоци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имаоци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су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дужни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приступ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документарном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материјалу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који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се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трајно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чува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омогуће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надлежном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јавном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архиву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кроз</a:t>
                      </a:r>
                      <a:r>
                        <a:rPr lang="en-US" sz="14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strike="sng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еАрхив</a:t>
                      </a:r>
                      <a:r>
                        <a:rPr lang="en-US" sz="140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5643C-9AA3-6B4B-CE51-8EDD88E01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CE9652-6A1C-4B6F-95AC-4AA5433B0E14}" type="slidenum">
              <a:rPr lang="sr-Latn-CS" altLang="en-US" smtClean="0"/>
              <a:pPr>
                <a:defRPr/>
              </a:pPr>
              <a:t>32</a:t>
            </a:fld>
            <a:endParaRPr lang="sr-Latn-CS" altLang="en-US"/>
          </a:p>
        </p:txBody>
      </p:sp>
    </p:spTree>
    <p:extLst>
      <p:ext uri="{BB962C8B-B14F-4D97-AF65-F5344CB8AC3E}">
        <p14:creationId xmlns:p14="http://schemas.microsoft.com/office/powerpoint/2010/main" val="53814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A0263-924C-248D-5A41-9F11E1223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404664"/>
            <a:ext cx="7848872" cy="5023445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  <a:buFont typeface="Symbol" panose="05050102010706020507" pitchFamily="18" charset="2"/>
              <a:buChar char=""/>
              <a:tabLst>
                <a:tab pos="342900" algn="l"/>
              </a:tabLst>
              <a:defRPr/>
            </a:pPr>
            <a:r>
              <a:rPr lang="sr-Cyrl-R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државн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организациј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територијалне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аутономије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јединиц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локалне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самоуправе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јавн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предузећ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имаoц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јавних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овлашћења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sr-Cyrl-RS" altLang="en-US" sz="1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поуздано електронско чување</a:t>
            </a:r>
            <a:r>
              <a:rPr lang="sr-Cyrl-RS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документарног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материјала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КОЈИ СЕ ТРАЈНО ЧУВА 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електронском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облику</a:t>
            </a:r>
            <a:r>
              <a:rPr lang="en-US" altLang="en-US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врше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  <a:buFont typeface="Courier New" panose="02070309020205020404" pitchFamily="49" charset="0"/>
              <a:buChar char="o"/>
              <a:tabLst>
                <a:tab pos="342900" algn="l"/>
              </a:tabLst>
              <a:defRPr/>
            </a:pP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софтверском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решењу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еАрхив</a:t>
            </a:r>
            <a:endParaRPr lang="en-US" alt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Symbol" panose="05050102010706020507" pitchFamily="18" charset="2"/>
              <a:buChar char=""/>
              <a:tabLst>
                <a:tab pos="342900" algn="l"/>
              </a:tabLst>
              <a:defRPr/>
            </a:pPr>
            <a:r>
              <a:rPr lang="sr-Cyrl-R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ТВАРАОЦИ И ИМАОЦИ</a:t>
            </a:r>
            <a:r>
              <a:rPr lang="sr-Cyrl-R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r-Cyrl-RS" alt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документарног материјала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  <a:buFont typeface="Courier New" panose="02070309020205020404" pitchFamily="49" charset="0"/>
              <a:buChar char="o"/>
              <a:tabLst>
                <a:tab pos="342900" algn="l"/>
              </a:tabLst>
              <a:defRPr/>
            </a:pPr>
            <a:r>
              <a:rPr lang="sr-Cyrl-RS" altLang="en-US" sz="1600" b="1" dirty="0">
                <a:latin typeface="Times New Roman" panose="02020603050405020304" pitchFamily="18" charset="0"/>
                <a:cs typeface="Calibri" panose="020F0502020204030204" pitchFamily="34" charset="0"/>
              </a:rPr>
              <a:t>КОЈИ СЕ ТРАЈНО ЧУВА </a:t>
            </a:r>
            <a:r>
              <a:rPr lang="en-US" altLang="en-US" sz="1600" b="1" dirty="0">
                <a:latin typeface="Times New Roman" panose="02020603050405020304" pitchFamily="18" charset="0"/>
                <a:cs typeface="Calibri" panose="020F0502020204030204" pitchFamily="34" charset="0"/>
              </a:rPr>
              <a:t>у </a:t>
            </a:r>
            <a:r>
              <a:rPr lang="en-US" altLang="en-US" sz="1600" b="1" dirty="0" err="1">
                <a:latin typeface="Times New Roman" panose="02020603050405020304" pitchFamily="18" charset="0"/>
                <a:cs typeface="Calibri" panose="020F0502020204030204" pitchFamily="34" charset="0"/>
              </a:rPr>
              <a:t>електронском</a:t>
            </a:r>
            <a:r>
              <a:rPr lang="en-US" altLang="en-US" sz="1600" b="1" dirty="0"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Calibri" panose="020F0502020204030204" pitchFamily="34" charset="0"/>
              </a:rPr>
              <a:t>облику</a:t>
            </a:r>
            <a:r>
              <a:rPr lang="en-US" altLang="en-US" sz="1600" dirty="0"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sr-Cyrl-RS" altLang="en-US" sz="1600" b="1" dirty="0">
                <a:latin typeface="Times New Roman" panose="02020603050405020304" pitchFamily="18" charset="0"/>
                <a:cs typeface="Calibri" panose="020F0502020204030204" pitchFamily="34" charset="0"/>
              </a:rPr>
              <a:t>– дужни су да осигурају његово </a:t>
            </a:r>
            <a:r>
              <a:rPr lang="sr-Cyrl-RS" altLang="en-US" sz="1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Calibri" panose="020F0502020204030204" pitchFamily="34" charset="0"/>
              </a:rPr>
              <a:t>поуздано електронско чување</a:t>
            </a:r>
            <a:r>
              <a:rPr lang="sr-Cyrl-R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у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складу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са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пропис</a:t>
            </a:r>
            <a:r>
              <a:rPr lang="sr-Cyrl-R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има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којим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уређују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услови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припрему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поуздано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форматима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који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погодни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дуготрајно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sr-Cyrl-R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тј.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Font typeface="Symbol" panose="05050102010706020507" pitchFamily="18" charset="2"/>
              <a:buChar char=""/>
              <a:tabLst>
                <a:tab pos="342900" algn="l"/>
              </a:tabLst>
              <a:defRPr/>
            </a:pPr>
            <a:r>
              <a:rPr lang="en-US" altLang="en-US" sz="1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Закон</a:t>
            </a:r>
            <a:r>
              <a:rPr lang="sr-Cyrl-RS" altLang="en-US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ом</a:t>
            </a:r>
            <a:r>
              <a:rPr lang="sr-Cyrl-RS" altLang="en-US" sz="1600" i="1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о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електронском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документу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електронској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идентификацији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и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услугама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од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поверења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у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електронском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пословању</a:t>
            </a:r>
            <a:r>
              <a:rPr lang="sr-Cyrl-R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Font typeface="Symbol" panose="05050102010706020507" pitchFamily="18" charset="2"/>
              <a:buChar char=""/>
              <a:tabLst>
                <a:tab pos="342900" algn="l"/>
              </a:tabLst>
              <a:defRPr/>
            </a:pPr>
            <a:r>
              <a:rPr lang="en-US" altLang="en-US" sz="1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Уредб</a:t>
            </a:r>
            <a:r>
              <a:rPr lang="sr-Cyrl-RS" altLang="en-US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</a:t>
            </a:r>
            <a:r>
              <a:rPr lang="sr-Cyrl-RS" altLang="en-US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условима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припрему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поуздано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форматима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који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погодни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дуготрајно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</a:t>
            </a:r>
            <a:r>
              <a:rPr lang="sr-Cyrl-R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вање</a:t>
            </a:r>
            <a:r>
              <a:rPr lang="sr-Cyrl-R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Font typeface="Symbol" panose="05050102010706020507" pitchFamily="18" charset="2"/>
              <a:buChar char=""/>
              <a:tabLst>
                <a:tab pos="342900" algn="l"/>
              </a:tabLst>
              <a:defRPr/>
            </a:pPr>
            <a:r>
              <a:rPr lang="en-US" altLang="en-US" sz="1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Правилник</a:t>
            </a:r>
            <a:r>
              <a:rPr lang="sr-Cyrl-RS" altLang="en-US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</a:t>
            </a:r>
            <a:r>
              <a:rPr lang="sr-Cyrl-RS" altLang="en-US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условима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поступке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технолошка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решења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који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користе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током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поузданог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електронског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чувања</a:t>
            </a:r>
            <a:r>
              <a:rPr lang="en-US" alt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  <a:buFont typeface="Courier New" panose="02070309020205020404" pitchFamily="49" charset="0"/>
              <a:buChar char="o"/>
              <a:tabLst>
                <a:tab pos="342900" algn="l"/>
              </a:tabLst>
              <a:defRPr/>
            </a:pPr>
            <a:r>
              <a:rPr lang="sr-Cyrl-R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КОЈИ НЕМА ТРАЈНИ РОК ЧУВАЊА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r-Cyrl-R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дужни су да осигурају његов </a:t>
            </a:r>
            <a:r>
              <a:rPr lang="sr-Cyrl-RS" altLang="en-US" sz="1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интегритет, </a:t>
            </a:r>
            <a:r>
              <a:rPr lang="en-US" altLang="en-US" sz="16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аутентичност</a:t>
            </a:r>
            <a:r>
              <a:rPr lang="en-US" altLang="en-US" sz="1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веродостојност</a:t>
            </a:r>
            <a:r>
              <a:rPr lang="en-US" altLang="en-US" sz="1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целовитост</a:t>
            </a:r>
            <a:r>
              <a:rPr lang="en-US" altLang="en-US" sz="1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употребљивост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Bef>
                <a:spcPct val="0"/>
              </a:spcBef>
              <a:buFont typeface="Symbol" panose="05050102010706020507" pitchFamily="18" charset="2"/>
              <a:buChar char=""/>
              <a:tabLst>
                <a:tab pos="342900" algn="l"/>
              </a:tabLst>
              <a:defRPr/>
            </a:pPr>
            <a:r>
              <a:rPr lang="sr-Cyrl-RS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квалификованим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електронским </a:t>
            </a:r>
            <a:r>
              <a:rPr lang="sr-Cyrl-RS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потписом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, односно </a:t>
            </a:r>
            <a:endParaRPr lang="en-US" altLang="en-US" sz="1600" dirty="0">
              <a:solidFill>
                <a:srgbClr val="000000"/>
              </a:solidFill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 lvl="2">
              <a:spcBef>
                <a:spcPct val="0"/>
              </a:spcBef>
              <a:buFont typeface="Symbol" panose="05050102010706020507" pitchFamily="18" charset="2"/>
              <a:buChar char=""/>
              <a:tabLst>
                <a:tab pos="342900" algn="l"/>
              </a:tabLst>
              <a:defRPr/>
            </a:pPr>
            <a:r>
              <a:rPr lang="sr-Cyrl-RS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квалификованим</a:t>
            </a:r>
            <a:r>
              <a:rPr lang="sr-Cyrl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електронским </a:t>
            </a:r>
            <a:r>
              <a:rPr lang="sr-Cyrl-RS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печатом</a:t>
            </a:r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r-Cyrl-R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али</a:t>
            </a:r>
          </a:p>
          <a:p>
            <a:pPr lvl="3">
              <a:spcBef>
                <a:spcPct val="0"/>
              </a:spcBef>
              <a:buFont typeface="Symbol" panose="05050102010706020507" pitchFamily="18" charset="2"/>
              <a:buChar char=""/>
              <a:tabLst>
                <a:tab pos="342900" algn="l"/>
              </a:tabLst>
              <a:defRPr/>
            </a:pP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постоји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обавеза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додавања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квалификованог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временског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жига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електронски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599994"/>
      </p:ext>
    </p:extLst>
  </p:cSld>
  <p:clrMapOvr>
    <a:masterClrMapping/>
  </p:clrMapOvr>
  <p:timing>
    <p:tnLst>
      <p:par>
        <p:cTn id="1" dur="indefinite" restart="never" nodeType="tmRoot"/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FCF06B4D-A472-1E8A-1324-A8CED784A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036" y="332656"/>
            <a:ext cx="7992888" cy="1060259"/>
          </a:xfrm>
        </p:spPr>
        <p:txBody>
          <a:bodyPr>
            <a:noAutofit/>
          </a:bodyPr>
          <a:lstStyle/>
          <a:p>
            <a:r>
              <a:rPr lang="sr-Cyrl-RS" alt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sr-Cyrl-RS" alt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r-Cyrl-R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sr-Cyrl-R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r-Cyrl-RS" altLang="en-US" sz="1800" b="1" dirty="0" smtClean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ПОУЗДАНО </a:t>
            </a:r>
            <a:r>
              <a:rPr lang="sr-Cyrl-RS" altLang="en-US" sz="18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 ЧУВАЊЕ ДОКУМЕНАТА </a:t>
            </a:r>
            <a:r>
              <a:rPr lang="sr-Cyrl-RS" altLang="en-US" sz="1800" b="1" dirty="0" smtClean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sr-Cyrl-RS" altLang="en-US" sz="1800" b="1" dirty="0" smtClean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r-Cyrl-R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sr-Cyrl-R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r-Cyrl-RS" altLang="en-US" sz="1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Закон о електронском документу, електронској идентификацији и услугама од поверења у електронском </a:t>
            </a:r>
            <a:r>
              <a:rPr lang="sr-Cyrl-RS" altLang="en-US" sz="18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пословању</a:t>
            </a:r>
            <a:r>
              <a:rPr lang="sr-Cyrl-RS" altLang="en-US" sz="16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sr-Cyrl-RS" altLang="en-US" sz="16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16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A4DBB6A6-BDA3-C563-4217-B79942BE0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84784"/>
            <a:ext cx="8208912" cy="4824536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endParaRPr lang="sr-Cyrl-RS" altLang="en-US" sz="12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en-US" sz="1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Припрема</a:t>
            </a:r>
            <a:r>
              <a:rPr lang="en-US" alt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докумената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поуздано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Члан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61</a:t>
            </a:r>
            <a:r>
              <a:rPr lang="sr-Latn-R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r-Latn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Припрема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поуздано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мора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r-Latn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обезбеди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сви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битни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елементи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садржаја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изворног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буду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верно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пренети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припремљен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узимајући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обзир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природу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сврху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тј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очуван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је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интегритет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садржаја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r-Latn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обезбеди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је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очувана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употребљивост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садржаја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изворног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r-Latn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обезбеди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укључени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сви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елементи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садржаја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изворног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који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значаја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аутентичност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r-Latn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altLang="en-US" sz="1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обезбеди</a:t>
            </a:r>
            <a:r>
              <a:rPr lang="en-US" altLang="en-US" sz="1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потврду</a:t>
            </a:r>
            <a:r>
              <a:rPr lang="en-US" altLang="en-US" sz="1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верности</a:t>
            </a:r>
            <a:r>
              <a:rPr lang="en-US" altLang="en-US" sz="1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изворног</a:t>
            </a:r>
            <a:r>
              <a:rPr lang="en-US" altLang="en-US" sz="1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</a:t>
            </a:r>
            <a:r>
              <a:rPr lang="en-US" altLang="en-US" sz="1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тачност</a:t>
            </a:r>
            <a:r>
              <a:rPr lang="en-US" altLang="en-US" sz="1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додатно</a:t>
            </a:r>
            <a:r>
              <a:rPr lang="en-US" altLang="en-US" sz="1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укључених</a:t>
            </a:r>
            <a:r>
              <a:rPr lang="en-US" altLang="en-US" sz="1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података</a:t>
            </a:r>
            <a:r>
              <a:rPr lang="en-US" altLang="en-US" sz="1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квалификованим</a:t>
            </a:r>
            <a:r>
              <a:rPr lang="en-US" altLang="en-US" sz="1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електронским</a:t>
            </a:r>
            <a:r>
              <a:rPr lang="en-US" altLang="en-US" sz="1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печатом</a:t>
            </a:r>
            <a:r>
              <a:rPr lang="en-US" altLang="en-US" sz="1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lang="en-US" altLang="en-US" sz="1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потписом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en-US" altLang="en-US" sz="1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придруженим</a:t>
            </a:r>
            <a:r>
              <a:rPr lang="en-US" altLang="en-US" sz="1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временским</a:t>
            </a:r>
            <a:r>
              <a:rPr lang="en-US" altLang="en-US" sz="1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жигом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r-Latn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обезбеди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спровођење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контроле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тачности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квалитета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конверзије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као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отклањање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грешака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насталих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поступку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конверзије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r-Latn-RS" alt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8020862" y="6463878"/>
            <a:ext cx="876123" cy="3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22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FCF06B4D-A472-1E8A-1324-A8CED784A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194" y="260648"/>
            <a:ext cx="7992888" cy="1224136"/>
          </a:xfrm>
        </p:spPr>
        <p:txBody>
          <a:bodyPr>
            <a:noAutofit/>
          </a:bodyPr>
          <a:lstStyle/>
          <a:p>
            <a:r>
              <a:rPr lang="sr-Cyrl-RS" alt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sr-Cyrl-RS" alt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r-Cyrl-R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sr-Cyrl-R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r-Cyrl-RS" altLang="en-US" sz="1600" b="1" dirty="0" smtClean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ПОУЗДАНО </a:t>
            </a:r>
            <a:r>
              <a:rPr lang="sr-Cyrl-RS" altLang="en-US" sz="16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 ЧУВАЊЕ ДОКУМЕНАТА </a:t>
            </a:r>
            <a:r>
              <a:rPr lang="sr-Cyrl-RS" altLang="en-US" sz="1600" b="1" dirty="0" smtClean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sr-Cyrl-RS" altLang="en-US" sz="1600" b="1" dirty="0" smtClean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r-Cyrl-R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sr-Cyrl-R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r-Cyrl-RS" altLang="en-US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Закон о електронском документу, електронској идентификацији и услугама од поверења у електронском </a:t>
            </a:r>
            <a:r>
              <a:rPr lang="sr-Cyrl-RS" altLang="en-US" sz="16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пословању</a:t>
            </a:r>
            <a:br>
              <a:rPr lang="sr-Cyrl-RS" altLang="en-US" sz="16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16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A4DBB6A6-BDA3-C563-4217-B79942BE0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484784"/>
            <a:ext cx="8208912" cy="482453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обезбеди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допуне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садржаја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унете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забележбе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подаци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предузетим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радњама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чувају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одвојено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изворних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докумената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обезбеди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предузетим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радњама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поступку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припреме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води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уредна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евиденција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r-Cyrl-RS" altLang="en-US" sz="16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r-Latn-R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Ако</a:t>
            </a:r>
            <a:r>
              <a:rPr lang="en-US" altLang="en-US" sz="1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је</a:t>
            </a:r>
            <a:r>
              <a:rPr lang="en-US" altLang="en-US" sz="1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прописани</a:t>
            </a:r>
            <a:r>
              <a:rPr lang="en-US" altLang="en-US" sz="1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рок</a:t>
            </a:r>
            <a:r>
              <a:rPr lang="en-US" altLang="en-US" sz="1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r>
              <a:rPr lang="en-US" altLang="en-US" sz="1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</a:t>
            </a:r>
            <a:r>
              <a:rPr lang="en-US" altLang="en-US" sz="1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дужи</a:t>
            </a:r>
            <a:r>
              <a:rPr lang="en-US" altLang="en-US" sz="1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</a:t>
            </a:r>
            <a:r>
              <a:rPr lang="en-US" altLang="en-US" sz="1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пет</a:t>
            </a:r>
            <a:r>
              <a:rPr lang="en-US" altLang="en-US" sz="1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година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припремљен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треба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буде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формату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који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је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погодан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дугорочно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r-Latn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sr-Cyrl-RS" altLang="en-US" sz="12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304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FCF06B4D-A472-1E8A-1324-A8CED784A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527213"/>
            <a:ext cx="5023247" cy="573881"/>
          </a:xfrm>
        </p:spPr>
        <p:txBody>
          <a:bodyPr>
            <a:normAutofit fontScale="90000"/>
          </a:bodyPr>
          <a:lstStyle/>
          <a:p>
            <a:r>
              <a:rPr lang="sr-Cyrl-RS" altLang="en-US" sz="1600" b="1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ПОУЗДАНО ЕЛЕКТРОНСКО ЧУВАЊЕ ДОКУМЕНАТА </a:t>
            </a:r>
            <a:br>
              <a:rPr lang="sr-Cyrl-RS" altLang="en-US" sz="1600" b="1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r-Cyrl-RS" altLang="en-US" sz="1600" i="1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Закон о електронском документу, електронској идентификацији и услугама од поверења у електронском пословању</a:t>
            </a:r>
            <a:endParaRPr lang="en-US" altLang="en-US" sz="1600" i="1" dirty="0">
              <a:solidFill>
                <a:schemeClr val="accent1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A4DBB6A6-BDA3-C563-4217-B79942BE0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484784"/>
            <a:ext cx="8352928" cy="4846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r-Latn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Поуздано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Члан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62</a:t>
            </a:r>
            <a:r>
              <a:rPr lang="sr-Latn-R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sr-Latn-R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Поуздано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докумената</a:t>
            </a:r>
            <a:r>
              <a:rPr lang="en-US" altLang="en-US" sz="1600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који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изворном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облику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садрже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квалификовани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електронски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потпис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односно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печат</a:t>
            </a:r>
            <a:r>
              <a:rPr lang="en-US" altLang="en-US" sz="1600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као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потврду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интегритета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порекла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тих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докумената</a:t>
            </a:r>
            <a:r>
              <a:rPr lang="en-US" altLang="en-US" sz="1600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врши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тако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током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чувања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користе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поступци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технолошка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решења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којима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обезбеђује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могућност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доказивања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валидности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квалификованог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електронског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потписа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односно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печата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током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целог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периода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чувања</a:t>
            </a:r>
            <a:r>
              <a:rPr lang="en-US" altLang="en-US" sz="1600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sr-Latn-R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Поуздано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докумената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припремљених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складу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чланом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61</a:t>
            </a:r>
            <a:r>
              <a:rPr lang="en-US" altLang="en-US" sz="1600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1600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овог</a:t>
            </a:r>
            <a:r>
              <a:rPr lang="en-US" altLang="en-US" sz="1600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закона</a:t>
            </a:r>
            <a:r>
              <a:rPr lang="en-US" altLang="en-US" sz="1600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којима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је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квалификованим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електронским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потписом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односно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печатом</a:t>
            </a:r>
            <a:r>
              <a:rPr lang="en-US" altLang="en-US" sz="1600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 smtClean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потврђена</a:t>
            </a:r>
            <a:r>
              <a:rPr lang="en-US" altLang="en-US" sz="1600" b="1" dirty="0" smtClean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верност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изворном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документу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тачност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додатно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укључених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података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врши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тако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током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чувања</a:t>
            </a:r>
            <a:r>
              <a:rPr lang="en-US" altLang="en-US" sz="1600" b="1" u="sng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користе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поступци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технолошка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решења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којима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600" b="1" dirty="0">
                <a:solidFill>
                  <a:srgbClr val="422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обезбеђује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могућност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доказивања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валидности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квалификованог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електронског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потписа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односно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печата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током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целог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периода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чувања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sr-Latn-R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40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666BC-A593-0024-A396-C58BAB05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6841" y="540493"/>
            <a:ext cx="6030318" cy="1061616"/>
          </a:xfrm>
        </p:spPr>
        <p:txBody>
          <a:bodyPr/>
          <a:lstStyle/>
          <a:p>
            <a:pPr>
              <a:defRPr/>
            </a:pPr>
            <a:r>
              <a:rPr lang="sr-Cyrl-RS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ПОСТУПЦИ КОЈИМА СЕ ОБЕЗБЕЂУЈЕ ПОУЗДАНО ЧУВАЊЕ/АРХИВИРАЊЕ ЕЛЕКТРОНСКОГ ДОКУМЕНТА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7F99-608D-B9B3-46E1-7CD6D96D2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700808"/>
            <a:ext cx="8424935" cy="4616699"/>
          </a:xfrm>
        </p:spPr>
        <p:txBody>
          <a:bodyPr/>
          <a:lstStyle/>
          <a:p>
            <a:pPr>
              <a:lnSpc>
                <a:spcPct val="115000"/>
              </a:lnSpc>
              <a:spcBef>
                <a:spcPct val="0"/>
              </a:spcBef>
              <a:buFont typeface="Calibri" panose="020F0502020204030204" pitchFamily="34" charset="0"/>
              <a:buChar char="-"/>
            </a:pPr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Врши се „п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рипрем</a:t>
            </a:r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а“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</a:t>
            </a:r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поуздано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сходно одредбама члана 61. </a:t>
            </a:r>
            <a:r>
              <a:rPr lang="sr-Cyrl-RS" altLang="en-US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Закона о електронском документу, електронској идентификацији и услугама од поверења у електронском пословању</a:t>
            </a:r>
            <a:endParaRPr lang="en-US" alt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ct val="0"/>
              </a:spcBef>
              <a:buFont typeface="Calibri" panose="020F0502020204030204" pitchFamily="34" charset="0"/>
              <a:buChar char="-"/>
            </a:pPr>
            <a:r>
              <a:rPr lang="sr-Cyrl-RS" alt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Документу се „придружује“  </a:t>
            </a:r>
            <a:r>
              <a:rPr lang="en-US" altLang="en-US" sz="16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квалификовани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електронски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потпис</a:t>
            </a:r>
            <a:r>
              <a:rPr lang="sr-Cyrl-R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или квалификовани електронски </a:t>
            </a:r>
            <a:r>
              <a:rPr lang="en-US" altLang="en-US" sz="16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печат</a:t>
            </a:r>
            <a:r>
              <a:rPr lang="en-US" altLang="en-US" sz="1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лица</a:t>
            </a:r>
            <a:r>
              <a:rPr lang="en-US" altLang="en-US" sz="1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овлашћеног</a:t>
            </a:r>
            <a:r>
              <a:rPr lang="en-US" altLang="en-US" sz="1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припрему</a:t>
            </a:r>
            <a:r>
              <a:rPr lang="en-US" altLang="en-US" sz="1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докумената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ct val="0"/>
              </a:spcBef>
              <a:buFont typeface="Calibri" panose="020F0502020204030204" pitchFamily="34" charset="0"/>
              <a:buChar char="-"/>
            </a:pPr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Документу се „придружује“  временски жиг, односно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врши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поступак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надоградње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квалификованог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електронског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потписа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односно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печата</a:t>
            </a: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сходно члану 5.  </a:t>
            </a:r>
            <a:r>
              <a:rPr lang="sr-Cyrl-RS" altLang="en-US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Правилника о условима за поступке и технолошка решења који се користе током поузданог електронског чувања документа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ct val="0"/>
              </a:spcBef>
              <a:buFont typeface="Calibri" panose="020F0502020204030204" pitchFamily="34" charset="0"/>
              <a:buChar char="-"/>
            </a:pPr>
            <a:r>
              <a:rPr lang="sr-Cyrl-RS" altLang="en-US" sz="1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Врши се „</a:t>
            </a:r>
            <a:r>
              <a:rPr lang="en-US" altLang="en-US" sz="16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валидациј</a:t>
            </a:r>
            <a:r>
              <a:rPr lang="sr-Cyrl-RS" altLang="en-US" sz="1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а“ </a:t>
            </a:r>
            <a:r>
              <a:rPr lang="en-US" altLang="en-US" sz="16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квалификованог</a:t>
            </a:r>
            <a:r>
              <a:rPr lang="en-US" altLang="en-US" sz="1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електронског</a:t>
            </a:r>
            <a:r>
              <a:rPr lang="en-US" altLang="en-US" sz="1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потписа</a:t>
            </a:r>
            <a:r>
              <a:rPr lang="en-US" altLang="en-US" sz="1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односно</a:t>
            </a:r>
            <a:r>
              <a:rPr lang="en-US" altLang="en-US" sz="1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печата</a:t>
            </a:r>
            <a:r>
              <a:rPr lang="sr-Cyrl-R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(путем линка за валидацији или директно преко софтвера који се користи), сходно одредбама </a:t>
            </a:r>
            <a:r>
              <a:rPr lang="sr-Cyrl-RS" altLang="en-US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Правилника о валидацији квалификованог електронског потписа и квалификованог електронског печата </a:t>
            </a:r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треба благовремено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ct val="0"/>
              </a:spcBef>
              <a:buFont typeface="Calibri" panose="020F0502020204030204" pitchFamily="34" charset="0"/>
              <a:buChar char="-"/>
            </a:pPr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Проверити „важење“ временског жига</a:t>
            </a: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јер он има ограничен рок трајања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E3325-79FB-5732-0DA6-43084B7A1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3F4214-3446-4853-A1B8-677BE832B724}" type="slidenum">
              <a:rPr lang="sr-Latn-CS" altLang="en-US" smtClean="0"/>
              <a:pPr>
                <a:defRPr/>
              </a:pPr>
              <a:t>37</a:t>
            </a:fld>
            <a:endParaRPr lang="sr-Latn-CS" altLang="en-US"/>
          </a:p>
        </p:txBody>
      </p:sp>
    </p:spTree>
    <p:extLst>
      <p:ext uri="{BB962C8B-B14F-4D97-AF65-F5344CB8AC3E}">
        <p14:creationId xmlns:p14="http://schemas.microsoft.com/office/powerpoint/2010/main" val="2948190817"/>
      </p:ext>
    </p:extLst>
  </p:cSld>
  <p:clrMapOvr>
    <a:masterClrMapping/>
  </p:clrMapOvr>
  <p:timing>
    <p:tnLst>
      <p:par>
        <p:cTn id="1" dur="indefinite" restart="never" nodeType="tmRoot"/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718E02B6-A9C5-E306-3C4A-D90C4C3BA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011383"/>
            <a:ext cx="6768751" cy="735806"/>
          </a:xfrm>
        </p:spPr>
        <p:txBody>
          <a:bodyPr>
            <a:normAutofit/>
          </a:bodyPr>
          <a:lstStyle/>
          <a:p>
            <a:r>
              <a:rPr lang="sr-Cyrl-RS" altLang="en-US" sz="1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Како </a:t>
            </a:r>
            <a:r>
              <a:rPr lang="sr-Cyrl-R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субјекти приватног сектора (ствараоци и имаоци) врше поуздано електронско чување/архивирање </a:t>
            </a:r>
            <a:endParaRPr lang="en-US" alt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0215B-CA0D-CC1F-5118-477CB240A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2132856"/>
            <a:ext cx="8280919" cy="3867895"/>
          </a:xfrm>
        </p:spPr>
        <p:txBody>
          <a:bodyPr/>
          <a:lstStyle/>
          <a:p>
            <a:r>
              <a:rPr lang="sr-Cyrl-R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Могу самостално </a:t>
            </a:r>
            <a:r>
              <a:rPr lang="sr-Cyrl-R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 врше </a:t>
            </a:r>
            <a:r>
              <a:rPr lang="sr-Cyrl-R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поуздано</a:t>
            </a:r>
            <a:r>
              <a:rPr lang="sr-Cyrl-R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електронско чување/архивирање докумената 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поступци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технолошка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решења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којима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обезбеђује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могућност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доказивања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валидности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квалификованог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електронског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потписа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односно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печата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током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целог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периода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чувања</a:t>
            </a:r>
            <a:r>
              <a:rPr lang="sr-Cyrl-R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lang="sr-Cyrl-R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начин који је прописан чланом 62. </a:t>
            </a:r>
            <a:r>
              <a:rPr lang="sr-Cyrl-R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Закона о електронском документу, електронској идентификацији и услугама од поверења у електронском пословању</a:t>
            </a:r>
          </a:p>
          <a:p>
            <a:r>
              <a:rPr lang="sr-Cyrl-R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Могу да користе услуге/софтвер </a:t>
            </a:r>
            <a:r>
              <a:rPr lang="sr-Cyrl-R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квалификованог електронског чувања докумената (пружалац услуге квалификованог електронског чувања докумената ) - </a:t>
            </a:r>
            <a:r>
              <a:rPr lang="sr-Cyrl-R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начин који је прописан чланом 63. </a:t>
            </a:r>
            <a:r>
              <a:rPr lang="sr-Cyrl-R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Закона о електронском документу, електронској идентификацији и услугама од поверења у електронском пословању</a:t>
            </a:r>
          </a:p>
        </p:txBody>
      </p:sp>
    </p:spTree>
    <p:extLst>
      <p:ext uri="{BB962C8B-B14F-4D97-AF65-F5344CB8AC3E}">
        <p14:creationId xmlns:p14="http://schemas.microsoft.com/office/powerpoint/2010/main" val="1479029451"/>
      </p:ext>
    </p:extLst>
  </p:cSld>
  <p:clrMapOvr>
    <a:masterClrMapping/>
  </p:clrMapOvr>
  <p:timing>
    <p:tnLst>
      <p:par>
        <p:cTn id="1" dur="indefinite" restart="never" nodeType="tmRoot"/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4">
            <a:extLst>
              <a:ext uri="{FF2B5EF4-FFF2-40B4-BE49-F238E27FC236}">
                <a16:creationId xmlns:a16="http://schemas.microsoft.com/office/drawing/2014/main" id="{DB052C3E-9133-1387-813E-F0566B70C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664" y="869373"/>
            <a:ext cx="6534726" cy="608411"/>
          </a:xfrm>
        </p:spPr>
        <p:txBody>
          <a:bodyPr>
            <a:normAutofit/>
          </a:bodyPr>
          <a:lstStyle/>
          <a:p>
            <a:r>
              <a:rPr lang="sr-Cyrl-R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Одобравање</a:t>
            </a:r>
            <a:r>
              <a:rPr lang="sr-Cyrl-RS" altLang="en-US" sz="1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</a:t>
            </a:r>
            <a:r>
              <a:rPr lang="sr-Latn-RS" altLang="en-US" sz="1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</a:t>
            </a:r>
            <a:r>
              <a:rPr lang="sr-Cyrl-RS" altLang="en-US" sz="1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sr-Latn-RS" altLang="en-US" sz="1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altLang="en-US" sz="1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категорија архивске грађе и документарног материјала са роковима чувања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4FD59-107E-D0F9-9754-041933A1F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0156" y="1899046"/>
            <a:ext cx="6643688" cy="4082654"/>
          </a:xfrm>
        </p:spPr>
        <p:txBody>
          <a:bodyPr>
            <a:normAutofit/>
          </a:bodyPr>
          <a:lstStyle/>
          <a:p>
            <a:r>
              <a:rPr lang="sr-Latn-RS" alt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СТВАРАЛАЦ И ИМАЛАЦ</a:t>
            </a:r>
            <a:r>
              <a:rPr lang="sr-Latn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доноси </a:t>
            </a:r>
            <a:r>
              <a:rPr lang="sr-Cyrl-RS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  <a:r>
              <a:rPr lang="sr-Latn-RS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исту </a:t>
            </a:r>
            <a:r>
              <a:rPr lang="sr-Latn-RS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категорија архивске грађе и документарног материјала са роковима чувања</a:t>
            </a:r>
            <a:r>
              <a:rPr lang="sr-Latn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доставља је у електронском облику надлежном јавном архиву</a:t>
            </a:r>
            <a:r>
              <a:rPr lang="sr-Latn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sr-Latn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еАрхив путем Портала еУправа</a:t>
            </a:r>
            <a:r>
              <a:rPr lang="sr-Latn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у складу са прописима којима се уређује електронска управа</a:t>
            </a: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r-Latn-RS" alt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осим</a:t>
            </a:r>
            <a:r>
              <a:rPr lang="sr-Latn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ако је посебним законом другачије прописано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r-Latn-RS" alt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НАДЛЕЖНИ ЈАВНИ АРХИВ</a:t>
            </a:r>
            <a:r>
              <a:rPr lang="sr-Latn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</a:t>
            </a:r>
            <a:r>
              <a:rPr lang="sr-Latn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еАрхиву</a:t>
            </a:r>
            <a:r>
              <a:rPr lang="sr-Latn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проверава</a:t>
            </a:r>
            <a:r>
              <a:rPr lang="sr-Latn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  <a:r>
              <a:rPr lang="sr-Latn-RS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исту</a:t>
            </a:r>
            <a:r>
              <a:rPr lang="sr-Latn-RS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категорија архивске грађе и документарног материјала са роковима чувања</a:t>
            </a:r>
            <a:r>
              <a:rPr lang="sr-Latn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sr-Latn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даје сагласност</a:t>
            </a: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ако је она исправно сачињена </a:t>
            </a:r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sr-Latn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налаже меру за њено исправљање</a:t>
            </a: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sr-Latn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</a:t>
            </a:r>
            <a:r>
              <a:rPr lang="sr-Latn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надлежни јавни архив </a:t>
            </a:r>
            <a:r>
              <a:rPr lang="sr-Latn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утврди неправилност</a:t>
            </a:r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које </a:t>
            </a: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sr-Latn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тваралац и ималац</a:t>
            </a: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одлагања </a:t>
            </a:r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мора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исправити</a:t>
            </a:r>
            <a:r>
              <a:rPr lang="sr-Latn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endParaRPr lang="sr-Cyrl-R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GB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достав</a:t>
            </a:r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ити</a:t>
            </a:r>
            <a:r>
              <a:rPr lang="en-GB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GB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еАрхив</a:t>
            </a:r>
            <a:endParaRPr lang="en-US" altLang="en-US" sz="1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176177"/>
      </p:ext>
    </p:extLst>
  </p:cSld>
  <p:clrMapOvr>
    <a:masterClrMapping/>
  </p:clrMapOvr>
  <p:timing>
    <p:tnLst>
      <p:par>
        <p:cTn id="1" dur="indefinite" restart="never" nodeType="tmRoot"/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1D4D3-967E-D2AC-4E51-7F3FED91A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183" y="692696"/>
            <a:ext cx="6510153" cy="6275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1800" b="1" kern="100" dirty="0" err="1" smtClean="0">
                <a:solidFill>
                  <a:srgbClr val="00336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Дужности</a:t>
            </a:r>
            <a:r>
              <a:rPr lang="en-US" sz="1800" b="1" kern="100" dirty="0" smtClean="0">
                <a:solidFill>
                  <a:srgbClr val="00336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336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ствараоца</a:t>
            </a:r>
            <a:r>
              <a:rPr lang="en-US" sz="1800" b="1" kern="100" dirty="0">
                <a:solidFill>
                  <a:srgbClr val="00336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sz="1800" b="1" kern="100" dirty="0" err="1">
                <a:solidFill>
                  <a:srgbClr val="00336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имаоца</a:t>
            </a:r>
            <a:r>
              <a:rPr lang="en-US" sz="1800" b="1" kern="100" dirty="0">
                <a:solidFill>
                  <a:srgbClr val="00336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336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</a:t>
            </a:r>
            <a:r>
              <a:rPr lang="en-US" sz="1800" b="1" kern="100" dirty="0">
                <a:solidFill>
                  <a:srgbClr val="00336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336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предаје</a:t>
            </a:r>
            <a:r>
              <a:rPr lang="en-US" sz="1800" b="1" kern="100" dirty="0">
                <a:solidFill>
                  <a:srgbClr val="00336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336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надлежном</a:t>
            </a:r>
            <a:r>
              <a:rPr lang="en-US" sz="1800" b="1" kern="100" dirty="0">
                <a:solidFill>
                  <a:srgbClr val="00336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 smtClean="0">
                <a:solidFill>
                  <a:srgbClr val="00336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архиву</a:t>
            </a:r>
            <a:endParaRPr lang="en-US" sz="1800" b="1" dirty="0">
              <a:solidFill>
                <a:srgbClr val="003366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434147EE-DE0A-6D9A-79BD-9A6E0E90E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772816"/>
            <a:ext cx="7708999" cy="4688725"/>
          </a:xfrm>
        </p:spPr>
        <p:txBody>
          <a:bodyPr>
            <a:normAutofit fontScale="92500" lnSpcReduction="20000"/>
          </a:bodyPr>
          <a:lstStyle/>
          <a:p>
            <a:pPr indent="0">
              <a:buNone/>
            </a:pPr>
            <a:r>
              <a:rPr lang="sr-Cyrl-RS" altLang="en-US" sz="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Стваралац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ималац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документарног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који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трајно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дужан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је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indent="0">
              <a:buNone/>
            </a:pP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донесе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интерна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којима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ће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поступати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припреми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документарног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поуздано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примени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заштите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софтверског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решења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припреми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документарни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архивирање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складу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прописом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којим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уређује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поуздано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формати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који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погодни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дуготрајно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класификује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документарни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складу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листом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категорија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архивске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грађе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документарног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одреди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рок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чувања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sr-Cyrl-R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евидентира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податке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ствараоцу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софтверском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решењу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(5)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матични број, односно јединствени матични број грађана;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назив;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 седиште, односно пребивалиште;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 организациона јединица;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 овлашћено лице;</a:t>
            </a:r>
            <a:endParaRPr lang="sr-Cyrl-R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13B8237-3874-22AC-7F02-D7E11B277C22}"/>
              </a:ext>
            </a:extLst>
          </p:cNvPr>
          <p:cNvSpPr/>
          <p:nvPr/>
        </p:nvSpPr>
        <p:spPr>
          <a:xfrm>
            <a:off x="7960519" y="6461541"/>
            <a:ext cx="743640" cy="2880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67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434147EE-DE0A-6D9A-79BD-9A6E0E90E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332656"/>
            <a:ext cx="8280920" cy="6336704"/>
          </a:xfrm>
        </p:spPr>
        <p:txBody>
          <a:bodyPr>
            <a:normAutofit fontScale="70000" lnSpcReduction="20000"/>
          </a:bodyPr>
          <a:lstStyle/>
          <a:p>
            <a:pPr indent="0">
              <a:buNone/>
            </a:pPr>
            <a:r>
              <a:rPr lang="en-US" alt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одреди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метаподатке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документарном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материјалу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ru-RU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јединствена ознака документа;</a:t>
            </a:r>
          </a:p>
          <a:p>
            <a:pPr algn="l"/>
            <a:r>
              <a:rPr lang="ru-RU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број предмета;</a:t>
            </a:r>
          </a:p>
          <a:p>
            <a:pPr algn="l"/>
            <a:r>
              <a:rPr lang="ru-RU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 врста документа;</a:t>
            </a:r>
          </a:p>
          <a:p>
            <a:pPr algn="l"/>
            <a:r>
              <a:rPr lang="ru-RU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 опис;</a:t>
            </a:r>
          </a:p>
          <a:p>
            <a:pPr algn="l"/>
            <a:r>
              <a:rPr lang="ru-RU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 изворни облик, и то: папирни, односно електронски;</a:t>
            </a:r>
          </a:p>
          <a:p>
            <a:pPr algn="l"/>
            <a:r>
              <a:rPr lang="ru-RU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 формат у коме се документ чува;</a:t>
            </a:r>
          </a:p>
          <a:p>
            <a:pPr algn="l"/>
            <a:r>
              <a:rPr lang="ru-RU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(7) датум настанка, односно потписивања и/или печатирања;</a:t>
            </a:r>
          </a:p>
          <a:p>
            <a:pPr algn="l"/>
            <a:r>
              <a:rPr lang="ru-RU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(8) број квалификованог електронског сертификата;</a:t>
            </a:r>
          </a:p>
          <a:p>
            <a:pPr algn="l"/>
            <a:r>
              <a:rPr lang="ru-RU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(9) рок чувања;</a:t>
            </a:r>
          </a:p>
          <a:p>
            <a:pPr algn="l"/>
            <a:r>
              <a:rPr lang="ru-RU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(10) датум архивирања;</a:t>
            </a:r>
          </a:p>
          <a:p>
            <a:pPr algn="l"/>
            <a:r>
              <a:rPr lang="ru-RU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(11) датум придруживања квалификованог временског жига (датум потврђивања интегритета);</a:t>
            </a:r>
          </a:p>
          <a:p>
            <a:pPr algn="l"/>
            <a:r>
              <a:rPr lang="ru-RU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(12) рок за обнову интегритета документа;</a:t>
            </a:r>
          </a:p>
          <a:p>
            <a:pPr algn="l"/>
            <a:r>
              <a:rPr lang="ru-RU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(13) статус предмета, и то: формиран, у обради, прекинут, обустављен, одбачен, решен и архивиран;</a:t>
            </a:r>
          </a:p>
          <a:p>
            <a:pPr algn="l"/>
            <a:r>
              <a:rPr lang="ru-RU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(14) статус документа, и то: потписан односно печатиран, потписан и печатиран, надограђен/обновљен, уништен, предат јавном архиву;</a:t>
            </a:r>
          </a:p>
          <a:p>
            <a:pPr algn="l"/>
            <a:r>
              <a:rPr lang="ru-RU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(15) напомена;</a:t>
            </a:r>
          </a:p>
          <a:p>
            <a:pPr indent="0">
              <a:buNone/>
            </a:pPr>
            <a:endParaRPr lang="sr-Cyrl-R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alt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потврди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верност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изворном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документарном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материјалу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тачност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мета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података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квалификованим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електронским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потписом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односно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печатом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13B8237-3874-22AC-7F02-D7E11B277C22}"/>
              </a:ext>
            </a:extLst>
          </p:cNvPr>
          <p:cNvSpPr/>
          <p:nvPr/>
        </p:nvSpPr>
        <p:spPr>
          <a:xfrm>
            <a:off x="8181401" y="6453336"/>
            <a:ext cx="567063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1828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6E8AE-C8A1-7940-D3E0-205C6527A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algn="just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8)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води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евиденцију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предузетим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радњама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поступку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припреме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архивирање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чува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документарни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форматима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погодним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дуготрајно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ување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води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архивску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књигу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електронском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облику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приликом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отпочињања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поузданог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електронског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чувања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периодично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придружује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квалификовани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временски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жиг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односно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врши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надоградњу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квалификованог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електронског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потписа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односно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печата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архивираном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документарном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материјалу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електронском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облику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предаје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надлежном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архиву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складу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прописом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којим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уређује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поуздано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формати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докумената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који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погодни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дуготрајно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чување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414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BC70A33E-A027-5E9C-94A4-0F5FF6AF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620688"/>
            <a:ext cx="4914900" cy="789385"/>
          </a:xfrm>
        </p:spPr>
        <p:txBody>
          <a:bodyPr>
            <a:normAutofit/>
          </a:bodyPr>
          <a:lstStyle/>
          <a:p>
            <a:pPr indent="228600"/>
            <a:r>
              <a:rPr lang="sr-Cyrl-RS" altLang="en-US" sz="18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sr-Latn-RS" altLang="en-US" sz="18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здвајањ</a:t>
            </a:r>
            <a:r>
              <a:rPr lang="sr-Cyrl-RS" altLang="en-US" sz="18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sr-Latn-RS" altLang="en-US" sz="18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електронског документарног </a:t>
            </a:r>
            <a:r>
              <a:rPr lang="sr-Cyrl-RS" altLang="en-US" sz="1800" b="1" dirty="0" smtClean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altLang="en-US" sz="1800" b="1" dirty="0" smtClean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материјала </a:t>
            </a:r>
            <a:r>
              <a:rPr lang="en-GB" altLang="en-US" sz="1800" b="1" dirty="0" err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који</a:t>
            </a:r>
            <a:r>
              <a:rPr lang="en-GB" altLang="en-US" sz="18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1800" b="1" dirty="0" err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GB" altLang="en-US" sz="18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1800" b="1" dirty="0" err="1" smtClean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уништава</a:t>
            </a:r>
            <a:endParaRPr lang="en-US" altLang="en-US" sz="1800" dirty="0">
              <a:solidFill>
                <a:srgbClr val="00336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263DD-BB5E-5DC2-1975-28674EF94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2058312"/>
            <a:ext cx="8352928" cy="4179000"/>
          </a:xfrm>
        </p:spPr>
        <p:txBody>
          <a:bodyPr/>
          <a:lstStyle/>
          <a:p>
            <a:pPr>
              <a:defRPr/>
            </a:pPr>
            <a:r>
              <a:rPr lang="sr-Cyrl-R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(Став 1.)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Стваралац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ималац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документарног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материјала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извршеног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одабирања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документарног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материјала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који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трајно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чува</a:t>
            </a:r>
            <a:r>
              <a:rPr lang="en-US" sz="1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издваја</a:t>
            </a:r>
            <a:r>
              <a:rPr lang="en-US" sz="16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ради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уништења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документарни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коме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је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истекао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рок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чувања</a:t>
            </a:r>
            <a:endParaRPr lang="sr-Cyrl-RS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r-Cyrl-R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(Став 2.)</a:t>
            </a:r>
            <a:r>
              <a:rPr lang="sr-Cyrl-R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Стваралац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ималац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документарног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материјала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издвајање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ради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уништења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обавља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креирајући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захтев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електронском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облику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пописаним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документарним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материјалом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евидентираним</a:t>
            </a:r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sz="1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архивској</a:t>
            </a:r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књизи</a:t>
            </a:r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којем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је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истекао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рок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чувања</a:t>
            </a:r>
            <a:endParaRPr lang="sr-Cyrl-RS" altLang="en-US" sz="16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r-Cyrl-R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(Став 3.)</a:t>
            </a:r>
            <a:r>
              <a:rPr lang="sr-Cyrl-R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Захтев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става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овог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члана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доставља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надлежном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јавном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архиву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еАрхив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путем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Портала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еУправа</a:t>
            </a:r>
            <a:endParaRPr lang="sr-Cyrl-R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r-Cyrl-R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(Став 6.)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Надлежни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јавни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архив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одобрава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захтев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става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овог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члана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еАрхиву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уништење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документарног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материјала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чини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доступним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начин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који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је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захтев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поднет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05128839"/>
      </p:ext>
    </p:extLst>
  </p:cSld>
  <p:clrMapOvr>
    <a:masterClrMapping/>
  </p:clrMapOvr>
  <p:timing>
    <p:tnLst>
      <p:par>
        <p:cTn id="1" dur="indefinite" restart="never" nodeType="tmRoot"/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0CE2D1B7-9B19-7678-081F-10AC882B0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713" y="891174"/>
            <a:ext cx="4968478" cy="1016795"/>
          </a:xfrm>
        </p:spPr>
        <p:txBody>
          <a:bodyPr>
            <a:normAutofit/>
          </a:bodyPr>
          <a:lstStyle/>
          <a:p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Издвајање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електронског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документарног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материјала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који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трајно</a:t>
            </a:r>
            <a:r>
              <a:rPr lang="sr-Cyrl-R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чува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(измене у ставу 1. члана 8. Уредбе)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ED667AB-7E7F-665F-8EFC-7104E3792A65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683568" y="2276872"/>
          <a:ext cx="7488832" cy="2673160"/>
        </p:xfrm>
        <a:graphic>
          <a:graphicData uri="http://schemas.openxmlformats.org/drawingml/2006/table">
            <a:tbl>
              <a:tblPr firstRow="1" firstCol="1" bandRow="1"/>
              <a:tblGrid>
                <a:gridCol w="3744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3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sr-Cyrl-RS" sz="16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НОВИ</a:t>
                      </a:r>
                      <a:r>
                        <a:rPr lang="sr-Cyrl-R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став 1.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sr-Cyrl-RS" sz="16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Стари став 1.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2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Стваралац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ималац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документарног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материјала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који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се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трајно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чува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истеку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рока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од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30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година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од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дана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настанка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sr-Cyrl-RS" sz="16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предаје</a:t>
                      </a:r>
                      <a:r>
                        <a:rPr lang="sr-Cyrl-R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захтев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електронском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облику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sr-Cyrl-RS" sz="16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путем Портала </a:t>
                      </a:r>
                      <a:r>
                        <a:rPr lang="sr-Cyrl-RS" sz="1600" b="1" i="1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еУправа</a:t>
                      </a:r>
                      <a:r>
                        <a:rPr lang="sr-Cyrl-RS" sz="1600" b="1" i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надлежном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јавном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архиву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еАрхив</a:t>
                      </a:r>
                      <a:endParaRPr lang="en-US" sz="160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Стваралац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ималац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документарног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материјала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који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се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трајно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чува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истеку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рока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од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30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година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од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дана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настанка</a:t>
                      </a:r>
                      <a:r>
                        <a:rPr lang="en-US" sz="16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strike="sngStrike" kern="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креира</a:t>
                      </a:r>
                      <a:r>
                        <a:rPr lang="en-US" sz="16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захтев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електронском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облику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trike="sngStrike" kern="100" dirty="0"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 </a:t>
                      </a:r>
                      <a:r>
                        <a:rPr lang="en-US" sz="1600" strike="sngStrike" kern="100" dirty="0" err="1"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софтверском</a:t>
                      </a:r>
                      <a:r>
                        <a:rPr lang="en-US" sz="1600" strike="sngStrike" kern="100" dirty="0"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trike="sngStrike" kern="100" dirty="0" err="1"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решењу</a:t>
                      </a:r>
                      <a:r>
                        <a:rPr lang="en-US" sz="1600" strike="sngStrike" kern="100" dirty="0"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trike="sngStrike" kern="100" dirty="0" err="1"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из</a:t>
                      </a:r>
                      <a:r>
                        <a:rPr lang="en-US" sz="1600" strike="sngStrike" kern="100" dirty="0"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trike="sngStrike" kern="100" dirty="0" err="1"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члана</a:t>
                      </a:r>
                      <a:r>
                        <a:rPr lang="en-US" sz="1600" strike="sngStrike" kern="100" dirty="0"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3. </a:t>
                      </a:r>
                      <a:r>
                        <a:rPr lang="en-US" sz="1600" strike="sngStrike" kern="100" dirty="0" err="1"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ове</a:t>
                      </a:r>
                      <a:r>
                        <a:rPr lang="en-US" sz="1600" strike="sngStrike" kern="100" dirty="0"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trike="sngStrike" kern="100" dirty="0" err="1"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уредбе</a:t>
                      </a:r>
                      <a:r>
                        <a:rPr lang="en-US" sz="1600" strike="sngStrike" kern="100" dirty="0"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600" strike="sngStrike" kern="100" dirty="0" err="1"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предаје</a:t>
                      </a:r>
                      <a:r>
                        <a:rPr lang="en-US" sz="1600" strike="sngStrike" kern="100" dirty="0"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trike="sngStrike" kern="100" dirty="0" err="1"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га</a:t>
                      </a: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надлежном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јавном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архиву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еАрхив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FE22C-881C-CC29-9104-D0F6A2241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7811D8-8A22-4CBD-A82B-1D5CB63C56EF}" type="slidenum">
              <a:rPr lang="sr-Latn-CS" altLang="en-US" smtClean="0"/>
              <a:pPr>
                <a:defRPr/>
              </a:pPr>
              <a:t>44</a:t>
            </a:fld>
            <a:endParaRPr lang="sr-Latn-CS" altLang="en-US"/>
          </a:p>
        </p:txBody>
      </p:sp>
    </p:spTree>
    <p:extLst>
      <p:ext uri="{BB962C8B-B14F-4D97-AF65-F5344CB8AC3E}">
        <p14:creationId xmlns:p14="http://schemas.microsoft.com/office/powerpoint/2010/main" val="1672137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D4BF9163-1FF0-BD1A-4002-6C55EFD2D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814" y="866776"/>
            <a:ext cx="5022056" cy="726281"/>
          </a:xfrm>
        </p:spPr>
        <p:txBody>
          <a:bodyPr>
            <a:normAutofit/>
          </a:bodyPr>
          <a:lstStyle/>
          <a:p>
            <a:pPr indent="228600"/>
            <a:r>
              <a:rPr lang="sr-Latn-R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Мере заштите софтверског решења </a:t>
            </a: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r-Latn-R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којем се врши електронско архивирање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2801636B-D68D-C7AB-9BFD-7AD269E3E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3963" y="1970486"/>
            <a:ext cx="6696075" cy="3349228"/>
          </a:xfrm>
        </p:spPr>
        <p:txBody>
          <a:bodyPr/>
          <a:lstStyle/>
          <a:p>
            <a:pPr marL="0" indent="0">
              <a:buNone/>
            </a:pPr>
            <a:r>
              <a:rPr lang="sr-Cyrl-RS" altLang="en-US" dirty="0"/>
              <a:t>	</a:t>
            </a:r>
            <a:r>
              <a:rPr lang="sr-Cyrl-R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Члан 9. Уредбе:</a:t>
            </a:r>
          </a:p>
          <a:p>
            <a:pPr marL="0" indent="0">
              <a:buNone/>
            </a:pPr>
            <a:r>
              <a:rPr lang="sr-Cyrl-R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„</a:t>
            </a:r>
            <a:r>
              <a:rPr lang="sr-Latn-RS" altLang="en-US" sz="18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Све техничко-технолошке компоненте </a:t>
            </a:r>
            <a:r>
              <a:rPr lang="sr-Latn-RS" altLang="en-US" sz="1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које орган, стваралац или ималац</a:t>
            </a:r>
            <a:r>
              <a:rPr lang="sr-Latn-RS" altLang="en-US" sz="1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који врши припрему користи у току припреме документарног материјала за електронско архивирање, </a:t>
            </a:r>
            <a:r>
              <a:rPr lang="sr-Latn-RS" altLang="en-US" sz="18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део су софтверског решења на који се примењују мере заштите у складу су са прописима</a:t>
            </a:r>
            <a:r>
              <a:rPr lang="sr-Cyrl-R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sr-Latn-R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sr-Latn-RS" altLang="en-US" sz="13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r>
              <a:rPr lang="sr-Cyrl-RS" altLang="en-US" sz="13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2A4FB-12BA-142A-AB6E-D8A697BE6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774AA1-4186-4AB5-813C-E3A51983A75D}" type="slidenum">
              <a:rPr lang="sr-Latn-CS" altLang="en-US" smtClean="0"/>
              <a:pPr>
                <a:defRPr/>
              </a:pPr>
              <a:t>45</a:t>
            </a:fld>
            <a:endParaRPr lang="sr-Latn-CS" altLang="en-US"/>
          </a:p>
        </p:txBody>
      </p:sp>
    </p:spTree>
    <p:extLst>
      <p:ext uri="{BB962C8B-B14F-4D97-AF65-F5344CB8AC3E}">
        <p14:creationId xmlns:p14="http://schemas.microsoft.com/office/powerpoint/2010/main" val="321831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3B08D-0090-41E3-B39B-EA2198F8C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665" y="857250"/>
            <a:ext cx="54305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sr-Cyrl-CS" altLang="en-US" sz="2000" b="1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Означавање регистратурских јединица</a:t>
            </a:r>
            <a:endParaRPr lang="sr-Cyrl-CS" altLang="en-US" sz="2000" dirty="0">
              <a:solidFill>
                <a:schemeClr val="accent1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C720E-4B22-4DAD-A6EB-66DF7F84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347" y="2171701"/>
            <a:ext cx="6743700" cy="3394472"/>
          </a:xfrm>
        </p:spPr>
        <p:txBody>
          <a:bodyPr rtlCol="0">
            <a:normAutofit fontScale="92500" lnSpcReduction="20000"/>
          </a:bodyPr>
          <a:lstStyle/>
          <a:p>
            <a:pPr marL="0" indent="1191">
              <a:buNone/>
              <a:defRPr/>
            </a:pPr>
            <a:r>
              <a:rPr lang="sr-Cyrl-C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сваку регистратурску јединицу (регистратор, књига, фасцикла, кутија...) исписују се следећи подаци</a:t>
            </a:r>
            <a:r>
              <a:rPr lang="sr-Cyrl-C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1191">
              <a:buNone/>
              <a:defRPr/>
            </a:pPr>
            <a:endParaRPr lang="sr-Cyrl-C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  <a:defRPr/>
            </a:pPr>
            <a:r>
              <a:rPr lang="sr-Cyrl-C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пун назив ствараоца (организације, установе, предузећа),</a:t>
            </a:r>
          </a:p>
          <a:p>
            <a:pPr>
              <a:buFont typeface="+mj-lt"/>
              <a:buAutoNum type="arabicPeriod"/>
              <a:defRPr/>
            </a:pPr>
            <a:endParaRPr lang="sr-Cyrl-C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  <a:defRPr/>
            </a:pPr>
            <a:r>
              <a:rPr lang="sr-Cyrl-C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година </a:t>
            </a:r>
            <a:r>
              <a:rPr lang="sr-Cyrl-C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настанка,</a:t>
            </a:r>
          </a:p>
          <a:p>
            <a:pPr marL="0" indent="0">
              <a:buNone/>
              <a:defRPr/>
            </a:pPr>
            <a:endParaRPr lang="sr-Cyrl-C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sr-Cyrl-C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кратак </a:t>
            </a:r>
            <a:r>
              <a:rPr lang="sr-Cyrl-C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садржај регистратурске јединице, </a:t>
            </a:r>
          </a:p>
          <a:p>
            <a:pPr>
              <a:buFont typeface="+mj-lt"/>
              <a:buAutoNum type="arabicPeriod"/>
              <a:defRPr/>
            </a:pPr>
            <a:endParaRPr lang="sr-Cyrl-C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sr-Cyrl-R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број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архивске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књиге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sr-Cyrl-C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907456"/>
      </p:ext>
    </p:extLst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7015D-E9F5-430C-85C5-8D1195D7D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1028700"/>
            <a:ext cx="6172200" cy="857250"/>
          </a:xfrm>
        </p:spPr>
        <p:txBody>
          <a:bodyPr>
            <a:noAutofit/>
          </a:bodyPr>
          <a:lstStyle/>
          <a:p>
            <a:pPr eaLnBrk="1" hangingPunct="1"/>
            <a:r>
              <a:rPr lang="sr-Cyrl-CS" altLang="en-US" sz="2000" b="1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Издавање архивске грађе из архивског депоа код ствараоца</a:t>
            </a:r>
            <a:r>
              <a:rPr lang="en-US" altLang="en-US" sz="1875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1875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sr-Cyrl-CS" altLang="en-US" sz="18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8300E-A57E-4CA9-A273-0A7DBAC38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1808820"/>
            <a:ext cx="6629400" cy="4284476"/>
          </a:xfrm>
        </p:spPr>
        <p:txBody>
          <a:bodyPr rtlCol="0">
            <a:normAutofit/>
          </a:bodyPr>
          <a:lstStyle/>
          <a:p>
            <a:pPr marL="0" indent="1191" algn="ctr">
              <a:buNone/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  <a:defRPr/>
            </a:pPr>
            <a:endParaRPr lang="sr-Cyrl-C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sr-Cyrl-C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Поступци који се одвијају путем е-поште, е-сандучета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sr-Cyrl-C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Шта у случају немогућности доставе путем е-поште, е-сандучета</a:t>
            </a:r>
            <a:r>
              <a:rPr lang="sr-Cyrl-C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endParaRPr lang="sr-Cyrl-C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Поступате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исто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као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вам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је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стигла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поштом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курирском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службом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Ако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би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је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чували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прикључили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одговарајућој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категорији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идентично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је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третирајте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када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је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стигла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електронски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односно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мејлом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r-Cyrl-C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262797"/>
      </p:ext>
    </p:extLst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51B7A4-3895-43B3-AE65-E2C2C882C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851" y="971550"/>
            <a:ext cx="4916150" cy="1143000"/>
          </a:xfrm>
        </p:spPr>
        <p:txBody>
          <a:bodyPr>
            <a:normAutofit/>
          </a:bodyPr>
          <a:lstStyle/>
          <a:p>
            <a:pPr algn="ctr"/>
            <a:r>
              <a:rPr lang="sr-Cyrl-RS" sz="187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АРХИВСКИ ДЕПО</a:t>
            </a:r>
            <a:endParaRPr lang="sr-Latn-RS" sz="18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5B4C5-7F22-4D92-A8B0-7DD16CD45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836712"/>
            <a:ext cx="7953786" cy="6264696"/>
          </a:xfrm>
        </p:spPr>
        <p:txBody>
          <a:bodyPr>
            <a:normAutofit/>
          </a:bodyPr>
          <a:lstStyle/>
          <a:p>
            <a:pPr marL="0" indent="1191">
              <a:buNone/>
              <a:defRPr/>
            </a:pPr>
            <a:r>
              <a:rPr lang="sr-Cyrl-C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Архивски депо и безбедност архиве и документарног материјала</a:t>
            </a:r>
          </a:p>
          <a:p>
            <a:pPr marL="0" indent="1191">
              <a:buNone/>
              <a:defRPr/>
            </a:pPr>
            <a:endParaRPr lang="sr-Cyrl-C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1191">
              <a:buNone/>
              <a:defRPr/>
            </a:pPr>
            <a:r>
              <a:rPr lang="sr-Cyrl-C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Архивски депо је посебна подесна просторија, специјално намењена за чување папирне архиве. </a:t>
            </a:r>
            <a:r>
              <a:rPr lang="sr-Cyrl-C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Просторија треба да буде сува, делимично светла, чиста и уредна, опремљена полицама, противпожарним апаратима, заштићена од влаге и од негативних фактора ризика као што су: пожар, поплава, прокишњавање, могућност неовлашћеног уласка у просторију, глодари и инсекти и друго</a:t>
            </a:r>
            <a:r>
              <a:rPr lang="sr-Cyrl-C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1191">
              <a:buNone/>
              <a:defRPr/>
            </a:pPr>
            <a:r>
              <a:rPr lang="sr-Cyrl-C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Архивски депо треба да буде стално </a:t>
            </a:r>
            <a:r>
              <a:rPr lang="sr-Cyrl-C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 видео надзором и другим видовима обезбеђења а могућност уласка и манупалицаје са архивом, треба и може да има, само архивар</a:t>
            </a:r>
            <a:r>
              <a:rPr lang="sr-Cyrl-C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r-Cyrl-C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sr-Cyrl-C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Чување е-архиве, односно документарног материјала у електронском облику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Ствараоци и имаоци архивске грађе (осим физичких лица) дужни су да: осигурају трајно чување  архивске грађе у електронском облику, њено одржавање, мигрирање, односно пребацивање на нове носаче у прописаним форматима до предаје архивске грађе у електронском облику надлежном јавном архиву; 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спроводе процедуре и поступке везане за управљање документима, као и да користе информациони систем који гарантује заштиту, аутентичност, веродостојност, целовитост и употребљивост електронских докумената.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endParaRPr lang="sr-Cyrl-C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45069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62715-4CA8-4029-BC0C-63689CF6B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712" y="404664"/>
            <a:ext cx="4916150" cy="1143000"/>
          </a:xfrm>
        </p:spPr>
        <p:txBody>
          <a:bodyPr>
            <a:normAutofit/>
          </a:bodyPr>
          <a:lstStyle/>
          <a:p>
            <a:r>
              <a:rPr lang="sr-Cyrl-RS" sz="2000" b="1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Обавезе у вези Плана мера заштите</a:t>
            </a:r>
            <a:r>
              <a:rPr lang="sr-Cyrl-RS" sz="2000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sr-Cyrl-RS" sz="2000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r-Cyrl-RS" sz="2000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(чл.21) Закона о архивској грађи и архивској делатности</a:t>
            </a:r>
            <a:endParaRPr lang="sr-Latn-RS" sz="2000" dirty="0">
              <a:solidFill>
                <a:schemeClr val="accent1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D5C98-FFAE-4870-9888-FDC7E4CFF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916832"/>
            <a:ext cx="7992888" cy="2808312"/>
          </a:xfrm>
        </p:spPr>
        <p:txBody>
          <a:bodyPr>
            <a:noAutofit/>
          </a:bodyPr>
          <a:lstStyle/>
          <a:p>
            <a:r>
              <a:rPr lang="sr-Cyrl-R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“Стваралац и ималац доноси план мера заштите архивске грађе и документарног материјала у случају ризика од катастрофа и ванредних ситуација.” </a:t>
            </a:r>
          </a:p>
          <a:p>
            <a:r>
              <a:rPr lang="sr-Cyrl-R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Дужан је да спроводи све мере заштите, утврђене планом</a:t>
            </a:r>
          </a:p>
          <a:p>
            <a:endParaRPr lang="sr-Cyrl-R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r-Cyrl-R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Мере заштите су:</a:t>
            </a:r>
          </a:p>
          <a:p>
            <a:pPr>
              <a:buFont typeface="+mj-lt"/>
              <a:buAutoNum type="arabicPeriod"/>
            </a:pPr>
            <a:r>
              <a:rPr lang="sr-Cyrl-R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превентивна </a:t>
            </a:r>
            <a:r>
              <a:rPr lang="sr-Cyrl-R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заштита</a:t>
            </a:r>
          </a:p>
          <a:p>
            <a:pPr>
              <a:buFont typeface="+mj-lt"/>
              <a:buAutoNum type="arabicPeriod"/>
            </a:pPr>
            <a:r>
              <a:rPr lang="sr-Cyrl-R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микрофилмовање</a:t>
            </a:r>
            <a:endParaRPr lang="sr-Cyrl-R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sr-Cyrl-R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дигитализација</a:t>
            </a:r>
            <a:endParaRPr lang="sr-Cyrl-R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sr-Cyrl-R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конзервација</a:t>
            </a:r>
            <a:endParaRPr lang="sr-Cyrl-R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sr-Cyrl-R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рестаурација</a:t>
            </a:r>
            <a:endParaRPr lang="sr-Latn-R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95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96344-E9D2-49D5-9176-1AF40F9E8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57250"/>
            <a:ext cx="6629400" cy="857250"/>
          </a:xfrm>
        </p:spPr>
        <p:txBody>
          <a:bodyPr>
            <a:normAutofit/>
          </a:bodyPr>
          <a:lstStyle/>
          <a:p>
            <a:pPr eaLnBrk="1" hangingPunct="1"/>
            <a:r>
              <a:rPr lang="sr-Cyrl-C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Садржај листе категорија докуменатарног материјала </a:t>
            </a:r>
            <a:br>
              <a:rPr lang="sr-Cyrl-C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r-Cyrl-C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 роковима чувања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3523F-E723-4E51-AA40-284069192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4447" y="1928802"/>
            <a:ext cx="6172200" cy="3394472"/>
          </a:xfrm>
        </p:spPr>
        <p:txBody>
          <a:bodyPr rtlCol="0"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sr-Cyrl-C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Листа категорија документарног материјала са роковима чувања садржи: </a:t>
            </a:r>
          </a:p>
          <a:p>
            <a:pPr>
              <a:buNone/>
              <a:defRPr/>
            </a:pPr>
            <a:r>
              <a:rPr lang="sr-Cyrl-C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defRPr/>
            </a:pPr>
            <a:r>
              <a:rPr lang="sr-Cyrl-C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редни број, </a:t>
            </a:r>
          </a:p>
          <a:p>
            <a:pPr>
              <a:defRPr/>
            </a:pPr>
            <a:r>
              <a:rPr lang="sr-Cyrl-C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класификациони знак,</a:t>
            </a:r>
          </a:p>
          <a:p>
            <a:pPr>
              <a:defRPr/>
            </a:pPr>
            <a:r>
              <a:rPr lang="sr-Cyrl-C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кратак саржај односно врсту категорије,</a:t>
            </a:r>
          </a:p>
          <a:p>
            <a:pPr>
              <a:defRPr/>
            </a:pPr>
            <a:r>
              <a:rPr lang="sr-Cyrl-C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рок чувања,</a:t>
            </a:r>
          </a:p>
          <a:p>
            <a:pPr>
              <a:defRPr/>
            </a:pPr>
            <a:r>
              <a:rPr lang="sr-Cyrl-C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 садржати још једну колону, а то је </a:t>
            </a:r>
            <a:r>
              <a:rPr lang="sr-Cyrl-C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ВРСТА НОСАЧА ЗАПИСА</a:t>
            </a:r>
          </a:p>
          <a:p>
            <a:pPr marL="0" indent="0">
              <a:buNone/>
              <a:defRPr/>
            </a:pPr>
            <a:r>
              <a:rPr lang="sr-Cyrl-C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(у зависности да ли је документ у папирном или електронском облику)</a:t>
            </a:r>
          </a:p>
          <a:p>
            <a:pPr>
              <a:buNone/>
              <a:defRPr/>
            </a:pPr>
            <a:endParaRPr lang="sr-Cyrl-CS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814770"/>
      </p:ext>
    </p:extLst>
  </p:cSld>
  <p:clrMapOvr>
    <a:masterClrMapping/>
  </p:clrMapOvr>
  <p:transition spd="slow">
    <p:zoom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EA168-E71C-4EC3-69DD-080229A3F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Уредба о класификацији документарног материјала са роковима чувања („Сл. гласник РС“, бр. 14/2023)</a:t>
            </a:r>
            <a:endParaRPr lang="en-GB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C6550-6F38-64EE-8F3F-33E5B3642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3133" y="2375538"/>
            <a:ext cx="6172200" cy="3394472"/>
          </a:xfrm>
        </p:spPr>
        <p:txBody>
          <a:bodyPr/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Овом уредбом утврђује се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класификација по материји документарног материјала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који настаје у раду органа државне управе, службе Народне скупштине, председника Републике и Владе, свих ималаца јавних овлашћења кад врше поверене послове државне управе, као и органа аутономних покрајина, општина, градова и града Београда у повереном делокругу.</a:t>
            </a:r>
          </a:p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Овом уредбом се утврђују и минимални рокови чувања у оквиру подгрупа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520E07F-4DC0-0D46-C393-98751D3327EA}"/>
              </a:ext>
            </a:extLst>
          </p:cNvPr>
          <p:cNvSpPr/>
          <p:nvPr/>
        </p:nvSpPr>
        <p:spPr>
          <a:xfrm>
            <a:off x="6624228" y="5049180"/>
            <a:ext cx="733806" cy="2700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906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E6EF2-05BE-9490-CD98-E3441DC6E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0"/>
            <a:ext cx="7506929" cy="4837471"/>
          </a:xfrm>
        </p:spPr>
        <p:txBody>
          <a:bodyPr>
            <a:noAutofit/>
          </a:bodyPr>
          <a:lstStyle/>
          <a:p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Документарни материјал класификује се по материји у десет главних група (од 0 до 9), и то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државно уређење, организација и рад органа;</a:t>
            </a:r>
          </a:p>
          <a:p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рад и радни односи и социјално осигурање;</a:t>
            </a:r>
          </a:p>
          <a:p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лична стања грађана, државна и јавна безбедност;</a:t>
            </a:r>
          </a:p>
          <a:p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привреда;</a:t>
            </a:r>
          </a:p>
          <a:p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финансије;</a:t>
            </a:r>
          </a:p>
          <a:p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здравље и социјална заштита;</a:t>
            </a:r>
          </a:p>
          <a:p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просвета, наука, култура, спорт, интелектуална својина, јавно информисање и медији;</a:t>
            </a:r>
          </a:p>
          <a:p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судство, тужилаштво и правобранилаштво;</a:t>
            </a:r>
          </a:p>
          <a:p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одбрана;</a:t>
            </a:r>
          </a:p>
          <a:p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међународна сарадња и европске интеграције.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оквиру ове поделе, врши се по децималном систему даље рашчлањавање главних група на групе (двоцифрени број) и на подгрупе (троцифрени број), с обзиром на сродност и обим појединих делатности.</a:t>
            </a:r>
          </a:p>
          <a:p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оквиру подгрупе ближе се уређују задаци и послови, односно поступци органа, који се воде у Каталогу поступака, у складу са прописима којима се уређује електронска управа и канцеларијско пословање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621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9BAFA-F0EB-8594-4B77-CB42357FA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156" y="332656"/>
            <a:ext cx="6172200" cy="857250"/>
          </a:xfrm>
        </p:spPr>
        <p:txBody>
          <a:bodyPr>
            <a:normAutofit fontScale="90000"/>
          </a:bodyPr>
          <a:lstStyle/>
          <a:p>
            <a:pPr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ru-RU" sz="2200" b="1" dirty="0" smtClean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lang="ru-RU" sz="2200" b="1" dirty="0" smtClean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ru-RU" sz="2200" b="1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lang="ru-RU" sz="2200" b="1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ru-RU" sz="2200" b="1" dirty="0" smtClean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lang="ru-RU" sz="2200" b="1" dirty="0" smtClean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ru-RU" sz="2200" b="1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lang="ru-RU" sz="2200" b="1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GB" sz="13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lang="en-GB" sz="13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ru-RU" sz="2200" b="1" dirty="0" err="1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Рокови</a:t>
            </a:r>
            <a:r>
              <a:rPr lang="ru-RU" sz="2200" b="1" dirty="0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чувања</a:t>
            </a:r>
            <a:r>
              <a:rPr lang="ru-RU" sz="2200" b="1" dirty="0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у складу </a:t>
            </a:r>
            <a:r>
              <a:rPr lang="ru-RU" sz="2200" b="1" dirty="0" err="1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са</a:t>
            </a:r>
            <a:r>
              <a:rPr lang="ru-RU" sz="2200" b="1" dirty="0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Уредбом</a:t>
            </a:r>
            <a:r>
              <a:rPr lang="ru-RU" sz="2200" b="1" dirty="0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о </a:t>
            </a:r>
            <a:r>
              <a:rPr lang="ru-RU" sz="2200" b="1" dirty="0" err="1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класификацији</a:t>
            </a:r>
            <a:r>
              <a:rPr lang="ru-RU" sz="2200" b="1" dirty="0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документарног</a:t>
            </a:r>
            <a:r>
              <a:rPr lang="ru-RU" sz="2200" b="1" dirty="0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материјала</a:t>
            </a:r>
            <a:r>
              <a:rPr lang="ru-RU" sz="2200" b="1" dirty="0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са</a:t>
            </a:r>
            <a:r>
              <a:rPr lang="ru-RU" sz="2200" b="1" dirty="0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роковима</a:t>
            </a:r>
            <a:r>
              <a:rPr lang="ru-RU" sz="2200" b="1" dirty="0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чувања</a:t>
            </a:r>
            <a:r>
              <a:rPr lang="ru-RU" sz="2200" b="1" dirty="0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(„Сл. </a:t>
            </a:r>
            <a:r>
              <a:rPr lang="ru-RU" sz="2200" b="1" dirty="0" err="1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гласник</a:t>
            </a:r>
            <a:r>
              <a:rPr lang="ru-RU" sz="2200" b="1" dirty="0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РС“, </a:t>
            </a:r>
            <a:r>
              <a:rPr lang="ru-RU" sz="2200" b="1" dirty="0" err="1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бр</a:t>
            </a:r>
            <a:r>
              <a:rPr lang="ru-RU" sz="2200" b="1" dirty="0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14/2023) </a:t>
            </a:r>
            <a:endParaRPr lang="en-GB" sz="2200" dirty="0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E3AB5-0326-E2D9-9AE0-7F285B355048}"/>
              </a:ext>
            </a:extLst>
          </p:cNvPr>
          <p:cNvSpPr txBox="1"/>
          <p:nvPr/>
        </p:nvSpPr>
        <p:spPr>
          <a:xfrm>
            <a:off x="395536" y="1189906"/>
            <a:ext cx="828092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Рокови чувања сваке од врста, односно категорија документарног материјала који настају у оквиру поступка који припада одговарајућој подгрупи утврђују се у складу са шифарником категорија документарног материјала из Каталога поступака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могу бити краћи од рока утврђеног у табели из става 1. ове Уредбе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Изузетно, врста документарног материјала </a:t>
            </a:r>
            <a:r>
              <a:rPr lang="ru-R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прилог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може се чувати и краће од рока утврђеног у табели из става 1. ове Уредбе, а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најмање две године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14313" indent="-214313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Листу категорија документарног материјала са роковима чувања одобрава надлежни јавни архив у складу са законом којим се уређује архивска грађа и архивска делатност.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Документарни материјал у поступку којим се утврђују статусна питања, техничка документација о изградњи објеката, техничка документација која настаје у вези с процесом производње, прописи, евиденције, аналитички материјал, као и други документарни материјал који је од трајног значаја за културу, уметност, науку, просвету и друге друштвене области, </a:t>
            </a:r>
            <a:r>
              <a:rPr lang="ru-RU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чува се трајно.</a:t>
            </a:r>
          </a:p>
        </p:txBody>
      </p:sp>
    </p:spTree>
    <p:extLst>
      <p:ext uri="{BB962C8B-B14F-4D97-AF65-F5344CB8AC3E}">
        <p14:creationId xmlns:p14="http://schemas.microsoft.com/office/powerpoint/2010/main" val="38368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DFCA5-0C41-4D06-90E4-06F9194B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600075"/>
            <a:ext cx="6572250" cy="857250"/>
          </a:xfrm>
        </p:spPr>
        <p:txBody>
          <a:bodyPr/>
          <a:lstStyle/>
          <a:p>
            <a:pPr eaLnBrk="1" hangingPunct="1"/>
            <a:r>
              <a:rPr lang="sr-Cyrl-C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Попис безвредног регистратурског материјала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3F91A-DF0A-4630-A5BC-7BE9E340A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624" y="1628800"/>
            <a:ext cx="6572250" cy="3714750"/>
          </a:xfrm>
        </p:spPr>
        <p:txBody>
          <a:bodyPr>
            <a:noAutofit/>
          </a:bodyPr>
          <a:lstStyle/>
          <a:p>
            <a:pPr eaLnBrk="1" hangingPunct="1"/>
            <a:r>
              <a:rPr lang="sr-Cyrl-C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складу са валидном Листом категорија спроводи се процедура уништавања и она је предвиђена као обавеза Закона о архивској грађи и архивској делатности (чл. 9, тачка 9), за све ствараоце и имаоце, осим физичких лица.</a:t>
            </a:r>
          </a:p>
          <a:p>
            <a:pPr marL="0" indent="0">
              <a:buNone/>
            </a:pPr>
            <a:endParaRPr lang="sr-Cyrl-C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sr-Cyrl-C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sr-Cyrl-C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’Документарни материјал настао радом и деловањем државних органа и организација, органа територијалне аутономије и јединица локалне самоуправе, установа, јавних предузећа</a:t>
            </a:r>
            <a:r>
              <a:rPr lang="sr-Cyrl-C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чији је рок чувања истекао, уништава се по прибављеном одобрењу у писменој форми надлежног архива’’ (чл. 16)</a:t>
            </a:r>
          </a:p>
          <a:p>
            <a:pPr marL="0" indent="0">
              <a:buNone/>
            </a:pPr>
            <a:endParaRPr lang="sr-Cyrl-C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sr-Cyrl-C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Привредни субјекти </a:t>
            </a:r>
            <a:r>
              <a:rPr lang="sr-Cyrl-C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изузети од обавезе добијања решења о уништавању, од стране надлежног архива, како је то до сада била пракса.</a:t>
            </a:r>
          </a:p>
        </p:txBody>
      </p:sp>
    </p:spTree>
    <p:extLst>
      <p:ext uri="{BB962C8B-B14F-4D97-AF65-F5344CB8AC3E}">
        <p14:creationId xmlns:p14="http://schemas.microsoft.com/office/powerpoint/2010/main" val="640982203"/>
      </p:ext>
    </p:extLst>
  </p:cSld>
  <p:clrMapOvr>
    <a:masterClrMapping/>
  </p:clrMapOvr>
  <p:transition spd="slow">
    <p:wheel spokes="8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B19E5-4251-4F85-AA7D-345081C6D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1200151"/>
            <a:ext cx="6172200" cy="4251722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sr-Cyrl-C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Колоне (рубрике) које садржи попис (списак) безвредног документарног материјала:</a:t>
            </a:r>
          </a:p>
          <a:p>
            <a:pPr marL="0" indent="0">
              <a:buNone/>
            </a:pPr>
            <a:endParaRPr lang="sr-Cyrl-C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5763" indent="-385763">
              <a:buFont typeface="Calibri" panose="020F0502020204030204" pitchFamily="34" charset="0"/>
              <a:buAutoNum type="arabicPeriod"/>
            </a:pPr>
            <a:r>
              <a:rPr lang="sr-Cyrl-C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Редни број документа</a:t>
            </a:r>
          </a:p>
          <a:p>
            <a:pPr marL="385763" indent="-385763">
              <a:buFont typeface="Calibri" panose="020F0502020204030204" pitchFamily="34" charset="0"/>
              <a:buAutoNum type="arabicPeriod"/>
            </a:pPr>
            <a:r>
              <a:rPr lang="sr-Cyrl-C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Врста (назив) документа који се предлаже за уништавање;</a:t>
            </a:r>
          </a:p>
          <a:p>
            <a:pPr marL="385763" indent="-385763">
              <a:buFont typeface="Calibri" panose="020F0502020204030204" pitchFamily="34" charset="0"/>
              <a:buAutoNum type="arabicPeriod"/>
            </a:pPr>
            <a:r>
              <a:rPr lang="sr-Cyrl-C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Година настанка документа;</a:t>
            </a:r>
          </a:p>
          <a:p>
            <a:pPr marL="385763" indent="-385763">
              <a:buFont typeface="Calibri" panose="020F0502020204030204" pitchFamily="34" charset="0"/>
              <a:buAutoNum type="arabicPeriod"/>
            </a:pPr>
            <a:r>
              <a:rPr lang="sr-Cyrl-C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Редни број из листе категорија; </a:t>
            </a:r>
          </a:p>
          <a:p>
            <a:pPr marL="385763" indent="-385763">
              <a:buFont typeface="Calibri" panose="020F0502020204030204" pitchFamily="34" charset="0"/>
              <a:buAutoNum type="arabicPeriod"/>
            </a:pPr>
            <a:r>
              <a:rPr lang="sr-Cyrl-C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Рок чувања документа; </a:t>
            </a:r>
          </a:p>
          <a:p>
            <a:pPr marL="385763" indent="-385763">
              <a:buFont typeface="Calibri" panose="020F0502020204030204" pitchFamily="34" charset="0"/>
              <a:buAutoNum type="arabicPeriod"/>
            </a:pPr>
            <a:r>
              <a:rPr lang="sr-Cyrl-C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Количина предложеног материјала (по регистратурским јединицама);</a:t>
            </a:r>
          </a:p>
          <a:p>
            <a:pPr marL="385763" indent="-385763">
              <a:buFont typeface="Calibri" panose="020F0502020204030204" pitchFamily="34" charset="0"/>
              <a:buAutoNum type="arabicPeriod"/>
            </a:pPr>
            <a:r>
              <a:rPr lang="sr-Cyrl-C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Редни број из архивске књиге</a:t>
            </a:r>
          </a:p>
          <a:p>
            <a:pPr marL="0" indent="0">
              <a:buNone/>
            </a:pP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00802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8003D1AB-D472-4E2A-BFF7-201E93110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680" y="371475"/>
            <a:ext cx="4916150" cy="971550"/>
          </a:xfrm>
        </p:spPr>
        <p:txBody>
          <a:bodyPr/>
          <a:lstStyle/>
          <a:p>
            <a:r>
              <a:rPr lang="sr-Cyrl-C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Предаја архивске грађе надлежном архиву</a:t>
            </a:r>
            <a:endParaRPr lang="en-US" altLang="en-US" sz="1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F245-D743-43FF-9100-AED909DF4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49" y="1343025"/>
            <a:ext cx="6172200" cy="417195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itchFamily="2" charset="2"/>
              <a:buChar char="Ø"/>
              <a:defRPr/>
            </a:pPr>
            <a:r>
              <a:rPr lang="sr-Cyrl-C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Записник </a:t>
            </a:r>
            <a:r>
              <a:rPr lang="sr-Cyrl-C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који се сачињава приликом примопредаје обавезно садржи:</a:t>
            </a:r>
          </a:p>
          <a:p>
            <a:pPr algn="just">
              <a:defRPr/>
            </a:pPr>
            <a:r>
              <a:rPr lang="sr-Cyrl-C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назив предаваоца (орган управе, привредно друштво, установа, удружење, орган локалне управе...)</a:t>
            </a:r>
          </a:p>
          <a:p>
            <a:pPr algn="just">
              <a:defRPr/>
            </a:pPr>
            <a:r>
              <a:rPr lang="sr-Cyrl-C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место примопредаје и датум</a:t>
            </a:r>
          </a:p>
          <a:p>
            <a:pPr algn="just">
              <a:defRPr/>
            </a:pPr>
            <a:r>
              <a:rPr lang="sr-Cyrl-C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попис архивске грађе по годинама, врсти и количини</a:t>
            </a:r>
          </a:p>
          <a:p>
            <a:pPr algn="just">
              <a:defRPr/>
            </a:pPr>
            <a:r>
              <a:rPr lang="sr-Cyrl-C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констатацију да ли се преузима цео фонд или део фонда и подаци о непреузетој грађи</a:t>
            </a:r>
          </a:p>
          <a:p>
            <a:pPr algn="just">
              <a:defRPr/>
            </a:pPr>
            <a:r>
              <a:rPr lang="sr-Cyrl-C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мишљење предаваоца о условима и начину чувања и коришћења</a:t>
            </a:r>
          </a:p>
          <a:p>
            <a:pPr algn="just">
              <a:defRPr/>
            </a:pPr>
            <a:r>
              <a:rPr lang="sr-Cyrl-C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потписи чланова комисије и овера предаваоца и примаоца</a:t>
            </a:r>
          </a:p>
          <a:p>
            <a:pPr algn="just">
              <a:buNone/>
              <a:defRPr/>
            </a:pPr>
            <a:r>
              <a:rPr lang="sr-Cyrl-C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  <a:defRPr/>
            </a:pPr>
            <a:r>
              <a:rPr lang="sr-Cyrl-C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случају да предавалац предаје архивску грађу неког другог ствараоца у записник се уносе подаци о ствараоцу. Заједно са архивском грађом надлежном архиву – примаоцу предају се и основне евиденције о актима и предметима које се односе на фондове који се предају.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28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2E473-DB13-40C0-93B9-2AE90B2C3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196752"/>
            <a:ext cx="7200800" cy="3823112"/>
          </a:xfrm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sr-Cyrl-R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Обавезу прибављања писаног одобрења о уништавању документације имају само државни органи и организације односно јавни сектор</a:t>
            </a:r>
            <a:r>
              <a:rPr lang="sr-Cyrl-R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док ту обавезу више нема привреда ни други субјекти који немају јавна овлашћења. </a:t>
            </a:r>
          </a:p>
          <a:p>
            <a:pPr marL="0" indent="0" algn="just">
              <a:buNone/>
              <a:defRPr/>
            </a:pPr>
            <a:endParaRPr lang="sr-Cyrl-R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Стваралац и ималац архивске грађе и документарног материјала дужан је </a:t>
            </a:r>
            <a:r>
              <a:rPr lang="ru-RU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да у року од 30 дана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обавести надлежни архив о свом оснивању, као и о свим изменама статуса и организације (промени статуса и/или назива, промени организације, промени адресе, као и престанку рада).</a:t>
            </a:r>
          </a:p>
          <a:p>
            <a:pPr marL="0" indent="0" algn="just">
              <a:buNone/>
              <a:defRPr/>
            </a:pP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defRPr/>
            </a:pPr>
            <a:r>
              <a:rPr lang="ru-RU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Стваралац, односно ималац архивске грађе, сређену и пописану архивску грађу предаје на чување надлежном јавном архиву по истеку 30 година од дана њеног настанка.</a:t>
            </a:r>
          </a:p>
          <a:p>
            <a:pPr marL="0" indent="0" algn="just">
              <a:buNone/>
              <a:defRPr/>
            </a:pPr>
            <a:endParaRPr lang="sr-Cyrl-RS" altLang="en-US" sz="165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580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84020-47A5-4DE1-A330-6C01EF8B9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692696"/>
            <a:ext cx="7488832" cy="4286250"/>
          </a:xfrm>
        </p:spPr>
        <p:txBody>
          <a:bodyPr rtlCol="0">
            <a:normAutofit/>
          </a:bodyPr>
          <a:lstStyle/>
          <a:p>
            <a:pPr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sr-Cyrl-R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Казнена политика је веома пооштрена и казне  се крећу од 50.000 до 2.000.000 динара.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sr-Cyrl-R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Новчаном казном у износу од 50.000 до 2.000.000 динара, казниће се за прекршај свако правно лице које поступи супротно одредбама члана 9. овог закона и ако не донесе акта предвиђена чланом 14. овог закона.</a:t>
            </a:r>
          </a:p>
          <a:p>
            <a:pPr algn="just">
              <a:defRPr/>
            </a:pPr>
            <a:r>
              <a:rPr lang="sr-Cyrl-R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Новчаном казном од 5.000 до 150.000 казниће се за прекршај одговорно лице у правном лицу</a:t>
            </a:r>
          </a:p>
          <a:p>
            <a:pPr algn="just">
              <a:defRPr/>
            </a:pPr>
            <a:r>
              <a:rPr lang="sr-Cyrl-R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Надлежни архив има право активне легитимације у погледу остваривања мера заштите и коришћења културних добара и подношења захтева за покретање кривичног и прекршајног поступка.</a:t>
            </a:r>
          </a:p>
          <a:p>
            <a:pPr marL="0" indent="0" algn="just">
              <a:buNone/>
              <a:defRPr/>
            </a:pPr>
            <a:endParaRPr lang="sr-Cyrl-R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80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DA23A-CCB7-4498-BE42-5ABD3B459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1" y="2286000"/>
            <a:ext cx="4916150" cy="1828800"/>
          </a:xfrm>
        </p:spPr>
        <p:txBody>
          <a:bodyPr>
            <a:normAutofit/>
          </a:bodyPr>
          <a:lstStyle/>
          <a:p>
            <a:pPr algn="ctr"/>
            <a:r>
              <a:rPr lang="sr-Cyrl-RS" sz="3750" b="1" dirty="0"/>
              <a:t>Интерна нормативна акта</a:t>
            </a:r>
            <a:endParaRPr lang="sr-Latn-RS" sz="3750" b="1" dirty="0"/>
          </a:p>
        </p:txBody>
      </p:sp>
    </p:spTree>
    <p:extLst>
      <p:ext uri="{BB962C8B-B14F-4D97-AF65-F5344CB8AC3E}">
        <p14:creationId xmlns:p14="http://schemas.microsoft.com/office/powerpoint/2010/main" val="320699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35658" y="271373"/>
            <a:ext cx="7481695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/>
            <a:r>
              <a:rPr lang="ru-RU" sz="1600" i="1" dirty="0">
                <a:solidFill>
                  <a:srgbClr val="C00000"/>
                </a:solidFill>
              </a:rPr>
              <a:t>1)  </a:t>
            </a:r>
            <a:r>
              <a:rPr lang="ru-RU" i="1" dirty="0">
                <a:solidFill>
                  <a:srgbClr val="C00000"/>
                </a:solidFill>
              </a:rPr>
              <a:t>У складу са Законом о електронском документу, електронској идентификацији и услугама од поверења у електронском пословању:</a:t>
            </a:r>
            <a:endParaRPr lang="sr-Cyrl-RS" i="1" dirty="0">
              <a:solidFill>
                <a:srgbClr val="C00000"/>
              </a:solidFill>
            </a:endParaRPr>
          </a:p>
          <a:p>
            <a:pPr marL="257175" indent="-257175" algn="just"/>
            <a:r>
              <a:rPr lang="sr-Cyrl-RS" b="1" dirty="0" smtClean="0"/>
              <a:t>- Правилник </a:t>
            </a:r>
            <a:r>
              <a:rPr lang="sr-Cyrl-RS" b="1" dirty="0"/>
              <a:t>о електронском </a:t>
            </a:r>
            <a:r>
              <a:rPr lang="sr-Cyrl-RS" b="1" dirty="0" smtClean="0"/>
              <a:t>канцеларијском пословању</a:t>
            </a:r>
            <a:endParaRPr lang="sr-Cyrl-RS" b="1" dirty="0"/>
          </a:p>
          <a:p>
            <a:pPr marL="257175" indent="-257175" algn="just"/>
            <a:endParaRPr lang="sr-Cyrl-RS" b="1" dirty="0"/>
          </a:p>
          <a:p>
            <a:pPr marL="257175" indent="-257175" algn="just"/>
            <a:r>
              <a:rPr lang="ru-RU" i="1" dirty="0">
                <a:solidFill>
                  <a:srgbClr val="C00000"/>
                </a:solidFill>
              </a:rPr>
              <a:t>2) У складу са Законом о информационој безбедности:</a:t>
            </a:r>
          </a:p>
          <a:p>
            <a:pPr marL="257175" indent="-257175" algn="just"/>
            <a:r>
              <a:rPr lang="ru-RU" i="1" dirty="0"/>
              <a:t>-</a:t>
            </a:r>
            <a:r>
              <a:rPr lang="ru-RU" b="1" dirty="0"/>
              <a:t>Акт о ИКТ безбедности</a:t>
            </a:r>
          </a:p>
          <a:p>
            <a:pPr marL="257175" indent="-257175" algn="just"/>
            <a:r>
              <a:rPr lang="ru-RU" b="1" dirty="0"/>
              <a:t>-Одлука о именовању лица одговорног за </a:t>
            </a:r>
            <a:r>
              <a:rPr lang="ru-RU" b="1" dirty="0" err="1"/>
              <a:t>информациону</a:t>
            </a:r>
            <a:r>
              <a:rPr lang="ru-RU" b="1" dirty="0"/>
              <a:t> </a:t>
            </a:r>
            <a:r>
              <a:rPr lang="ru-RU" b="1" dirty="0" err="1" smtClean="0"/>
              <a:t>безбедност</a:t>
            </a:r>
            <a:endParaRPr lang="ru-RU" b="1" dirty="0" smtClean="0"/>
          </a:p>
          <a:p>
            <a:pPr marL="257175" indent="-257175" algn="just"/>
            <a:r>
              <a:rPr lang="ru-RU" b="1" dirty="0" smtClean="0"/>
              <a:t>-</a:t>
            </a:r>
            <a:r>
              <a:rPr lang="ru-RU" b="1" dirty="0" err="1" smtClean="0"/>
              <a:t>Извештај</a:t>
            </a:r>
            <a:r>
              <a:rPr lang="ru-RU" b="1" dirty="0" smtClean="0"/>
              <a:t> о </a:t>
            </a:r>
            <a:r>
              <a:rPr lang="ru-RU" b="1" dirty="0" err="1" smtClean="0"/>
              <a:t>провери</a:t>
            </a:r>
            <a:r>
              <a:rPr lang="ru-RU" b="1" dirty="0" smtClean="0"/>
              <a:t> безбедности ИКТ </a:t>
            </a:r>
            <a:r>
              <a:rPr lang="ru-RU" b="1" dirty="0" smtClean="0"/>
              <a:t>система ….. </a:t>
            </a:r>
            <a:r>
              <a:rPr lang="ru-RU" b="1" dirty="0" smtClean="0"/>
              <a:t>и друга акта</a:t>
            </a:r>
            <a:endParaRPr lang="ru-RU" b="1" dirty="0"/>
          </a:p>
          <a:p>
            <a:pPr marL="257175" indent="-257175" algn="just"/>
            <a:endParaRPr lang="ru-RU" b="1" dirty="0"/>
          </a:p>
          <a:p>
            <a:pPr marL="257175" indent="-257175" algn="just"/>
            <a:r>
              <a:rPr lang="ru-RU" i="1" dirty="0">
                <a:solidFill>
                  <a:srgbClr val="C00000"/>
                </a:solidFill>
              </a:rPr>
              <a:t>3) У складу са Законом о архивској грађи и архивској делатности:</a:t>
            </a:r>
          </a:p>
          <a:p>
            <a:pPr marL="257175" indent="-257175" algn="just">
              <a:buFontTx/>
              <a:buChar char="-"/>
            </a:pPr>
            <a:r>
              <a:rPr lang="ru-RU" b="1" dirty="0"/>
              <a:t>Правилник о  начину евидентирања, заштите и коришћења електронских докумената</a:t>
            </a:r>
          </a:p>
          <a:p>
            <a:pPr marL="257175" indent="-257175" algn="just">
              <a:buFontTx/>
              <a:buChar char="-"/>
            </a:pPr>
            <a:r>
              <a:rPr lang="ru-RU" b="1" dirty="0"/>
              <a:t>Правилник о начину евидентирања, класификовања, архивирања и чувања архивске грађе и документарног материјала</a:t>
            </a:r>
          </a:p>
          <a:p>
            <a:pPr marL="257175" indent="-257175" algn="just">
              <a:buFontTx/>
              <a:buChar char="-"/>
            </a:pPr>
            <a:r>
              <a:rPr lang="ru-RU" b="1" dirty="0" err="1" smtClean="0"/>
              <a:t>Одлука</a:t>
            </a:r>
            <a:r>
              <a:rPr lang="ru-RU" b="1" dirty="0" smtClean="0"/>
              <a:t>/</a:t>
            </a:r>
            <a:r>
              <a:rPr lang="ru-RU" b="1" dirty="0" err="1" smtClean="0"/>
              <a:t>Решење</a:t>
            </a:r>
            <a:r>
              <a:rPr lang="ru-RU" b="1" dirty="0" smtClean="0"/>
              <a:t> </a:t>
            </a:r>
            <a:r>
              <a:rPr lang="ru-RU" b="1" dirty="0"/>
              <a:t>о именовању одговорног лица за заштиту архивске грађе и документарног материјала и поступање са архивском грађом и документарним материјалом</a:t>
            </a:r>
          </a:p>
          <a:p>
            <a:pPr marL="257175" indent="-257175" algn="just">
              <a:buFontTx/>
              <a:buChar char="-"/>
            </a:pPr>
            <a:r>
              <a:rPr lang="ru-RU" b="1" dirty="0" err="1" smtClean="0"/>
              <a:t>Одлука</a:t>
            </a:r>
            <a:r>
              <a:rPr lang="ru-RU" b="1" dirty="0" smtClean="0"/>
              <a:t>/</a:t>
            </a:r>
            <a:r>
              <a:rPr lang="ru-RU" b="1" dirty="0" err="1" smtClean="0"/>
              <a:t>Решење</a:t>
            </a:r>
            <a:r>
              <a:rPr lang="ru-RU" b="1" dirty="0" smtClean="0"/>
              <a:t> </a:t>
            </a:r>
            <a:r>
              <a:rPr lang="ru-RU" b="1" dirty="0"/>
              <a:t>о формирању комисије за  попис документарног материјала за отпис</a:t>
            </a:r>
          </a:p>
          <a:p>
            <a:pPr marL="257175" indent="-257175"/>
            <a:endParaRPr lang="en-US" sz="1200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17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8CAA-720F-944C-01AD-D4D1920FC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sz="2100" b="1" dirty="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Безбедност е-архиве</a:t>
            </a:r>
            <a:endParaRPr lang="en-GB" sz="2100" b="1" dirty="0">
              <a:solidFill>
                <a:srgbClr val="0033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3622F-DDBF-41EB-F714-34A75B327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lang="en-US" sz="1600" b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Обавезе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ствараоца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</a:t>
            </a:r>
            <a:r>
              <a:rPr lang="en-US" sz="1600" b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имаоца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архивске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грађе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</a:t>
            </a:r>
            <a:r>
              <a:rPr lang="en-US" sz="1600" b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документарног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материјала</a:t>
            </a:r>
            <a:r>
              <a:rPr lang="sr-Cyrl-RS" sz="1600" b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у складу са законом</a:t>
            </a:r>
            <a:endParaRPr lang="en-GB" sz="1600" dirty="0">
              <a:latin typeface="Verdana" panose="020B0604030504040204" pitchFamily="34" charset="0"/>
              <a:ea typeface="Calibri" panose="020F0502020204030204" pitchFamily="34" charset="0"/>
              <a:cs typeface="Verdana" panose="020B0604030504040204" pitchFamily="34" charset="0"/>
            </a:endParaRPr>
          </a:p>
          <a:p>
            <a:pPr marL="0" algn="ctr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Члан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9.</a:t>
            </a:r>
            <a:endParaRPr lang="en-GB" sz="1600" dirty="0">
              <a:latin typeface="Verdana" panose="020B0604030504040204" pitchFamily="34" charset="0"/>
              <a:ea typeface="Calibri" panose="020F0502020204030204" pitchFamily="34" charset="0"/>
              <a:cs typeface="Verdana" panose="020B0604030504040204" pitchFamily="34" charset="0"/>
            </a:endParaRPr>
          </a:p>
          <a:p>
            <a:pPr marL="0">
              <a:lnSpc>
                <a:spcPct val="115000"/>
              </a:lnSpc>
              <a:spcBef>
                <a:spcPts val="0"/>
              </a:spcBef>
              <a:spcAft>
                <a:spcPts val="563"/>
              </a:spcAft>
            </a:pP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Стваралац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ималац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архивске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грађе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документарног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материјала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дужан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је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да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савесно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чува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у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сређеном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безбедном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стању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архивску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грађу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документарни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материјал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у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облику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у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којем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су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настали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.</a:t>
            </a:r>
            <a:endParaRPr lang="sr-Cyrl-RS" sz="1600" dirty="0">
              <a:solidFill>
                <a:srgbClr val="000000"/>
              </a:solidFill>
              <a:latin typeface="Verdana" panose="020B0604030504040204" pitchFamily="34" charset="0"/>
              <a:ea typeface="Calibri" panose="020F0502020204030204" pitchFamily="34" charset="0"/>
              <a:cs typeface="Verdana" panose="020B0604030504040204" pitchFamily="34" charset="0"/>
            </a:endParaRPr>
          </a:p>
          <a:p>
            <a:pPr marL="0">
              <a:lnSpc>
                <a:spcPct val="115000"/>
              </a:lnSpc>
              <a:spcBef>
                <a:spcPts val="0"/>
              </a:spcBef>
              <a:spcAft>
                <a:spcPts val="563"/>
              </a:spcAft>
            </a:pP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осигура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трајно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чување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архивске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грађе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у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електронском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облику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њено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одржавање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мигрирање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односно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пребацивање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на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нове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носаче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у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прописаним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форматима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до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предаје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архивске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грађе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у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електронском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облику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надлежном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јавном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архиву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;</a:t>
            </a:r>
            <a:endParaRPr lang="en-GB" sz="1600" dirty="0">
              <a:latin typeface="Verdana" panose="020B0604030504040204" pitchFamily="34" charset="0"/>
              <a:ea typeface="Calibri" panose="020F0502020204030204" pitchFamily="34" charset="0"/>
              <a:cs typeface="Verdana" panose="020B0604030504040204" pitchFamily="34" charset="0"/>
            </a:endParaRPr>
          </a:p>
          <a:p>
            <a:pPr marL="0">
              <a:lnSpc>
                <a:spcPct val="115000"/>
              </a:lnSpc>
              <a:spcBef>
                <a:spcPts val="0"/>
              </a:spcBef>
              <a:spcAft>
                <a:spcPts val="563"/>
              </a:spcAft>
            </a:pPr>
            <a:endParaRPr lang="en-GB" sz="1350" dirty="0">
              <a:latin typeface="Verdana" panose="020B0604030504040204" pitchFamily="34" charset="0"/>
              <a:ea typeface="Calibri" panose="020F0502020204030204" pitchFamily="34" charset="0"/>
              <a:cs typeface="Verdana" panose="020B060403050404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0571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FFBE-B238-BB04-DD10-5B1580F1C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8580" y="1074690"/>
            <a:ext cx="7026839" cy="4708619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lang="en-US" sz="1700" b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Обавезе</a:t>
            </a:r>
            <a:r>
              <a:rPr lang="en-US" sz="1700" b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b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ствараоца</a:t>
            </a:r>
            <a:r>
              <a:rPr lang="en-US" sz="1700" b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</a:t>
            </a:r>
            <a:r>
              <a:rPr lang="en-US" sz="1700" b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имаоца</a:t>
            </a:r>
            <a:r>
              <a:rPr lang="en-US" sz="1700" b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b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архивске</a:t>
            </a:r>
            <a:r>
              <a:rPr lang="en-US" sz="1700" b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b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грађе</a:t>
            </a:r>
            <a:r>
              <a:rPr lang="en-US" sz="1700" b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</a:t>
            </a:r>
            <a:r>
              <a:rPr lang="en-US" sz="1700" b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документарног</a:t>
            </a:r>
            <a:r>
              <a:rPr lang="en-US" sz="1700" b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b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материјала</a:t>
            </a:r>
            <a:r>
              <a:rPr lang="en-US" sz="1700" b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у </a:t>
            </a:r>
            <a:r>
              <a:rPr lang="en-US" sz="1700" b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електронском</a:t>
            </a:r>
            <a:r>
              <a:rPr lang="en-US" sz="1700" b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b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облику</a:t>
            </a:r>
            <a:endParaRPr lang="en-GB" sz="1700" dirty="0">
              <a:latin typeface="Verdana" panose="020B0604030504040204" pitchFamily="34" charset="0"/>
              <a:ea typeface="Calibri" panose="020F0502020204030204" pitchFamily="34" charset="0"/>
              <a:cs typeface="Verdana" panose="020B0604030504040204" pitchFamily="34" charset="0"/>
            </a:endParaRPr>
          </a:p>
          <a:p>
            <a:pPr marL="0" algn="ctr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Члан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11.</a:t>
            </a:r>
            <a:endParaRPr lang="en-GB" sz="1700" dirty="0">
              <a:latin typeface="Verdana" panose="020B0604030504040204" pitchFamily="34" charset="0"/>
              <a:ea typeface="Calibri" panose="020F0502020204030204" pitchFamily="34" charset="0"/>
              <a:cs typeface="Verdana" panose="020B0604030504040204" pitchFamily="34" charset="0"/>
            </a:endParaRPr>
          </a:p>
          <a:p>
            <a:pPr marL="0" algn="just">
              <a:lnSpc>
                <a:spcPct val="115000"/>
              </a:lnSpc>
              <a:spcBef>
                <a:spcPts val="0"/>
              </a:spcBef>
              <a:spcAft>
                <a:spcPts val="563"/>
              </a:spcAft>
            </a:pP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Стваралац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</a:t>
            </a: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ималац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архивске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грађе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</a:t>
            </a: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документарног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материјала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у </a:t>
            </a: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електронском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облику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дужан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је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да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спроводи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процедуре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</a:t>
            </a: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поступке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везане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за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управљање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документима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, </a:t>
            </a:r>
            <a:r>
              <a:rPr lang="en-US" sz="1700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као</a:t>
            </a:r>
            <a:r>
              <a:rPr lang="en-US" sz="1700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</a:t>
            </a:r>
            <a:r>
              <a:rPr lang="en-US" sz="1700" u="sng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да</a:t>
            </a:r>
            <a:r>
              <a:rPr lang="en-US" sz="1700" u="sng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u="sng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користи</a:t>
            </a:r>
            <a:r>
              <a:rPr lang="en-US" sz="1700" u="sng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u="sng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информациони</a:t>
            </a:r>
            <a:r>
              <a:rPr lang="en-US" sz="1700" u="sng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u="sng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систем</a:t>
            </a:r>
            <a:r>
              <a:rPr lang="en-US" sz="1700" u="sng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, </a:t>
            </a:r>
            <a:r>
              <a:rPr lang="en-US" sz="1700" u="sng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који</a:t>
            </a:r>
            <a:r>
              <a:rPr lang="en-US" sz="1700" u="sng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u="sng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гарантују</a:t>
            </a:r>
            <a:r>
              <a:rPr lang="en-US" sz="1700" u="sng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u="sng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заштиту</a:t>
            </a:r>
            <a:r>
              <a:rPr lang="en-US" sz="1700" u="sng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, </a:t>
            </a:r>
            <a:r>
              <a:rPr lang="en-US" sz="1700" u="sng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аутентичност</a:t>
            </a:r>
            <a:r>
              <a:rPr lang="en-US" sz="1700" u="sng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, </a:t>
            </a:r>
            <a:r>
              <a:rPr lang="en-US" sz="1700" u="sng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веродостојност</a:t>
            </a:r>
            <a:r>
              <a:rPr lang="en-US" sz="1700" u="sng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, </a:t>
            </a:r>
            <a:r>
              <a:rPr lang="en-US" sz="1700" u="sng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целовитост</a:t>
            </a:r>
            <a:r>
              <a:rPr lang="en-US" sz="1700" u="sng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</a:t>
            </a:r>
            <a:r>
              <a:rPr lang="en-US" sz="1700" u="sng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употребљивост</a:t>
            </a:r>
            <a:r>
              <a:rPr lang="en-US" sz="1700" u="sng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u="sng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електронских</a:t>
            </a:r>
            <a:r>
              <a:rPr lang="en-US" sz="1700" u="sng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u="sng" dirty="0" err="1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докумената</a:t>
            </a:r>
            <a:r>
              <a:rPr lang="en-US" sz="1700" u="sng" dirty="0">
                <a:solidFill>
                  <a:srgbClr val="C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.</a:t>
            </a:r>
            <a:endParaRPr lang="en-GB" sz="1700" u="sng" dirty="0">
              <a:solidFill>
                <a:srgbClr val="C00000"/>
              </a:solidFill>
              <a:latin typeface="Verdana" panose="020B0604030504040204" pitchFamily="34" charset="0"/>
              <a:ea typeface="Calibri" panose="020F0502020204030204" pitchFamily="34" charset="0"/>
              <a:cs typeface="Verdana" panose="020B0604030504040204" pitchFamily="34" charset="0"/>
            </a:endParaRPr>
          </a:p>
          <a:p>
            <a:pPr marL="0" algn="just">
              <a:lnSpc>
                <a:spcPct val="115000"/>
              </a:lnSpc>
              <a:spcBef>
                <a:spcPts val="0"/>
              </a:spcBef>
              <a:spcAft>
                <a:spcPts val="563"/>
              </a:spcAft>
            </a:pP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Стваралац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ималац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архивске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грађе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документарног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материјала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припрему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архивске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грађе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документарног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материјала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за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поуздано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електронско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чување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поуздано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електронско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чување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архивске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грађе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документарног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материјала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врши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у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складу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са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прописима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којима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се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уређује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поуздано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електронско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чување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и у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складу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са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прописима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донетим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на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основу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овог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закона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.</a:t>
            </a:r>
            <a:endParaRPr lang="en-GB" sz="1700" dirty="0">
              <a:latin typeface="Verdana" panose="020B0604030504040204" pitchFamily="34" charset="0"/>
              <a:ea typeface="Calibri" panose="020F0502020204030204" pitchFamily="34" charset="0"/>
              <a:cs typeface="Verdana" panose="020B060403050404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102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4455" y="836712"/>
            <a:ext cx="7175090" cy="3903735"/>
          </a:xfrm>
        </p:spPr>
        <p:txBody>
          <a:bodyPr>
            <a:normAutofit/>
          </a:bodyPr>
          <a:lstStyle/>
          <a:p>
            <a:pPr algn="l"/>
            <a:r>
              <a:rPr lang="sr-Cyrl-RS" sz="1800" b="1" dirty="0"/>
              <a:t>ОСНОВНИ ЗАХТЕВИ БЕЗБЕДНОСТИ ИКТ СИСТЕМА</a:t>
            </a:r>
            <a:r>
              <a:rPr lang="sr-Cyrl-RS" sz="1800" dirty="0"/>
              <a:t/>
            </a:r>
            <a:br>
              <a:rPr lang="sr-Cyrl-RS" sz="1800" dirty="0"/>
            </a:br>
            <a:r>
              <a:rPr lang="sr-Cyrl-RS" sz="1800" dirty="0"/>
              <a:t/>
            </a:r>
            <a:br>
              <a:rPr lang="sr-Cyrl-RS" sz="1800" dirty="0"/>
            </a:br>
            <a:r>
              <a:rPr lang="sr-Cyrl-RS" sz="1800" b="1" dirty="0"/>
              <a:t>Спречавање:</a:t>
            </a:r>
            <a:r>
              <a:rPr lang="sr-Cyrl-RS" sz="1800" dirty="0"/>
              <a:t/>
            </a:r>
            <a:br>
              <a:rPr lang="sr-Cyrl-RS" sz="1800" dirty="0"/>
            </a:br>
            <a:r>
              <a:rPr lang="sr-Cyrl-RS" sz="1800" dirty="0"/>
              <a:t>1. Угрожавања безбедности лица, пословања и државе</a:t>
            </a:r>
            <a:br>
              <a:rPr lang="sr-Cyrl-RS" sz="1800" dirty="0"/>
            </a:br>
            <a:r>
              <a:rPr lang="sr-Cyrl-RS" sz="1800" dirty="0"/>
              <a:t>2. Крађе, проневере, губитци, измене информација</a:t>
            </a:r>
            <a:br>
              <a:rPr lang="sr-Cyrl-RS" sz="1800" dirty="0"/>
            </a:br>
            <a:r>
              <a:rPr lang="sr-Cyrl-RS" sz="1800" dirty="0"/>
              <a:t>3. Неовлашћене активности (унутрашњих испољих фактора)</a:t>
            </a:r>
            <a:br>
              <a:rPr lang="sr-Cyrl-RS" sz="1800" dirty="0"/>
            </a:br>
            <a:r>
              <a:rPr lang="sr-Cyrl-RS" sz="1800" dirty="0"/>
              <a:t>4. Повреда интелектуалне својине</a:t>
            </a:r>
            <a:br>
              <a:rPr lang="sr-Cyrl-RS" sz="1800" dirty="0"/>
            </a:br>
            <a:r>
              <a:rPr lang="sr-Cyrl-RS" sz="1800" dirty="0"/>
              <a:t>5. Повреда приватности и поверљивости података о личности</a:t>
            </a:r>
            <a:br>
              <a:rPr lang="sr-Cyrl-RS" sz="1800" dirty="0"/>
            </a:br>
            <a:r>
              <a:rPr lang="sr-Cyrl-RS" sz="1800" dirty="0"/>
              <a:t>6. Повреда пословне тајне....</a:t>
            </a:r>
            <a:br>
              <a:rPr lang="sr-Cyrl-RS" sz="1800" dirty="0"/>
            </a:br>
            <a:r>
              <a:rPr lang="sr-Cyrl-RS" sz="1800" dirty="0"/>
              <a:t/>
            </a:r>
            <a:br>
              <a:rPr lang="sr-Cyrl-RS" sz="1800" dirty="0"/>
            </a:br>
            <a:r>
              <a:rPr lang="sr-Cyrl-RS" sz="1800" b="1" dirty="0"/>
              <a:t>Обезбеђивање:</a:t>
            </a:r>
            <a:r>
              <a:rPr lang="sr-Cyrl-RS" sz="1800" dirty="0"/>
              <a:t/>
            </a:r>
            <a:br>
              <a:rPr lang="sr-Cyrl-RS" sz="1800" dirty="0"/>
            </a:br>
            <a:r>
              <a:rPr lang="sr-Cyrl-RS" sz="1800" dirty="0"/>
              <a:t>1. </a:t>
            </a:r>
            <a:r>
              <a:rPr lang="sr-Cyrl-RS" sz="1800" dirty="0" smtClean="0"/>
              <a:t>Заштите</a:t>
            </a:r>
            <a:r>
              <a:rPr lang="sr-Cyrl-RS" sz="1800" dirty="0"/>
              <a:t/>
            </a:r>
            <a:br>
              <a:rPr lang="sr-Cyrl-RS" sz="1800" dirty="0"/>
            </a:br>
            <a:r>
              <a:rPr lang="sr-Cyrl-RS" sz="1800" dirty="0"/>
              <a:t>2. </a:t>
            </a:r>
            <a:r>
              <a:rPr lang="sr-Cyrl-RS" sz="1800" dirty="0" smtClean="0"/>
              <a:t>Континуираног управљања </a:t>
            </a:r>
            <a:r>
              <a:rPr lang="sr-Cyrl-RS" sz="1800" dirty="0"/>
              <a:t>заштитом</a:t>
            </a:r>
            <a:r>
              <a:rPr lang="sr-Cyrl-RS" sz="1800" dirty="0">
                <a:solidFill>
                  <a:schemeClr val="bg1">
                    <a:lumMod val="85000"/>
                  </a:schemeClr>
                </a:solidFill>
              </a:rPr>
              <a:t/>
            </a:r>
            <a:br>
              <a:rPr lang="sr-Cyrl-RS" sz="18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sr-Cyrl-RS" sz="1800" dirty="0"/>
              <a:t/>
            </a:r>
            <a:br>
              <a:rPr lang="sr-Cyrl-RS" sz="1800" dirty="0"/>
            </a:br>
            <a:endParaRPr lang="en-US" sz="1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4BCF5-8747-4E72-BA36-70B1DCA86502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84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4BCF5-8747-4E72-BA36-70B1DCA86502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99592" y="404664"/>
            <a:ext cx="712879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ПЛАНИРАЊЕ И ПРИМЕНА МЕРА ЗАШТИТЕ ИКТ СИСТЕМА</a:t>
            </a:r>
          </a:p>
          <a:p>
            <a:endParaRPr lang="ru-RU" dirty="0"/>
          </a:p>
          <a:p>
            <a:pPr algn="just"/>
            <a:r>
              <a:rPr lang="ru-RU" dirty="0"/>
              <a:t>Члан 3. </a:t>
            </a:r>
            <a:r>
              <a:rPr lang="ru-RU" b="1" i="1" dirty="0"/>
              <a:t>Закона о информационој безбедности </a:t>
            </a:r>
            <a:r>
              <a:rPr lang="ru-RU" dirty="0"/>
              <a:t>налаже да се  приликом планирања и примене мера заштите ИКТ система треба руководити начелима:</a:t>
            </a:r>
          </a:p>
          <a:p>
            <a:pPr algn="just"/>
            <a:endParaRPr lang="ru-RU" dirty="0"/>
          </a:p>
          <a:p>
            <a:pPr algn="just"/>
            <a:r>
              <a:rPr lang="ru-RU" b="1" dirty="0"/>
              <a:t>1</a:t>
            </a:r>
            <a:r>
              <a:rPr lang="ru-RU" dirty="0"/>
              <a:t>) </a:t>
            </a:r>
            <a:r>
              <a:rPr lang="ru-RU" b="1" dirty="0"/>
              <a:t>начело управљања ризиком </a:t>
            </a:r>
            <a:r>
              <a:rPr lang="ru-RU" dirty="0"/>
              <a:t>– избор и ниво примене мера се заснива на процени ризика, потреби за превенцијом ризика и отклањања последица ризика који се остварио, укључујући све врсте ванредних околности;</a:t>
            </a:r>
          </a:p>
          <a:p>
            <a:pPr algn="just"/>
            <a:r>
              <a:rPr lang="ru-RU" b="1" dirty="0"/>
              <a:t>2) начело свеобухватне заштите </a:t>
            </a:r>
            <a:r>
              <a:rPr lang="ru-RU" dirty="0"/>
              <a:t>– мере се примењују на свим организационим, физичким и техничко-технолошким нивоима, као и током целокупног животног циклуса ИКТ система;</a:t>
            </a:r>
          </a:p>
          <a:p>
            <a:pPr algn="just"/>
            <a:r>
              <a:rPr lang="ru-RU" b="1" dirty="0"/>
              <a:t>3) начело стручности и добре праксе </a:t>
            </a:r>
            <a:r>
              <a:rPr lang="ru-RU" dirty="0"/>
              <a:t>– мере се примењују у складу са стручним и научним сазнањима и искуствима у области информационе безбедности;</a:t>
            </a:r>
          </a:p>
          <a:p>
            <a:pPr algn="just"/>
            <a:r>
              <a:rPr lang="ru-RU" b="1" dirty="0"/>
              <a:t>4)</a:t>
            </a:r>
            <a:r>
              <a:rPr lang="ru-RU" dirty="0"/>
              <a:t> </a:t>
            </a:r>
            <a:r>
              <a:rPr lang="ru-RU" b="1" dirty="0"/>
              <a:t>начело свести и оспособљености </a:t>
            </a:r>
            <a:r>
              <a:rPr lang="ru-RU" dirty="0"/>
              <a:t>– сва лица која својим поступцима ефективно или потенцијално утичу на информациону безбедност треба да буду свесна ризика и поседују одговарајућа знања и вештине.</a:t>
            </a:r>
          </a:p>
        </p:txBody>
      </p:sp>
    </p:spTree>
    <p:extLst>
      <p:ext uri="{BB962C8B-B14F-4D97-AF65-F5344CB8AC3E}">
        <p14:creationId xmlns:p14="http://schemas.microsoft.com/office/powerpoint/2010/main" val="297800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4BCF5-8747-4E72-BA36-70B1DCA86502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27584" y="908720"/>
            <a:ext cx="7020233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/>
              <a:t>НАЈЧЕШЋА ПИТАЊА</a:t>
            </a:r>
          </a:p>
          <a:p>
            <a:pPr algn="ctr"/>
            <a:r>
              <a:rPr lang="ru-RU" sz="2800" b="1" dirty="0" smtClean="0"/>
              <a:t>И</a:t>
            </a:r>
          </a:p>
          <a:p>
            <a:pPr algn="ctr"/>
            <a:r>
              <a:rPr lang="ru-RU" sz="2800" b="1" dirty="0" smtClean="0"/>
              <a:t>ОДГОВОРИ</a:t>
            </a:r>
            <a:endParaRPr lang="ru-RU" sz="2800" b="1" dirty="0"/>
          </a:p>
          <a:p>
            <a:endParaRPr lang="ru-R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2852936"/>
            <a:ext cx="4067880" cy="28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9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260648"/>
            <a:ext cx="820891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 smtClean="0"/>
              <a:t>На </a:t>
            </a:r>
            <a:r>
              <a:rPr lang="ru-RU" b="1" dirty="0" err="1"/>
              <a:t>кога</a:t>
            </a:r>
            <a:r>
              <a:rPr lang="ru-RU" b="1" dirty="0"/>
              <a:t> се </a:t>
            </a:r>
            <a:r>
              <a:rPr lang="ru-RU" b="1" dirty="0" err="1"/>
              <a:t>односи</a:t>
            </a:r>
            <a:r>
              <a:rPr lang="ru-RU" b="1" dirty="0"/>
              <a:t> </a:t>
            </a:r>
            <a:r>
              <a:rPr lang="ru-RU" b="1" dirty="0" err="1"/>
              <a:t>Уредба</a:t>
            </a:r>
            <a:r>
              <a:rPr lang="ru-RU" b="1" dirty="0"/>
              <a:t> </a:t>
            </a:r>
            <a:r>
              <a:rPr lang="ru-RU" b="1" dirty="0" err="1"/>
              <a:t>која</a:t>
            </a:r>
            <a:r>
              <a:rPr lang="ru-RU" b="1" dirty="0"/>
              <a:t> </a:t>
            </a:r>
            <a:r>
              <a:rPr lang="ru-RU" b="1" dirty="0" err="1"/>
              <a:t>регулише</a:t>
            </a:r>
            <a:r>
              <a:rPr lang="ru-RU" b="1" dirty="0"/>
              <a:t> </a:t>
            </a:r>
            <a:r>
              <a:rPr lang="ru-RU" b="1" dirty="0" err="1"/>
              <a:t>електронско</a:t>
            </a:r>
            <a:r>
              <a:rPr lang="ru-RU" b="1" dirty="0"/>
              <a:t> </a:t>
            </a:r>
            <a:r>
              <a:rPr lang="ru-RU" b="1" dirty="0" err="1" smtClean="0"/>
              <a:t>архивирање</a:t>
            </a:r>
            <a:r>
              <a:rPr lang="ru-RU" b="1" dirty="0" smtClean="0"/>
              <a:t>?</a:t>
            </a:r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 err="1" smtClean="0"/>
              <a:t>Уредба</a:t>
            </a:r>
            <a:r>
              <a:rPr lang="ru-RU" dirty="0" smtClean="0"/>
              <a:t> о </a:t>
            </a:r>
            <a:r>
              <a:rPr lang="ru-RU" dirty="0" err="1" smtClean="0"/>
              <a:t>електронском</a:t>
            </a:r>
            <a:r>
              <a:rPr lang="ru-RU" dirty="0" smtClean="0"/>
              <a:t> </a:t>
            </a:r>
            <a:r>
              <a:rPr lang="ru-RU" dirty="0" err="1" smtClean="0"/>
              <a:t>архивирању</a:t>
            </a:r>
            <a:r>
              <a:rPr lang="ru-RU" dirty="0" smtClean="0"/>
              <a:t> </a:t>
            </a:r>
            <a:r>
              <a:rPr lang="ru-RU" b="1" i="1" dirty="0" err="1" smtClean="0"/>
              <a:t>односи</a:t>
            </a:r>
            <a:r>
              <a:rPr lang="ru-RU" b="1" i="1" dirty="0" smtClean="0"/>
              <a:t> се на </a:t>
            </a:r>
            <a:r>
              <a:rPr lang="ru-RU" b="1" i="1" dirty="0" err="1" smtClean="0"/>
              <a:t>ствараоце</a:t>
            </a:r>
            <a:r>
              <a:rPr lang="ru-RU" b="1" i="1" dirty="0" smtClean="0"/>
              <a:t> и </a:t>
            </a:r>
            <a:r>
              <a:rPr lang="ru-RU" b="1" i="1" dirty="0" err="1" smtClean="0"/>
              <a:t>имаоце</a:t>
            </a:r>
            <a:r>
              <a:rPr lang="ru-RU" b="1" i="1" dirty="0" smtClean="0"/>
              <a:t> </a:t>
            </a:r>
            <a:r>
              <a:rPr lang="ru-RU" b="1" i="1" dirty="0" err="1" smtClean="0"/>
              <a:t>архивске</a:t>
            </a:r>
            <a:r>
              <a:rPr lang="ru-RU" b="1" i="1" dirty="0" smtClean="0"/>
              <a:t> </a:t>
            </a:r>
            <a:r>
              <a:rPr lang="ru-RU" b="1" i="1" dirty="0" err="1" smtClean="0"/>
              <a:t>грађе</a:t>
            </a:r>
            <a:r>
              <a:rPr lang="ru-RU" b="1" i="1" dirty="0" smtClean="0"/>
              <a:t> и </a:t>
            </a:r>
            <a:r>
              <a:rPr lang="ru-RU" b="1" i="1" dirty="0" err="1" smtClean="0"/>
              <a:t>документарног</a:t>
            </a:r>
            <a:r>
              <a:rPr lang="ru-RU" b="1" i="1" dirty="0" smtClean="0"/>
              <a:t> </a:t>
            </a:r>
            <a:r>
              <a:rPr lang="ru-RU" b="1" i="1" dirty="0" err="1" smtClean="0"/>
              <a:t>материјала</a:t>
            </a:r>
            <a:r>
              <a:rPr lang="ru-RU" b="1" i="1" dirty="0" smtClean="0"/>
              <a:t> у </a:t>
            </a:r>
            <a:r>
              <a:rPr lang="ru-RU" b="1" i="1" dirty="0" err="1" smtClean="0"/>
              <a:t>електронском</a:t>
            </a:r>
            <a:r>
              <a:rPr lang="ru-RU" b="1" i="1" dirty="0" smtClean="0"/>
              <a:t> облику</a:t>
            </a:r>
            <a:r>
              <a:rPr lang="ru-RU" dirty="0" smtClean="0"/>
              <a:t>. Закон о </a:t>
            </a:r>
            <a:r>
              <a:rPr lang="ru-RU" dirty="0" err="1" smtClean="0"/>
              <a:t>архивској</a:t>
            </a:r>
            <a:r>
              <a:rPr lang="ru-RU" dirty="0" smtClean="0"/>
              <a:t> </a:t>
            </a:r>
            <a:r>
              <a:rPr lang="ru-RU" dirty="0" err="1" smtClean="0"/>
              <a:t>грађи</a:t>
            </a:r>
            <a:r>
              <a:rPr lang="ru-RU" dirty="0" smtClean="0"/>
              <a:t> и </a:t>
            </a:r>
            <a:r>
              <a:rPr lang="ru-RU" dirty="0" err="1" smtClean="0"/>
              <a:t>архивској</a:t>
            </a:r>
            <a:r>
              <a:rPr lang="ru-RU" dirty="0" smtClean="0"/>
              <a:t> </a:t>
            </a:r>
            <a:r>
              <a:rPr lang="ru-RU" dirty="0" err="1" smtClean="0"/>
              <a:t>делатности</a:t>
            </a:r>
            <a:r>
              <a:rPr lang="ru-RU" dirty="0" smtClean="0"/>
              <a:t> </a:t>
            </a:r>
            <a:r>
              <a:rPr lang="ru-RU" dirty="0" err="1" smtClean="0"/>
              <a:t>одређује</a:t>
            </a:r>
            <a:r>
              <a:rPr lang="ru-RU" dirty="0" smtClean="0"/>
              <a:t> да су </a:t>
            </a:r>
            <a:r>
              <a:rPr lang="ru-RU" dirty="0" err="1" smtClean="0"/>
              <a:t>ствараоци</a:t>
            </a:r>
            <a:r>
              <a:rPr lang="ru-RU" dirty="0" smtClean="0"/>
              <a:t> </a:t>
            </a:r>
            <a:r>
              <a:rPr lang="ru-RU" dirty="0" err="1" smtClean="0"/>
              <a:t>правна</a:t>
            </a:r>
            <a:r>
              <a:rPr lang="ru-RU" dirty="0" smtClean="0"/>
              <a:t> и физичка лица </a:t>
            </a:r>
            <a:r>
              <a:rPr lang="ru-RU" dirty="0" err="1" smtClean="0"/>
              <a:t>чијим</a:t>
            </a:r>
            <a:r>
              <a:rPr lang="ru-RU" dirty="0" smtClean="0"/>
              <a:t> радом </a:t>
            </a:r>
            <a:r>
              <a:rPr lang="ru-RU" dirty="0" err="1" smtClean="0"/>
              <a:t>настаје</a:t>
            </a:r>
            <a:r>
              <a:rPr lang="ru-RU" dirty="0" smtClean="0"/>
              <a:t> </a:t>
            </a:r>
            <a:r>
              <a:rPr lang="ru-RU" dirty="0" err="1" smtClean="0"/>
              <a:t>архивска</a:t>
            </a:r>
            <a:r>
              <a:rPr lang="ru-RU" dirty="0" smtClean="0"/>
              <a:t> </a:t>
            </a:r>
            <a:r>
              <a:rPr lang="ru-RU" dirty="0" err="1" smtClean="0"/>
              <a:t>грађа</a:t>
            </a:r>
            <a:r>
              <a:rPr lang="ru-RU" dirty="0" smtClean="0"/>
              <a:t> и </a:t>
            </a:r>
            <a:r>
              <a:rPr lang="ru-RU" dirty="0" err="1" smtClean="0"/>
              <a:t>документарни</a:t>
            </a:r>
            <a:r>
              <a:rPr lang="ru-RU" dirty="0" smtClean="0"/>
              <a:t> </a:t>
            </a:r>
            <a:r>
              <a:rPr lang="ru-RU" dirty="0" err="1" smtClean="0"/>
              <a:t>материјал</a:t>
            </a:r>
            <a:r>
              <a:rPr lang="ru-RU" dirty="0" smtClean="0"/>
              <a:t>, док су </a:t>
            </a:r>
            <a:r>
              <a:rPr lang="ru-RU" dirty="0" err="1" smtClean="0"/>
              <a:t>имаоци</a:t>
            </a:r>
            <a:r>
              <a:rPr lang="ru-RU" dirty="0" smtClean="0"/>
              <a:t> </a:t>
            </a:r>
            <a:r>
              <a:rPr lang="ru-RU" dirty="0" err="1" smtClean="0"/>
              <a:t>правна</a:t>
            </a:r>
            <a:r>
              <a:rPr lang="ru-RU" dirty="0" smtClean="0"/>
              <a:t> и физичка лица </a:t>
            </a:r>
            <a:r>
              <a:rPr lang="ru-RU" dirty="0" err="1" smtClean="0"/>
              <a:t>који</a:t>
            </a:r>
            <a:r>
              <a:rPr lang="ru-RU" dirty="0" smtClean="0"/>
              <a:t> </a:t>
            </a:r>
            <a:r>
              <a:rPr lang="ru-RU" dirty="0" err="1" smtClean="0"/>
              <a:t>такву</a:t>
            </a:r>
            <a:r>
              <a:rPr lang="ru-RU" dirty="0" smtClean="0"/>
              <a:t> </a:t>
            </a:r>
            <a:r>
              <a:rPr lang="ru-RU" dirty="0" err="1" smtClean="0"/>
              <a:t>грађу</a:t>
            </a:r>
            <a:r>
              <a:rPr lang="ru-RU" dirty="0" smtClean="0"/>
              <a:t> </a:t>
            </a:r>
            <a:r>
              <a:rPr lang="ru-RU" dirty="0" err="1" smtClean="0"/>
              <a:t>држе</a:t>
            </a:r>
            <a:r>
              <a:rPr lang="ru-RU" dirty="0" smtClean="0"/>
              <a:t> по </a:t>
            </a:r>
            <a:r>
              <a:rPr lang="ru-RU" dirty="0" err="1" smtClean="0"/>
              <a:t>одређеном</a:t>
            </a:r>
            <a:r>
              <a:rPr lang="ru-RU" dirty="0" smtClean="0"/>
              <a:t> основу. </a:t>
            </a:r>
            <a:endParaRPr lang="ru-RU" dirty="0"/>
          </a:p>
          <a:p>
            <a:r>
              <a:rPr lang="ru-RU" dirty="0" smtClean="0"/>
              <a:t>Закон </a:t>
            </a:r>
            <a:r>
              <a:rPr lang="ru-RU" dirty="0" err="1"/>
              <a:t>прописује</a:t>
            </a:r>
            <a:r>
              <a:rPr lang="ru-RU" dirty="0"/>
              <a:t> </a:t>
            </a:r>
            <a:r>
              <a:rPr lang="ru-RU" dirty="0" err="1"/>
              <a:t>казнене</a:t>
            </a:r>
            <a:r>
              <a:rPr lang="ru-RU" dirty="0"/>
              <a:t> </a:t>
            </a:r>
            <a:r>
              <a:rPr lang="ru-RU" dirty="0" err="1"/>
              <a:t>одредбе</a:t>
            </a:r>
            <a:r>
              <a:rPr lang="ru-RU" dirty="0"/>
              <a:t> само за </a:t>
            </a:r>
            <a:r>
              <a:rPr lang="ru-RU" dirty="0" err="1"/>
              <a:t>правна</a:t>
            </a:r>
            <a:r>
              <a:rPr lang="ru-RU" dirty="0"/>
              <a:t> лица, из </a:t>
            </a:r>
            <a:r>
              <a:rPr lang="ru-RU" dirty="0" err="1"/>
              <a:t>чега</a:t>
            </a:r>
            <a:r>
              <a:rPr lang="ru-RU" dirty="0"/>
              <a:t> </a:t>
            </a:r>
            <a:r>
              <a:rPr lang="ru-RU" dirty="0" err="1"/>
              <a:t>произилази</a:t>
            </a:r>
            <a:r>
              <a:rPr lang="ru-RU" dirty="0"/>
              <a:t> да </a:t>
            </a:r>
            <a:r>
              <a:rPr lang="ru-RU" dirty="0" err="1"/>
              <a:t>нису</a:t>
            </a:r>
            <a:r>
              <a:rPr lang="ru-RU" dirty="0"/>
              <a:t> </a:t>
            </a:r>
            <a:r>
              <a:rPr lang="ru-RU" dirty="0" err="1"/>
              <a:t>предвиђене</a:t>
            </a:r>
            <a:r>
              <a:rPr lang="ru-RU" dirty="0"/>
              <a:t> </a:t>
            </a:r>
            <a:r>
              <a:rPr lang="ru-RU" dirty="0" err="1"/>
              <a:t>санкције</a:t>
            </a:r>
            <a:r>
              <a:rPr lang="ru-RU" dirty="0"/>
              <a:t> за физичка лица и </a:t>
            </a:r>
            <a:r>
              <a:rPr lang="ru-RU" dirty="0" err="1"/>
              <a:t>предузетнике</a:t>
            </a:r>
            <a:r>
              <a:rPr lang="ru-RU" dirty="0" smtClean="0"/>
              <a:t>.</a:t>
            </a:r>
            <a:endParaRPr lang="sr-Latn-RS" dirty="0" smtClean="0"/>
          </a:p>
          <a:p>
            <a:endParaRPr lang="sr-Latn-RS" i="1" dirty="0"/>
          </a:p>
          <a:p>
            <a:r>
              <a:rPr lang="ru-RU" i="1" dirty="0" err="1" smtClean="0"/>
              <a:t>Стваралац</a:t>
            </a:r>
            <a:r>
              <a:rPr lang="ru-RU" i="1" dirty="0" smtClean="0"/>
              <a:t> </a:t>
            </a:r>
            <a:r>
              <a:rPr lang="ru-RU" i="1" dirty="0" err="1"/>
              <a:t>архивске</a:t>
            </a:r>
            <a:r>
              <a:rPr lang="ru-RU" i="1" dirty="0"/>
              <a:t> </a:t>
            </a:r>
            <a:r>
              <a:rPr lang="ru-RU" i="1" dirty="0" err="1"/>
              <a:t>грађе</a:t>
            </a:r>
            <a:r>
              <a:rPr lang="ru-RU" i="1" dirty="0"/>
              <a:t> и </a:t>
            </a:r>
            <a:r>
              <a:rPr lang="ru-RU" i="1" dirty="0" err="1"/>
              <a:t>документарног</a:t>
            </a:r>
            <a:r>
              <a:rPr lang="ru-RU" i="1" dirty="0"/>
              <a:t> </a:t>
            </a:r>
            <a:r>
              <a:rPr lang="ru-RU" i="1" dirty="0" err="1"/>
              <a:t>материјала</a:t>
            </a:r>
            <a:r>
              <a:rPr lang="ru-RU" i="1" dirty="0"/>
              <a:t> </a:t>
            </a:r>
            <a:r>
              <a:rPr lang="ru-RU" dirty="0" err="1"/>
              <a:t>је</a:t>
            </a:r>
            <a:r>
              <a:rPr lang="ru-RU" dirty="0"/>
              <a:t> </a:t>
            </a:r>
            <a:r>
              <a:rPr lang="ru-RU" dirty="0" err="1"/>
              <a:t>правно</a:t>
            </a:r>
            <a:r>
              <a:rPr lang="ru-RU" dirty="0"/>
              <a:t> или </a:t>
            </a:r>
            <a:r>
              <a:rPr lang="ru-RU" dirty="0" err="1"/>
              <a:t>физичко</a:t>
            </a:r>
            <a:r>
              <a:rPr lang="ru-RU" dirty="0"/>
              <a:t> лице </a:t>
            </a:r>
            <a:r>
              <a:rPr lang="ru-RU" dirty="0" err="1"/>
              <a:t>чијим</a:t>
            </a:r>
            <a:r>
              <a:rPr lang="ru-RU" dirty="0"/>
              <a:t> </a:t>
            </a:r>
            <a:r>
              <a:rPr lang="ru-RU" dirty="0" err="1"/>
              <a:t>деловањем</a:t>
            </a:r>
            <a:r>
              <a:rPr lang="ru-RU" dirty="0"/>
              <a:t> </a:t>
            </a:r>
            <a:r>
              <a:rPr lang="ru-RU" dirty="0" err="1"/>
              <a:t>настаје</a:t>
            </a:r>
            <a:r>
              <a:rPr lang="ru-RU" dirty="0"/>
              <a:t> </a:t>
            </a:r>
            <a:r>
              <a:rPr lang="ru-RU" dirty="0" err="1"/>
              <a:t>архивска</a:t>
            </a:r>
            <a:r>
              <a:rPr lang="ru-RU" dirty="0"/>
              <a:t> </a:t>
            </a:r>
            <a:r>
              <a:rPr lang="ru-RU" dirty="0" err="1"/>
              <a:t>грађа</a:t>
            </a:r>
            <a:r>
              <a:rPr lang="ru-RU" dirty="0"/>
              <a:t> и </a:t>
            </a:r>
            <a:r>
              <a:rPr lang="ru-RU" dirty="0" err="1"/>
              <a:t>документарни</a:t>
            </a:r>
            <a:r>
              <a:rPr lang="ru-RU" dirty="0"/>
              <a:t> </a:t>
            </a:r>
            <a:r>
              <a:rPr lang="ru-RU" dirty="0" err="1"/>
              <a:t>материјал</a:t>
            </a:r>
            <a:r>
              <a:rPr lang="ru-RU" dirty="0"/>
              <a:t> (у </a:t>
            </a:r>
            <a:r>
              <a:rPr lang="ru-RU" dirty="0" err="1"/>
              <a:t>даљем</a:t>
            </a:r>
            <a:r>
              <a:rPr lang="ru-RU" dirty="0"/>
              <a:t> тексту: </a:t>
            </a:r>
            <a:r>
              <a:rPr lang="ru-RU" dirty="0" err="1"/>
              <a:t>стваралац</a:t>
            </a:r>
            <a:r>
              <a:rPr lang="ru-RU" dirty="0"/>
              <a:t>).</a:t>
            </a:r>
          </a:p>
          <a:p>
            <a:endParaRPr lang="ru-RU" i="1" dirty="0"/>
          </a:p>
          <a:p>
            <a:r>
              <a:rPr lang="ru-RU" i="1" dirty="0" err="1" smtClean="0"/>
              <a:t>Ималац</a:t>
            </a:r>
            <a:r>
              <a:rPr lang="ru-RU" i="1" dirty="0" smtClean="0"/>
              <a:t> </a:t>
            </a:r>
            <a:r>
              <a:rPr lang="ru-RU" i="1" dirty="0" err="1"/>
              <a:t>архивске</a:t>
            </a:r>
            <a:r>
              <a:rPr lang="ru-RU" i="1" dirty="0"/>
              <a:t> </a:t>
            </a:r>
            <a:r>
              <a:rPr lang="ru-RU" i="1" dirty="0" err="1"/>
              <a:t>грађе</a:t>
            </a:r>
            <a:r>
              <a:rPr lang="ru-RU" i="1" dirty="0"/>
              <a:t> и </a:t>
            </a:r>
            <a:r>
              <a:rPr lang="ru-RU" i="1" dirty="0" err="1"/>
              <a:t>документарног</a:t>
            </a:r>
            <a:r>
              <a:rPr lang="ru-RU" i="1" dirty="0"/>
              <a:t> </a:t>
            </a:r>
            <a:r>
              <a:rPr lang="ru-RU" i="1" dirty="0" err="1"/>
              <a:t>материјала</a:t>
            </a:r>
            <a:r>
              <a:rPr lang="ru-RU" i="1" dirty="0"/>
              <a:t> </a:t>
            </a:r>
            <a:r>
              <a:rPr lang="ru-RU" dirty="0" err="1"/>
              <a:t>је</a:t>
            </a:r>
            <a:r>
              <a:rPr lang="ru-RU" dirty="0"/>
              <a:t> </a:t>
            </a:r>
            <a:r>
              <a:rPr lang="ru-RU" dirty="0" err="1"/>
              <a:t>носилац</a:t>
            </a:r>
            <a:r>
              <a:rPr lang="ru-RU" dirty="0"/>
              <a:t> права на </a:t>
            </a:r>
            <a:r>
              <a:rPr lang="ru-RU" dirty="0" err="1"/>
              <a:t>архивској</a:t>
            </a:r>
            <a:r>
              <a:rPr lang="ru-RU" dirty="0"/>
              <a:t> </a:t>
            </a:r>
            <a:r>
              <a:rPr lang="ru-RU" dirty="0" err="1"/>
              <a:t>грађи</a:t>
            </a:r>
            <a:r>
              <a:rPr lang="ru-RU" dirty="0"/>
              <a:t> и документарном </a:t>
            </a:r>
            <a:r>
              <a:rPr lang="ru-RU" dirty="0" err="1"/>
              <a:t>материјалу</a:t>
            </a:r>
            <a:r>
              <a:rPr lang="ru-RU" dirty="0"/>
              <a:t> (</a:t>
            </a:r>
            <a:r>
              <a:rPr lang="ru-RU" dirty="0" err="1"/>
              <a:t>власник</a:t>
            </a:r>
            <a:r>
              <a:rPr lang="ru-RU" dirty="0"/>
              <a:t>, </a:t>
            </a:r>
            <a:r>
              <a:rPr lang="ru-RU" dirty="0" err="1"/>
              <a:t>односно</a:t>
            </a:r>
            <a:r>
              <a:rPr lang="ru-RU" dirty="0"/>
              <a:t> </a:t>
            </a:r>
            <a:r>
              <a:rPr lang="ru-RU" dirty="0" err="1"/>
              <a:t>ималац</a:t>
            </a:r>
            <a:r>
              <a:rPr lang="ru-RU" dirty="0"/>
              <a:t> </a:t>
            </a:r>
            <a:r>
              <a:rPr lang="ru-RU" dirty="0" err="1"/>
              <a:t>другог</a:t>
            </a:r>
            <a:r>
              <a:rPr lang="ru-RU" dirty="0"/>
              <a:t> </a:t>
            </a:r>
            <a:r>
              <a:rPr lang="ru-RU" dirty="0" err="1"/>
              <a:t>стварног</a:t>
            </a:r>
            <a:r>
              <a:rPr lang="ru-RU" dirty="0"/>
              <a:t> права или страна у </a:t>
            </a:r>
            <a:r>
              <a:rPr lang="ru-RU" dirty="0" err="1"/>
              <a:t>облигационом</a:t>
            </a:r>
            <a:r>
              <a:rPr lang="ru-RU" dirty="0"/>
              <a:t> </a:t>
            </a:r>
            <a:r>
              <a:rPr lang="ru-RU" dirty="0" err="1"/>
              <a:t>односу</a:t>
            </a:r>
            <a:r>
              <a:rPr lang="ru-RU" dirty="0"/>
              <a:t>) или </a:t>
            </a:r>
            <a:r>
              <a:rPr lang="ru-RU" dirty="0" err="1"/>
              <a:t>свако</a:t>
            </a:r>
            <a:r>
              <a:rPr lang="ru-RU" dirty="0"/>
              <a:t> </a:t>
            </a:r>
            <a:r>
              <a:rPr lang="ru-RU" dirty="0" err="1"/>
              <a:t>друго</a:t>
            </a:r>
            <a:r>
              <a:rPr lang="ru-RU" dirty="0"/>
              <a:t> (</a:t>
            </a:r>
            <a:r>
              <a:rPr lang="ru-RU" dirty="0" err="1"/>
              <a:t>правно</a:t>
            </a:r>
            <a:r>
              <a:rPr lang="ru-RU" dirty="0"/>
              <a:t> или </a:t>
            </a:r>
            <a:r>
              <a:rPr lang="ru-RU" dirty="0" err="1"/>
              <a:t>физичко</a:t>
            </a:r>
            <a:r>
              <a:rPr lang="ru-RU" dirty="0"/>
              <a:t>) лице </a:t>
            </a:r>
            <a:r>
              <a:rPr lang="ru-RU" dirty="0" err="1"/>
              <a:t>које</a:t>
            </a:r>
            <a:r>
              <a:rPr lang="ru-RU" dirty="0"/>
              <a:t>, на било </a:t>
            </a:r>
            <a:r>
              <a:rPr lang="ru-RU" dirty="0" err="1"/>
              <a:t>који</a:t>
            </a:r>
            <a:r>
              <a:rPr lang="ru-RU" dirty="0"/>
              <a:t> начин и по било </a:t>
            </a:r>
            <a:r>
              <a:rPr lang="ru-RU" dirty="0" err="1"/>
              <a:t>којем</a:t>
            </a:r>
            <a:r>
              <a:rPr lang="ru-RU" dirty="0"/>
              <a:t> основу </a:t>
            </a:r>
            <a:r>
              <a:rPr lang="ru-RU" dirty="0" err="1"/>
              <a:t>има</a:t>
            </a:r>
            <a:r>
              <a:rPr lang="ru-RU" dirty="0"/>
              <a:t> </a:t>
            </a:r>
            <a:r>
              <a:rPr lang="ru-RU" dirty="0" err="1"/>
              <a:t>државину</a:t>
            </a:r>
            <a:r>
              <a:rPr lang="ru-RU" dirty="0"/>
              <a:t> над </a:t>
            </a:r>
            <a:r>
              <a:rPr lang="ru-RU" dirty="0" err="1"/>
              <a:t>њом</a:t>
            </a:r>
            <a:r>
              <a:rPr lang="ru-RU" dirty="0"/>
              <a:t> (у </a:t>
            </a:r>
            <a:r>
              <a:rPr lang="ru-RU" dirty="0" err="1"/>
              <a:t>даљем</a:t>
            </a:r>
            <a:r>
              <a:rPr lang="ru-RU" dirty="0"/>
              <a:t> тексту: </a:t>
            </a:r>
            <a:r>
              <a:rPr lang="ru-RU" dirty="0" err="1"/>
              <a:t>ималац</a:t>
            </a:r>
            <a:r>
              <a:rPr lang="ru-RU" dirty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70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5536" y="476671"/>
            <a:ext cx="842493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2. </a:t>
            </a:r>
            <a:r>
              <a:rPr lang="ru-RU" b="1" dirty="0" err="1"/>
              <a:t>Које</a:t>
            </a:r>
            <a:r>
              <a:rPr lang="ru-RU" b="1" dirty="0"/>
              <a:t> </a:t>
            </a:r>
            <a:r>
              <a:rPr lang="ru-RU" b="1" dirty="0" err="1"/>
              <a:t>електронске</a:t>
            </a:r>
            <a:r>
              <a:rPr lang="ru-RU" b="1" dirty="0"/>
              <a:t> документе </a:t>
            </a:r>
            <a:r>
              <a:rPr lang="ru-RU" b="1" dirty="0" smtClean="0"/>
              <a:t>треба </a:t>
            </a:r>
            <a:r>
              <a:rPr lang="ru-RU" b="1" dirty="0" err="1" smtClean="0"/>
              <a:t>архивирати</a:t>
            </a:r>
            <a:r>
              <a:rPr lang="ru-RU" b="1" dirty="0" smtClean="0"/>
              <a:t>?</a:t>
            </a:r>
          </a:p>
          <a:p>
            <a:endParaRPr lang="ru-RU" dirty="0"/>
          </a:p>
          <a:p>
            <a:pPr algn="just"/>
            <a:endParaRPr lang="ru-RU" dirty="0"/>
          </a:p>
          <a:p>
            <a:pPr algn="just"/>
            <a:r>
              <a:rPr lang="ru-RU" dirty="0" err="1"/>
              <a:t>Електронски</a:t>
            </a:r>
            <a:r>
              <a:rPr lang="ru-RU" dirty="0"/>
              <a:t> се </a:t>
            </a:r>
            <a:r>
              <a:rPr lang="ru-RU" dirty="0" err="1"/>
              <a:t>архивирају</a:t>
            </a:r>
            <a:r>
              <a:rPr lang="ru-RU" dirty="0"/>
              <a:t> </a:t>
            </a:r>
            <a:r>
              <a:rPr lang="ru-RU" dirty="0" err="1"/>
              <a:t>сви</a:t>
            </a:r>
            <a:r>
              <a:rPr lang="ru-RU" dirty="0"/>
              <a:t> </a:t>
            </a:r>
            <a:r>
              <a:rPr lang="ru-RU" dirty="0" err="1"/>
              <a:t>документи</a:t>
            </a:r>
            <a:r>
              <a:rPr lang="ru-RU" dirty="0"/>
              <a:t> </a:t>
            </a:r>
            <a:r>
              <a:rPr lang="ru-RU" dirty="0" err="1" smtClean="0"/>
              <a:t>који</a:t>
            </a:r>
            <a:r>
              <a:rPr lang="ru-RU" dirty="0" smtClean="0"/>
              <a:t> су настали у </a:t>
            </a:r>
            <a:r>
              <a:rPr lang="ru-RU" dirty="0" err="1" smtClean="0"/>
              <a:t>електронском</a:t>
            </a:r>
            <a:r>
              <a:rPr lang="ru-RU" dirty="0" smtClean="0"/>
              <a:t> облику, при чему су:</a:t>
            </a:r>
          </a:p>
          <a:p>
            <a:pPr algn="just"/>
            <a:endParaRPr lang="ru-RU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ru-RU" dirty="0" err="1" smtClean="0"/>
              <a:t>оригинали</a:t>
            </a:r>
            <a:r>
              <a:rPr lang="ru-RU" dirty="0" smtClean="0"/>
              <a:t> </a:t>
            </a:r>
            <a:r>
              <a:rPr lang="ru-RU" dirty="0"/>
              <a:t>или </a:t>
            </a:r>
            <a:r>
              <a:rPr lang="ru-RU" dirty="0" err="1"/>
              <a:t>имају</a:t>
            </a:r>
            <a:r>
              <a:rPr lang="ru-RU" dirty="0"/>
              <a:t> </a:t>
            </a:r>
            <a:r>
              <a:rPr lang="ru-RU" dirty="0" err="1"/>
              <a:t>доказну</a:t>
            </a:r>
            <a:r>
              <a:rPr lang="ru-RU" dirty="0"/>
              <a:t> </a:t>
            </a:r>
            <a:r>
              <a:rPr lang="ru-RU" dirty="0" err="1"/>
              <a:t>снагу</a:t>
            </a:r>
            <a:r>
              <a:rPr lang="ru-RU" dirty="0"/>
              <a:t> </a:t>
            </a:r>
            <a:r>
              <a:rPr lang="ru-RU" dirty="0" smtClean="0"/>
              <a:t>оригинала,</a:t>
            </a:r>
            <a:endParaRPr lang="ru-RU" dirty="0"/>
          </a:p>
          <a:p>
            <a:pPr algn="just"/>
            <a:endParaRPr lang="ru-RU" dirty="0" smtClean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 err="1" smtClean="0"/>
              <a:t>који</a:t>
            </a:r>
            <a:r>
              <a:rPr lang="ru-RU" dirty="0" smtClean="0"/>
              <a:t> су настали </a:t>
            </a:r>
            <a:r>
              <a:rPr lang="ru-RU" dirty="0"/>
              <a:t>у вашем раду или радом </a:t>
            </a:r>
            <a:r>
              <a:rPr lang="ru-RU" dirty="0" err="1"/>
              <a:t>другог</a:t>
            </a:r>
            <a:r>
              <a:rPr lang="ru-RU" dirty="0"/>
              <a:t> </a:t>
            </a:r>
            <a:r>
              <a:rPr lang="ru-RU" dirty="0" err="1"/>
              <a:t>субјекту</a:t>
            </a:r>
            <a:r>
              <a:rPr lang="ru-RU" dirty="0"/>
              <a:t>, а </a:t>
            </a:r>
            <a:r>
              <a:rPr lang="ru-RU" dirty="0" err="1"/>
              <a:t>налазе</a:t>
            </a:r>
            <a:r>
              <a:rPr lang="ru-RU" dirty="0"/>
              <a:t> се у вашем </a:t>
            </a:r>
            <a:r>
              <a:rPr lang="ru-RU" dirty="0" err="1"/>
              <a:t>поседу</a:t>
            </a:r>
            <a:r>
              <a:rPr lang="ru-RU" dirty="0"/>
              <a:t> по било ком основу (пример: </a:t>
            </a:r>
            <a:r>
              <a:rPr lang="ru-RU" dirty="0" err="1"/>
              <a:t>улазне</a:t>
            </a:r>
            <a:r>
              <a:rPr lang="ru-RU" dirty="0"/>
              <a:t> </a:t>
            </a:r>
            <a:r>
              <a:rPr lang="ru-RU" dirty="0" smtClean="0"/>
              <a:t>е-фактуре, е-</a:t>
            </a:r>
            <a:r>
              <a:rPr lang="ru-RU" dirty="0" err="1" smtClean="0"/>
              <a:t>отпремнице</a:t>
            </a:r>
            <a:r>
              <a:rPr lang="ru-RU" dirty="0" smtClean="0"/>
              <a:t>)</a:t>
            </a:r>
          </a:p>
          <a:p>
            <a:pPr algn="just"/>
            <a:endParaRPr lang="ru-RU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ru-RU" dirty="0" err="1" smtClean="0"/>
              <a:t>који</a:t>
            </a:r>
            <a:r>
              <a:rPr lang="ru-RU" dirty="0" smtClean="0"/>
              <a:t> </a:t>
            </a:r>
            <a:r>
              <a:rPr lang="ru-RU" dirty="0" err="1" smtClean="0"/>
              <a:t>имају</a:t>
            </a:r>
            <a:r>
              <a:rPr lang="ru-RU" dirty="0" smtClean="0"/>
              <a:t> </a:t>
            </a:r>
            <a:r>
              <a:rPr lang="ru-RU" dirty="0"/>
              <a:t>прописан рок </a:t>
            </a:r>
            <a:r>
              <a:rPr lang="ru-RU" dirty="0" err="1" smtClean="0"/>
              <a:t>чувања</a:t>
            </a:r>
            <a:endParaRPr lang="ru-RU" dirty="0" smtClean="0"/>
          </a:p>
          <a:p>
            <a:pPr algn="just"/>
            <a:endParaRPr lang="ru-RU" dirty="0"/>
          </a:p>
          <a:p>
            <a:pPr algn="just"/>
            <a:r>
              <a:rPr lang="ru-RU" dirty="0"/>
              <a:t>За сада не </a:t>
            </a:r>
            <a:r>
              <a:rPr lang="ru-RU" dirty="0" err="1"/>
              <a:t>постоји</a:t>
            </a:r>
            <a:r>
              <a:rPr lang="ru-RU" dirty="0"/>
              <a:t> </a:t>
            </a:r>
            <a:r>
              <a:rPr lang="ru-RU" dirty="0" err="1"/>
              <a:t>званично</a:t>
            </a:r>
            <a:r>
              <a:rPr lang="ru-RU" dirty="0"/>
              <a:t> </a:t>
            </a:r>
            <a:r>
              <a:rPr lang="ru-RU" dirty="0" err="1"/>
              <a:t>тумачење</a:t>
            </a:r>
            <a:r>
              <a:rPr lang="ru-RU" dirty="0"/>
              <a:t> да </a:t>
            </a:r>
            <a:r>
              <a:rPr lang="ru-RU" dirty="0" err="1"/>
              <a:t>ће</a:t>
            </a:r>
            <a:r>
              <a:rPr lang="ru-RU" dirty="0"/>
              <a:t> се </a:t>
            </a:r>
            <a:r>
              <a:rPr lang="ru-RU" dirty="0" err="1"/>
              <a:t>Уредба</a:t>
            </a:r>
            <a:r>
              <a:rPr lang="ru-RU" dirty="0"/>
              <a:t> </a:t>
            </a:r>
            <a:r>
              <a:rPr lang="ru-RU" dirty="0" err="1"/>
              <a:t>примењивати</a:t>
            </a:r>
            <a:r>
              <a:rPr lang="ru-RU" dirty="0"/>
              <a:t> на документе </a:t>
            </a:r>
            <a:r>
              <a:rPr lang="ru-RU" dirty="0" err="1"/>
              <a:t>настале</a:t>
            </a:r>
            <a:r>
              <a:rPr lang="ru-RU" dirty="0"/>
              <a:t> пре 1. </a:t>
            </a:r>
            <a:r>
              <a:rPr lang="ru-RU" dirty="0" err="1"/>
              <a:t>јануара</a:t>
            </a:r>
            <a:r>
              <a:rPr lang="ru-RU" dirty="0"/>
              <a:t> 2024. </a:t>
            </a:r>
            <a:r>
              <a:rPr lang="ru-RU" dirty="0" smtClean="0"/>
              <a:t>године, али и </a:t>
            </a:r>
            <a:r>
              <a:rPr lang="ru-RU" dirty="0" err="1" smtClean="0"/>
              <a:t>оригиналне</a:t>
            </a:r>
            <a:r>
              <a:rPr lang="ru-RU" dirty="0" smtClean="0"/>
              <a:t> </a:t>
            </a:r>
            <a:r>
              <a:rPr lang="ru-RU" dirty="0" err="1"/>
              <a:t>електронске</a:t>
            </a:r>
            <a:r>
              <a:rPr lang="ru-RU" dirty="0"/>
              <a:t> документе </a:t>
            </a:r>
            <a:r>
              <a:rPr lang="ru-RU" dirty="0" err="1"/>
              <a:t>који</a:t>
            </a:r>
            <a:r>
              <a:rPr lang="ru-RU" dirty="0"/>
              <a:t> су у </a:t>
            </a:r>
            <a:r>
              <a:rPr lang="ru-RU" dirty="0" err="1"/>
              <a:t>поседу</a:t>
            </a:r>
            <a:r>
              <a:rPr lang="ru-RU" dirty="0"/>
              <a:t> </a:t>
            </a:r>
            <a:r>
              <a:rPr lang="ru-RU" dirty="0" err="1"/>
              <a:t>субјекта</a:t>
            </a:r>
            <a:r>
              <a:rPr lang="ru-RU" dirty="0"/>
              <a:t>, без </a:t>
            </a:r>
            <a:r>
              <a:rPr lang="ru-RU" dirty="0" err="1"/>
              <a:t>обзира</a:t>
            </a:r>
            <a:r>
              <a:rPr lang="ru-RU" dirty="0"/>
              <a:t> </a:t>
            </a:r>
            <a:r>
              <a:rPr lang="ru-RU" dirty="0" err="1"/>
              <a:t>када</a:t>
            </a:r>
            <a:r>
              <a:rPr lang="ru-RU" dirty="0"/>
              <a:t> су настали, а за </a:t>
            </a:r>
            <a:r>
              <a:rPr lang="ru-RU" dirty="0" err="1"/>
              <a:t>које</a:t>
            </a:r>
            <a:r>
              <a:rPr lang="ru-RU" dirty="0"/>
              <a:t> </a:t>
            </a:r>
            <a:r>
              <a:rPr lang="ru-RU" dirty="0" err="1"/>
              <a:t>није</a:t>
            </a:r>
            <a:r>
              <a:rPr lang="ru-RU" dirty="0"/>
              <a:t> </a:t>
            </a:r>
            <a:r>
              <a:rPr lang="ru-RU" dirty="0" err="1"/>
              <a:t>истекао</a:t>
            </a:r>
            <a:r>
              <a:rPr lang="ru-RU" dirty="0"/>
              <a:t> рок </a:t>
            </a:r>
            <a:r>
              <a:rPr lang="ru-RU" dirty="0" err="1"/>
              <a:t>чувања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776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5536" y="476671"/>
            <a:ext cx="842493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/>
              <a:t>3. </a:t>
            </a:r>
            <a:r>
              <a:rPr lang="ru-RU" b="1" dirty="0" err="1" smtClean="0"/>
              <a:t>Шта</a:t>
            </a:r>
            <a:r>
              <a:rPr lang="ru-RU" b="1" dirty="0" smtClean="0"/>
              <a:t> </a:t>
            </a:r>
            <a:r>
              <a:rPr lang="ru-RU" b="1" dirty="0" err="1" smtClean="0"/>
              <a:t>је</a:t>
            </a:r>
            <a:r>
              <a:rPr lang="ru-RU" b="1" dirty="0" smtClean="0"/>
              <a:t> </a:t>
            </a:r>
            <a:r>
              <a:rPr lang="ru-RU" b="1" dirty="0" err="1" smtClean="0"/>
              <a:t>процес</a:t>
            </a:r>
            <a:r>
              <a:rPr lang="ru-RU" b="1" dirty="0" smtClean="0"/>
              <a:t> </a:t>
            </a:r>
            <a:r>
              <a:rPr lang="ru-RU" b="1" dirty="0" err="1" smtClean="0"/>
              <a:t>дигитализације</a:t>
            </a:r>
            <a:r>
              <a:rPr lang="ru-RU" b="1" dirty="0" smtClean="0"/>
              <a:t> </a:t>
            </a:r>
            <a:r>
              <a:rPr lang="ru-RU" b="1" dirty="0"/>
              <a:t>у </a:t>
            </a:r>
            <a:r>
              <a:rPr lang="ru-RU" b="1" dirty="0" err="1"/>
              <a:t>смислу</a:t>
            </a:r>
            <a:r>
              <a:rPr lang="ru-RU" b="1" dirty="0"/>
              <a:t> Закона о </a:t>
            </a:r>
            <a:r>
              <a:rPr lang="ru-RU" b="1" dirty="0" err="1"/>
              <a:t>електронском</a:t>
            </a:r>
            <a:r>
              <a:rPr lang="ru-RU" b="1" dirty="0"/>
              <a:t> документу, </a:t>
            </a:r>
            <a:r>
              <a:rPr lang="ru-RU" b="1" dirty="0" err="1"/>
              <a:t>електронској</a:t>
            </a:r>
            <a:r>
              <a:rPr lang="ru-RU" b="1" dirty="0"/>
              <a:t> </a:t>
            </a:r>
            <a:r>
              <a:rPr lang="ru-RU" b="1" dirty="0" err="1"/>
              <a:t>идентификацији</a:t>
            </a:r>
            <a:r>
              <a:rPr lang="ru-RU" b="1" dirty="0"/>
              <a:t> и </a:t>
            </a:r>
            <a:r>
              <a:rPr lang="ru-RU" b="1" dirty="0" err="1"/>
              <a:t>услугама</a:t>
            </a:r>
            <a:r>
              <a:rPr lang="ru-RU" b="1" dirty="0"/>
              <a:t> од </a:t>
            </a:r>
            <a:r>
              <a:rPr lang="ru-RU" b="1" dirty="0" err="1"/>
              <a:t>поверења</a:t>
            </a:r>
            <a:r>
              <a:rPr lang="ru-RU" b="1" dirty="0"/>
              <a:t> у </a:t>
            </a:r>
            <a:r>
              <a:rPr lang="ru-RU" b="1" dirty="0" err="1"/>
              <a:t>електронском</a:t>
            </a:r>
            <a:r>
              <a:rPr lang="ru-RU" b="1" dirty="0"/>
              <a:t> </a:t>
            </a:r>
            <a:r>
              <a:rPr lang="ru-RU" b="1" dirty="0" err="1"/>
              <a:t>пословању</a:t>
            </a:r>
            <a:r>
              <a:rPr lang="ru-RU" b="1" dirty="0"/>
              <a:t>?</a:t>
            </a:r>
          </a:p>
          <a:p>
            <a:pPr algn="just"/>
            <a:r>
              <a:rPr lang="ru-RU" dirty="0"/>
              <a:t/>
            </a:r>
            <a:br>
              <a:rPr lang="ru-RU" dirty="0"/>
            </a:br>
            <a:r>
              <a:rPr lang="ru-RU" dirty="0" err="1"/>
              <a:t>Дигитализација</a:t>
            </a:r>
            <a:r>
              <a:rPr lang="ru-RU" dirty="0"/>
              <a:t> у </a:t>
            </a:r>
            <a:r>
              <a:rPr lang="ru-RU" dirty="0" err="1"/>
              <a:t>смислу</a:t>
            </a:r>
            <a:r>
              <a:rPr lang="ru-RU" dirty="0"/>
              <a:t> </a:t>
            </a:r>
            <a:r>
              <a:rPr lang="ru-RU" dirty="0" err="1"/>
              <a:t>овог</a:t>
            </a:r>
            <a:r>
              <a:rPr lang="ru-RU" dirty="0"/>
              <a:t> закона </a:t>
            </a:r>
            <a:r>
              <a:rPr lang="ru-RU" dirty="0" err="1"/>
              <a:t>представља</a:t>
            </a:r>
            <a:r>
              <a:rPr lang="ru-RU" dirty="0"/>
              <a:t> </a:t>
            </a:r>
            <a:r>
              <a:rPr lang="ru-RU" dirty="0" err="1"/>
              <a:t>конверзију</a:t>
            </a:r>
            <a:r>
              <a:rPr lang="ru-RU" dirty="0"/>
              <a:t> документа </a:t>
            </a:r>
            <a:r>
              <a:rPr lang="ru-RU" dirty="0" err="1"/>
              <a:t>који</a:t>
            </a:r>
            <a:r>
              <a:rPr lang="ru-RU" dirty="0"/>
              <a:t> </a:t>
            </a:r>
            <a:r>
              <a:rPr lang="ru-RU" dirty="0" err="1"/>
              <a:t>није</a:t>
            </a:r>
            <a:r>
              <a:rPr lang="ru-RU" dirty="0"/>
              <a:t> </a:t>
            </a:r>
            <a:r>
              <a:rPr lang="ru-RU" dirty="0" err="1" smtClean="0"/>
              <a:t>изворно</a:t>
            </a:r>
            <a:r>
              <a:rPr lang="ru-RU" dirty="0" smtClean="0"/>
              <a:t> </a:t>
            </a:r>
            <a:r>
              <a:rPr lang="ru-RU" dirty="0" err="1" smtClean="0"/>
              <a:t>настао</a:t>
            </a:r>
            <a:r>
              <a:rPr lang="ru-RU" dirty="0" smtClean="0"/>
              <a:t> у </a:t>
            </a:r>
            <a:r>
              <a:rPr lang="ru-RU" dirty="0" err="1"/>
              <a:t>електронском</a:t>
            </a:r>
            <a:r>
              <a:rPr lang="ru-RU" dirty="0"/>
              <a:t> облику у </a:t>
            </a:r>
            <a:r>
              <a:rPr lang="ru-RU" dirty="0" err="1"/>
              <a:t>електронски</a:t>
            </a:r>
            <a:r>
              <a:rPr lang="ru-RU" dirty="0"/>
              <a:t> облик. Акт </a:t>
            </a:r>
            <a:r>
              <a:rPr lang="ru-RU" dirty="0" err="1"/>
              <a:t>тј</a:t>
            </a:r>
            <a:r>
              <a:rPr lang="ru-RU" dirty="0"/>
              <a:t>. документ </a:t>
            </a:r>
            <a:r>
              <a:rPr lang="ru-RU" dirty="0" err="1"/>
              <a:t>који</a:t>
            </a:r>
            <a:r>
              <a:rPr lang="ru-RU" dirty="0"/>
              <a:t> </a:t>
            </a:r>
            <a:r>
              <a:rPr lang="ru-RU" dirty="0" err="1"/>
              <a:t>је</a:t>
            </a:r>
            <a:r>
              <a:rPr lang="ru-RU" dirty="0"/>
              <a:t> </a:t>
            </a:r>
            <a:r>
              <a:rPr lang="ru-RU" dirty="0" err="1"/>
              <a:t>дигитализован</a:t>
            </a:r>
            <a:r>
              <a:rPr lang="ru-RU" dirty="0"/>
              <a:t> </a:t>
            </a:r>
            <a:r>
              <a:rPr lang="ru-RU" dirty="0" err="1"/>
              <a:t>има</a:t>
            </a:r>
            <a:r>
              <a:rPr lang="ru-RU" dirty="0"/>
              <a:t> </a:t>
            </a:r>
            <a:r>
              <a:rPr lang="ru-RU" dirty="0" err="1"/>
              <a:t>исту</a:t>
            </a:r>
            <a:r>
              <a:rPr lang="ru-RU" dirty="0"/>
              <a:t> </a:t>
            </a:r>
            <a:r>
              <a:rPr lang="ru-RU" dirty="0" err="1"/>
              <a:t>доказну</a:t>
            </a:r>
            <a:r>
              <a:rPr lang="ru-RU" dirty="0"/>
              <a:t> </a:t>
            </a:r>
            <a:r>
              <a:rPr lang="ru-RU" dirty="0" err="1"/>
              <a:t>снагу</a:t>
            </a:r>
            <a:r>
              <a:rPr lang="ru-RU" dirty="0"/>
              <a:t> </a:t>
            </a:r>
            <a:r>
              <a:rPr lang="ru-RU" dirty="0" err="1"/>
              <a:t>као</a:t>
            </a:r>
            <a:r>
              <a:rPr lang="ru-RU" dirty="0"/>
              <a:t> </a:t>
            </a:r>
            <a:r>
              <a:rPr lang="ru-RU" dirty="0" err="1"/>
              <a:t>оригинални</a:t>
            </a:r>
            <a:r>
              <a:rPr lang="ru-RU" dirty="0"/>
              <a:t> акт, </a:t>
            </a:r>
            <a:r>
              <a:rPr lang="ru-RU" dirty="0" err="1"/>
              <a:t>ако</a:t>
            </a:r>
            <a:r>
              <a:rPr lang="ru-RU" dirty="0"/>
              <a:t> су </a:t>
            </a:r>
            <a:r>
              <a:rPr lang="ru-RU" dirty="0" err="1"/>
              <a:t>кумулативно</a:t>
            </a:r>
            <a:r>
              <a:rPr lang="ru-RU" dirty="0"/>
              <a:t> </a:t>
            </a:r>
            <a:r>
              <a:rPr lang="ru-RU" dirty="0" err="1"/>
              <a:t>испуњени</a:t>
            </a:r>
            <a:r>
              <a:rPr lang="ru-RU" dirty="0"/>
              <a:t> </a:t>
            </a:r>
            <a:r>
              <a:rPr lang="ru-RU" dirty="0" err="1"/>
              <a:t>следећи</a:t>
            </a:r>
            <a:r>
              <a:rPr lang="ru-RU" dirty="0"/>
              <a:t> </a:t>
            </a:r>
            <a:r>
              <a:rPr lang="ru-RU" dirty="0" err="1"/>
              <a:t>услови</a:t>
            </a:r>
            <a:r>
              <a:rPr lang="ru-RU" dirty="0"/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да </a:t>
            </a:r>
            <a:r>
              <a:rPr lang="ru-RU" dirty="0" err="1"/>
              <a:t>је</a:t>
            </a:r>
            <a:r>
              <a:rPr lang="ru-RU" dirty="0"/>
              <a:t> </a:t>
            </a:r>
            <a:r>
              <a:rPr lang="ru-RU" dirty="0" err="1"/>
              <a:t>дигитализација</a:t>
            </a:r>
            <a:r>
              <a:rPr lang="ru-RU" dirty="0"/>
              <a:t> акта </a:t>
            </a:r>
            <a:r>
              <a:rPr lang="ru-RU" dirty="0" err="1"/>
              <a:t>спроведена</a:t>
            </a:r>
            <a:r>
              <a:rPr lang="ru-RU" dirty="0"/>
              <a:t> </a:t>
            </a:r>
            <a:r>
              <a:rPr lang="ru-RU" dirty="0" err="1" smtClean="0"/>
              <a:t>правилно</a:t>
            </a:r>
            <a:endParaRPr lang="ru-RU" dirty="0"/>
          </a:p>
          <a:p>
            <a:pPr algn="just"/>
            <a:r>
              <a:rPr lang="ru-RU" dirty="0" err="1"/>
              <a:t>предузетника</a:t>
            </a:r>
            <a:r>
              <a:rPr lang="ru-RU" dirty="0"/>
              <a:t> или </a:t>
            </a:r>
            <a:r>
              <a:rPr lang="ru-RU" dirty="0" err="1"/>
              <a:t>овлашћеног</a:t>
            </a:r>
            <a:r>
              <a:rPr lang="ru-RU" dirty="0"/>
              <a:t> лица код </a:t>
            </a:r>
            <a:r>
              <a:rPr lang="ru-RU" dirty="0" err="1"/>
              <a:t>предузетника</a:t>
            </a:r>
            <a:r>
              <a:rPr lang="ru-RU" dirty="0"/>
              <a:t>*</a:t>
            </a:r>
          </a:p>
          <a:p>
            <a:pPr algn="just"/>
            <a:r>
              <a:rPr lang="ru-RU" dirty="0" err="1"/>
              <a:t>овлашћеног</a:t>
            </a:r>
            <a:r>
              <a:rPr lang="ru-RU" dirty="0"/>
              <a:t> лица у </a:t>
            </a:r>
            <a:r>
              <a:rPr lang="ru-RU" dirty="0" err="1"/>
              <a:t>оквиру</a:t>
            </a:r>
            <a:r>
              <a:rPr lang="ru-RU" dirty="0"/>
              <a:t> </a:t>
            </a:r>
            <a:r>
              <a:rPr lang="ru-RU" dirty="0" err="1"/>
              <a:t>правног</a:t>
            </a:r>
            <a:r>
              <a:rPr lang="ru-RU" dirty="0"/>
              <a:t> лица, или лица </a:t>
            </a:r>
            <a:r>
              <a:rPr lang="ru-RU" dirty="0" err="1"/>
              <a:t>овлашћеног</a:t>
            </a:r>
            <a:r>
              <a:rPr lang="ru-RU" dirty="0"/>
              <a:t> од стране тог лица</a:t>
            </a:r>
          </a:p>
          <a:p>
            <a:pPr algn="just"/>
            <a:r>
              <a:rPr lang="ru-RU" dirty="0"/>
              <a:t>лица </a:t>
            </a:r>
            <a:r>
              <a:rPr lang="ru-RU" dirty="0" err="1"/>
              <a:t>које</a:t>
            </a:r>
            <a:r>
              <a:rPr lang="ru-RU" dirty="0"/>
              <a:t> </a:t>
            </a:r>
            <a:r>
              <a:rPr lang="ru-RU" dirty="0" err="1"/>
              <a:t>је</a:t>
            </a:r>
            <a:r>
              <a:rPr lang="ru-RU" dirty="0"/>
              <a:t> </a:t>
            </a:r>
            <a:r>
              <a:rPr lang="ru-RU" dirty="0" err="1"/>
              <a:t>овлашћено</a:t>
            </a:r>
            <a:r>
              <a:rPr lang="ru-RU" dirty="0"/>
              <a:t> за </a:t>
            </a:r>
            <a:r>
              <a:rPr lang="ru-RU" dirty="0" err="1"/>
              <a:t>оверу</a:t>
            </a:r>
            <a:r>
              <a:rPr lang="ru-RU" dirty="0"/>
              <a:t> </a:t>
            </a:r>
            <a:r>
              <a:rPr lang="ru-RU" dirty="0" err="1"/>
              <a:t>потписа</a:t>
            </a:r>
            <a:r>
              <a:rPr lang="ru-RU" dirty="0"/>
              <a:t>, </a:t>
            </a:r>
            <a:r>
              <a:rPr lang="ru-RU" dirty="0" err="1"/>
              <a:t>рукописа</a:t>
            </a:r>
            <a:r>
              <a:rPr lang="ru-RU" dirty="0"/>
              <a:t> и </a:t>
            </a:r>
            <a:r>
              <a:rPr lang="ru-RU" dirty="0" err="1"/>
              <a:t>преписа</a:t>
            </a:r>
            <a:r>
              <a:rPr lang="ru-RU" dirty="0"/>
              <a:t> (</a:t>
            </a:r>
            <a:r>
              <a:rPr lang="ru-RU" dirty="0" err="1"/>
              <a:t>нотар</a:t>
            </a:r>
            <a:r>
              <a:rPr lang="ru-RU" dirty="0"/>
              <a:t>) или</a:t>
            </a:r>
          </a:p>
          <a:p>
            <a:pPr algn="just"/>
            <a:r>
              <a:rPr lang="ru-RU" dirty="0"/>
              <a:t>лица </a:t>
            </a:r>
            <a:r>
              <a:rPr lang="ru-RU" dirty="0" err="1"/>
              <a:t>које</a:t>
            </a:r>
            <a:r>
              <a:rPr lang="ru-RU" dirty="0"/>
              <a:t> </a:t>
            </a:r>
            <a:r>
              <a:rPr lang="ru-RU" dirty="0" err="1"/>
              <a:t>је</a:t>
            </a:r>
            <a:r>
              <a:rPr lang="ru-RU" dirty="0"/>
              <a:t> </a:t>
            </a:r>
            <a:r>
              <a:rPr lang="ru-RU" dirty="0" err="1"/>
              <a:t>посебним</a:t>
            </a:r>
            <a:r>
              <a:rPr lang="ru-RU" dirty="0"/>
              <a:t> законом </a:t>
            </a:r>
            <a:r>
              <a:rPr lang="ru-RU" dirty="0" err="1"/>
              <a:t>овлашћено</a:t>
            </a:r>
            <a:r>
              <a:rPr lang="ru-RU" dirty="0"/>
              <a:t> за </a:t>
            </a:r>
            <a:r>
              <a:rPr lang="ru-RU" dirty="0" err="1"/>
              <a:t>оверу</a:t>
            </a:r>
            <a:r>
              <a:rPr lang="ru-RU" dirty="0"/>
              <a:t> </a:t>
            </a:r>
            <a:r>
              <a:rPr lang="ru-RU" dirty="0" err="1"/>
              <a:t>дигитализованог</a:t>
            </a:r>
            <a:r>
              <a:rPr lang="ru-RU" dirty="0"/>
              <a:t> акта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да </a:t>
            </a:r>
            <a:r>
              <a:rPr lang="ru-RU" dirty="0" err="1"/>
              <a:t>је</a:t>
            </a:r>
            <a:r>
              <a:rPr lang="ru-RU" dirty="0"/>
              <a:t> </a:t>
            </a:r>
            <a:r>
              <a:rPr lang="ru-RU" dirty="0" err="1"/>
              <a:t>истоветност</a:t>
            </a:r>
            <a:r>
              <a:rPr lang="ru-RU" dirty="0"/>
              <a:t> </a:t>
            </a:r>
            <a:r>
              <a:rPr lang="ru-RU" dirty="0" err="1"/>
              <a:t>дигитализованог</a:t>
            </a:r>
            <a:r>
              <a:rPr lang="ru-RU" dirty="0"/>
              <a:t> акта и оригинала </a:t>
            </a:r>
            <a:r>
              <a:rPr lang="ru-RU" dirty="0" err="1"/>
              <a:t>потврђена</a:t>
            </a:r>
            <a:r>
              <a:rPr lang="ru-RU" dirty="0"/>
              <a:t> </a:t>
            </a:r>
            <a:r>
              <a:rPr lang="ru-RU" dirty="0" err="1"/>
              <a:t>квалификованим</a:t>
            </a:r>
            <a:r>
              <a:rPr lang="ru-RU" dirty="0"/>
              <a:t> </a:t>
            </a:r>
            <a:r>
              <a:rPr lang="ru-RU" dirty="0" err="1"/>
              <a:t>електронским</a:t>
            </a:r>
            <a:r>
              <a:rPr lang="ru-RU" dirty="0"/>
              <a:t> </a:t>
            </a:r>
            <a:r>
              <a:rPr lang="ru-RU" dirty="0" err="1"/>
              <a:t>печатом</a:t>
            </a:r>
            <a:r>
              <a:rPr lang="ru-RU" dirty="0"/>
              <a:t>/</a:t>
            </a:r>
            <a:r>
              <a:rPr lang="ru-RU" dirty="0" err="1"/>
              <a:t>потписом</a:t>
            </a:r>
            <a:r>
              <a:rPr lang="ru-RU" dirty="0"/>
              <a:t> </a:t>
            </a:r>
            <a:r>
              <a:rPr lang="ru-RU" dirty="0" err="1" smtClean="0"/>
              <a:t>овлашћеног</a:t>
            </a:r>
            <a:r>
              <a:rPr lang="ru-RU" dirty="0" smtClean="0"/>
              <a:t> лица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/>
          </a:p>
          <a:p>
            <a:pPr algn="just"/>
            <a:r>
              <a:rPr lang="ru-RU" dirty="0" err="1"/>
              <a:t>Ш</a:t>
            </a:r>
            <a:r>
              <a:rPr lang="ru-RU" dirty="0" err="1" smtClean="0"/>
              <a:t>та</a:t>
            </a:r>
            <a:r>
              <a:rPr lang="ru-RU" dirty="0" smtClean="0"/>
              <a:t> </a:t>
            </a:r>
            <a:r>
              <a:rPr lang="ru-RU" dirty="0" err="1"/>
              <a:t>представља</a:t>
            </a:r>
            <a:r>
              <a:rPr lang="ru-RU" dirty="0"/>
              <a:t> </a:t>
            </a:r>
            <a:r>
              <a:rPr lang="ru-RU" dirty="0" err="1"/>
              <a:t>дигитализовани</a:t>
            </a:r>
            <a:r>
              <a:rPr lang="ru-RU" dirty="0"/>
              <a:t> акт </a:t>
            </a:r>
            <a:r>
              <a:rPr lang="ru-RU" dirty="0" smtClean="0"/>
              <a:t>прописано </a:t>
            </a:r>
            <a:r>
              <a:rPr lang="ru-RU" dirty="0" err="1" smtClean="0"/>
              <a:t>је</a:t>
            </a:r>
            <a:r>
              <a:rPr lang="ru-RU" dirty="0" smtClean="0"/>
              <a:t> </a:t>
            </a:r>
            <a:r>
              <a:rPr lang="ru-RU" dirty="0"/>
              <a:t>у </a:t>
            </a:r>
            <a:r>
              <a:rPr lang="ru-RU" dirty="0" err="1"/>
              <a:t>члану</a:t>
            </a:r>
            <a:r>
              <a:rPr lang="ru-RU" dirty="0"/>
              <a:t> </a:t>
            </a:r>
            <a:r>
              <a:rPr lang="ru-RU" dirty="0" smtClean="0"/>
              <a:t>11. </a:t>
            </a:r>
            <a:r>
              <a:rPr lang="ru-RU" i="1" dirty="0" smtClean="0"/>
              <a:t>Закона о </a:t>
            </a:r>
            <a:r>
              <a:rPr lang="ru-RU" i="1" dirty="0" err="1" smtClean="0"/>
              <a:t>електронском</a:t>
            </a:r>
            <a:r>
              <a:rPr lang="ru-RU" i="1" dirty="0" smtClean="0"/>
              <a:t> документу, </a:t>
            </a:r>
            <a:r>
              <a:rPr lang="ru-RU" i="1" dirty="0" err="1" smtClean="0"/>
              <a:t>електронској</a:t>
            </a:r>
            <a:r>
              <a:rPr lang="ru-RU" i="1" dirty="0" smtClean="0"/>
              <a:t> </a:t>
            </a:r>
            <a:r>
              <a:rPr lang="ru-RU" i="1" dirty="0" err="1" smtClean="0"/>
              <a:t>идентификација</a:t>
            </a:r>
            <a:r>
              <a:rPr lang="ru-RU" i="1" dirty="0" smtClean="0"/>
              <a:t> и </a:t>
            </a:r>
            <a:r>
              <a:rPr lang="ru-RU" i="1" dirty="0" err="1" smtClean="0"/>
              <a:t>услугама</a:t>
            </a:r>
            <a:r>
              <a:rPr lang="ru-RU" i="1" dirty="0" smtClean="0"/>
              <a:t> од </a:t>
            </a:r>
            <a:r>
              <a:rPr lang="ru-RU" i="1" dirty="0" err="1" smtClean="0"/>
              <a:t>поверења</a:t>
            </a:r>
            <a:r>
              <a:rPr lang="ru-RU" i="1" dirty="0" smtClean="0"/>
              <a:t> у </a:t>
            </a:r>
            <a:r>
              <a:rPr lang="ru-RU" i="1" dirty="0" err="1" smtClean="0"/>
              <a:t>електронском</a:t>
            </a:r>
            <a:r>
              <a:rPr lang="ru-RU" i="1" dirty="0" smtClean="0"/>
              <a:t> </a:t>
            </a:r>
            <a:r>
              <a:rPr lang="ru-RU" i="1" dirty="0" err="1" smtClean="0"/>
              <a:t>пословању</a:t>
            </a:r>
            <a:r>
              <a:rPr lang="ru-RU" i="1" dirty="0" smtClean="0"/>
              <a:t>.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272820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1560" y="548680"/>
            <a:ext cx="806489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solidFill>
                  <a:srgbClr val="333333"/>
                </a:solidFill>
                <a:latin typeface="Verdana" panose="020B0604030504040204" pitchFamily="34" charset="0"/>
              </a:rPr>
              <a:t>4. </a:t>
            </a:r>
            <a:r>
              <a:rPr lang="ru-RU" b="1" dirty="0" err="1" smtClean="0">
                <a:solidFill>
                  <a:srgbClr val="333333"/>
                </a:solidFill>
                <a:latin typeface="Verdana" panose="020B0604030504040204" pitchFamily="34" charset="0"/>
              </a:rPr>
              <a:t>Дуплирање</a:t>
            </a:r>
            <a:r>
              <a:rPr lang="ru-RU" b="1" dirty="0" smtClean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b="1" dirty="0" err="1">
                <a:solidFill>
                  <a:srgbClr val="333333"/>
                </a:solidFill>
                <a:latin typeface="Verdana" panose="020B0604030504040204" pitchFamily="34" charset="0"/>
              </a:rPr>
              <a:t>електронских</a:t>
            </a:r>
            <a:r>
              <a:rPr lang="ru-RU" b="1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b="1" dirty="0" err="1" smtClean="0">
                <a:solidFill>
                  <a:srgbClr val="333333"/>
                </a:solidFill>
                <a:latin typeface="Verdana" panose="020B0604030504040204" pitchFamily="34" charset="0"/>
              </a:rPr>
              <a:t>докумената</a:t>
            </a:r>
            <a:endParaRPr lang="ru-RU" b="1" dirty="0" smtClean="0">
              <a:solidFill>
                <a:srgbClr val="333333"/>
              </a:solidFill>
              <a:latin typeface="Verdana" panose="020B0604030504040204" pitchFamily="34" charset="0"/>
            </a:endParaRPr>
          </a:p>
          <a:p>
            <a:pPr algn="ctr"/>
            <a:endParaRPr lang="ru-RU" b="1" dirty="0">
              <a:solidFill>
                <a:srgbClr val="333333"/>
              </a:solidFill>
              <a:latin typeface="Verdana" panose="020B0604030504040204" pitchFamily="34" charset="0"/>
            </a:endParaRPr>
          </a:p>
          <a:p>
            <a:pPr algn="just"/>
            <a:endParaRPr lang="ru-RU" b="1" dirty="0" smtClean="0">
              <a:solidFill>
                <a:srgbClr val="333333"/>
              </a:solidFill>
              <a:latin typeface="Verdana" panose="020B0604030504040204" pitchFamily="34" charset="0"/>
            </a:endParaRPr>
          </a:p>
          <a:p>
            <a:pPr algn="just"/>
            <a:endParaRPr lang="ru-RU" b="1" dirty="0">
              <a:solidFill>
                <a:srgbClr val="333333"/>
              </a:solidFill>
              <a:latin typeface="Verdana" panose="020B0604030504040204" pitchFamily="34" charset="0"/>
            </a:endParaRPr>
          </a:p>
          <a:p>
            <a:pPr algn="just"/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Члан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14</a:t>
            </a:r>
            <a:r>
              <a:rPr lang="ru-RU" dirty="0" smtClean="0">
                <a:solidFill>
                  <a:srgbClr val="333333"/>
                </a:solidFill>
                <a:latin typeface="Verdana" panose="020B0604030504040204" pitchFamily="34" charset="0"/>
              </a:rPr>
              <a:t>.</a:t>
            </a:r>
            <a:r>
              <a:rPr lang="ru-RU" i="1" dirty="0"/>
              <a:t> Закона о </a:t>
            </a:r>
            <a:r>
              <a:rPr lang="ru-RU" i="1" dirty="0" err="1"/>
              <a:t>електронском</a:t>
            </a:r>
            <a:r>
              <a:rPr lang="ru-RU" i="1" dirty="0"/>
              <a:t> документу, </a:t>
            </a:r>
            <a:r>
              <a:rPr lang="ru-RU" i="1" dirty="0" err="1"/>
              <a:t>електронској</a:t>
            </a:r>
            <a:r>
              <a:rPr lang="ru-RU" i="1" dirty="0"/>
              <a:t> </a:t>
            </a:r>
            <a:r>
              <a:rPr lang="ru-RU" i="1" dirty="0" err="1"/>
              <a:t>идентификација</a:t>
            </a:r>
            <a:r>
              <a:rPr lang="ru-RU" i="1" dirty="0"/>
              <a:t> и </a:t>
            </a:r>
            <a:r>
              <a:rPr lang="ru-RU" i="1" dirty="0" err="1"/>
              <a:t>услугама</a:t>
            </a:r>
            <a:r>
              <a:rPr lang="ru-RU" i="1" dirty="0"/>
              <a:t> од </a:t>
            </a:r>
            <a:r>
              <a:rPr lang="ru-RU" i="1" dirty="0" err="1"/>
              <a:t>поверења</a:t>
            </a:r>
            <a:r>
              <a:rPr lang="ru-RU" i="1" dirty="0"/>
              <a:t> у </a:t>
            </a:r>
            <a:r>
              <a:rPr lang="ru-RU" i="1" dirty="0" err="1"/>
              <a:t>електронском</a:t>
            </a:r>
            <a:r>
              <a:rPr lang="ru-RU" i="1" dirty="0"/>
              <a:t> </a:t>
            </a:r>
            <a:r>
              <a:rPr lang="ru-RU" i="1" dirty="0" err="1"/>
              <a:t>пословању</a:t>
            </a:r>
            <a:r>
              <a:rPr lang="ru-RU" i="1" dirty="0"/>
              <a:t>.</a:t>
            </a:r>
            <a:r>
              <a:rPr lang="ru-RU" dirty="0" smtClean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Сваки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примљени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електронски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документ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сматра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се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посебним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документом,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осим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ако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је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више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пута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примљен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истоветан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документ и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прималац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је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знао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или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је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морао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знати да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је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реч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о </a:t>
            </a:r>
            <a:r>
              <a:rPr lang="ru-RU" dirty="0" err="1">
                <a:solidFill>
                  <a:srgbClr val="333333"/>
                </a:solidFill>
                <a:latin typeface="Verdana" panose="020B0604030504040204" pitchFamily="34" charset="0"/>
              </a:rPr>
              <a:t>истоветном</a:t>
            </a:r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 документу.</a:t>
            </a:r>
          </a:p>
          <a:p>
            <a:pPr algn="ctr"/>
            <a:endParaRPr lang="ru-RU" dirty="0">
              <a:solidFill>
                <a:srgbClr val="333333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3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5536" y="548681"/>
            <a:ext cx="8208912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/>
              <a:t>5. Да </a:t>
            </a:r>
            <a:r>
              <a:rPr lang="ru-RU" sz="2000" b="1" dirty="0"/>
              <a:t>ли </a:t>
            </a:r>
            <a:r>
              <a:rPr lang="ru-RU" sz="2000" b="1" dirty="0" err="1" smtClean="0"/>
              <a:t>је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обавезна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дигитализација</a:t>
            </a:r>
            <a:r>
              <a:rPr lang="ru-RU" sz="2000" b="1" dirty="0" smtClean="0"/>
              <a:t> свих </a:t>
            </a:r>
            <a:r>
              <a:rPr lang="ru-RU" sz="2000" b="1" dirty="0" err="1"/>
              <a:t>докумената</a:t>
            </a:r>
            <a:r>
              <a:rPr lang="ru-RU" sz="2000" b="1" dirty="0"/>
              <a:t>?</a:t>
            </a:r>
          </a:p>
          <a:p>
            <a:endParaRPr lang="ru-RU" dirty="0"/>
          </a:p>
          <a:p>
            <a:pPr algn="just"/>
            <a:r>
              <a:rPr lang="ru-RU" dirty="0" err="1" smtClean="0"/>
              <a:t>Органи</a:t>
            </a:r>
            <a:r>
              <a:rPr lang="ru-RU" dirty="0" smtClean="0"/>
              <a:t> </a:t>
            </a:r>
            <a:r>
              <a:rPr lang="ru-RU" dirty="0" err="1" smtClean="0"/>
              <a:t>државне</a:t>
            </a:r>
            <a:r>
              <a:rPr lang="ru-RU" dirty="0" smtClean="0"/>
              <a:t> управе и </a:t>
            </a:r>
            <a:r>
              <a:rPr lang="ru-RU" dirty="0" err="1" smtClean="0"/>
              <a:t>локалне</a:t>
            </a:r>
            <a:r>
              <a:rPr lang="ru-RU" dirty="0" smtClean="0"/>
              <a:t> </a:t>
            </a:r>
            <a:r>
              <a:rPr lang="ru-RU" dirty="0" err="1" smtClean="0"/>
              <a:t>самоуправе</a:t>
            </a:r>
            <a:r>
              <a:rPr lang="ru-RU" dirty="0" smtClean="0"/>
              <a:t> приликом </a:t>
            </a:r>
            <a:r>
              <a:rPr lang="ru-RU" dirty="0" err="1" smtClean="0"/>
              <a:t>запримања</a:t>
            </a:r>
            <a:r>
              <a:rPr lang="ru-RU" dirty="0" smtClean="0"/>
              <a:t> </a:t>
            </a:r>
            <a:r>
              <a:rPr lang="ru-RU" dirty="0" err="1" smtClean="0"/>
              <a:t>докумената</a:t>
            </a:r>
            <a:r>
              <a:rPr lang="ru-RU" dirty="0" smtClean="0"/>
              <a:t> на </a:t>
            </a:r>
            <a:r>
              <a:rPr lang="ru-RU" dirty="0" err="1" smtClean="0"/>
              <a:t>писарници</a:t>
            </a:r>
            <a:r>
              <a:rPr lang="ru-RU" dirty="0" smtClean="0"/>
              <a:t> </a:t>
            </a:r>
            <a:r>
              <a:rPr lang="ru-RU" dirty="0" err="1" smtClean="0"/>
              <a:t>врше</a:t>
            </a:r>
            <a:r>
              <a:rPr lang="ru-RU" dirty="0" smtClean="0"/>
              <a:t> </a:t>
            </a:r>
            <a:r>
              <a:rPr lang="ru-RU" dirty="0" err="1" smtClean="0"/>
              <a:t>дигитализацију</a:t>
            </a:r>
            <a:r>
              <a:rPr lang="ru-RU" dirty="0" smtClean="0"/>
              <a:t> </a:t>
            </a:r>
            <a:r>
              <a:rPr lang="ru-RU" dirty="0" err="1" smtClean="0"/>
              <a:t>докумената</a:t>
            </a:r>
            <a:r>
              <a:rPr lang="ru-RU" dirty="0" smtClean="0"/>
              <a:t>.</a:t>
            </a:r>
          </a:p>
          <a:p>
            <a:pPr algn="just"/>
            <a:endParaRPr lang="ru-RU" dirty="0"/>
          </a:p>
          <a:p>
            <a:pPr algn="just"/>
            <a:r>
              <a:rPr lang="ru-RU" dirty="0" err="1" smtClean="0"/>
              <a:t>Обавеза</a:t>
            </a:r>
            <a:r>
              <a:rPr lang="ru-RU" dirty="0" smtClean="0"/>
              <a:t> </a:t>
            </a:r>
            <a:r>
              <a:rPr lang="ru-RU" dirty="0" err="1"/>
              <a:t>електронског</a:t>
            </a:r>
            <a:r>
              <a:rPr lang="ru-RU" dirty="0"/>
              <a:t> </a:t>
            </a:r>
            <a:r>
              <a:rPr lang="ru-RU" dirty="0" err="1"/>
              <a:t>архивирања</a:t>
            </a:r>
            <a:r>
              <a:rPr lang="ru-RU" dirty="0"/>
              <a:t> </a:t>
            </a:r>
            <a:r>
              <a:rPr lang="ru-RU" dirty="0" err="1" smtClean="0"/>
              <a:t>превасходно</a:t>
            </a:r>
            <a:r>
              <a:rPr lang="ru-RU" dirty="0" smtClean="0"/>
              <a:t> се </a:t>
            </a:r>
            <a:r>
              <a:rPr lang="ru-RU" dirty="0" err="1" smtClean="0"/>
              <a:t>односи</a:t>
            </a:r>
            <a:r>
              <a:rPr lang="ru-RU" dirty="0" smtClean="0"/>
              <a:t> </a:t>
            </a:r>
            <a:r>
              <a:rPr lang="ru-RU" dirty="0"/>
              <a:t>на </a:t>
            </a:r>
            <a:r>
              <a:rPr lang="ru-RU" dirty="0" err="1"/>
              <a:t>документарни</a:t>
            </a:r>
            <a:r>
              <a:rPr lang="ru-RU" dirty="0"/>
              <a:t> </a:t>
            </a:r>
            <a:r>
              <a:rPr lang="ru-RU" dirty="0" err="1"/>
              <a:t>материјал</a:t>
            </a:r>
            <a:r>
              <a:rPr lang="ru-RU" dirty="0"/>
              <a:t> </a:t>
            </a:r>
            <a:r>
              <a:rPr lang="ru-RU" dirty="0" err="1"/>
              <a:t>који</a:t>
            </a:r>
            <a:r>
              <a:rPr lang="ru-RU" dirty="0"/>
              <a:t> </a:t>
            </a:r>
            <a:r>
              <a:rPr lang="ru-RU" dirty="0" err="1"/>
              <a:t>настане</a:t>
            </a:r>
            <a:r>
              <a:rPr lang="ru-RU" dirty="0"/>
              <a:t> у </a:t>
            </a:r>
            <a:r>
              <a:rPr lang="ru-RU" dirty="0" err="1"/>
              <a:t>електронском</a:t>
            </a:r>
            <a:r>
              <a:rPr lang="ru-RU" dirty="0"/>
              <a:t> формату.</a:t>
            </a:r>
          </a:p>
          <a:p>
            <a:pPr algn="just"/>
            <a:endParaRPr lang="ru-RU" dirty="0"/>
          </a:p>
          <a:p>
            <a:pPr algn="just"/>
            <a:r>
              <a:rPr lang="ru-RU" dirty="0" err="1"/>
              <a:t>Немате</a:t>
            </a:r>
            <a:r>
              <a:rPr lang="ru-RU" dirty="0"/>
              <a:t> </a:t>
            </a:r>
            <a:r>
              <a:rPr lang="ru-RU" dirty="0" err="1"/>
              <a:t>обавезу</a:t>
            </a:r>
            <a:r>
              <a:rPr lang="ru-RU" dirty="0"/>
              <a:t> </a:t>
            </a:r>
            <a:r>
              <a:rPr lang="ru-RU" dirty="0" err="1"/>
              <a:t>скенирања</a:t>
            </a:r>
            <a:r>
              <a:rPr lang="ru-RU" dirty="0"/>
              <a:t> </a:t>
            </a:r>
            <a:r>
              <a:rPr lang="ru-RU" dirty="0" err="1"/>
              <a:t>штампаних</a:t>
            </a:r>
            <a:r>
              <a:rPr lang="ru-RU" dirty="0"/>
              <a:t> </a:t>
            </a:r>
            <a:r>
              <a:rPr lang="ru-RU" dirty="0" err="1"/>
              <a:t>докумената</a:t>
            </a:r>
            <a:r>
              <a:rPr lang="ru-RU" dirty="0"/>
              <a:t>. </a:t>
            </a:r>
            <a:r>
              <a:rPr lang="ru-RU" dirty="0" err="1"/>
              <a:t>Уколико</a:t>
            </a:r>
            <a:r>
              <a:rPr lang="ru-RU" dirty="0"/>
              <a:t> </a:t>
            </a:r>
            <a:r>
              <a:rPr lang="ru-RU" dirty="0" err="1"/>
              <a:t>ипак</a:t>
            </a:r>
            <a:r>
              <a:rPr lang="ru-RU" dirty="0"/>
              <a:t> </a:t>
            </a:r>
            <a:r>
              <a:rPr lang="ru-RU" dirty="0" err="1"/>
              <a:t>одлучите</a:t>
            </a:r>
            <a:r>
              <a:rPr lang="ru-RU" dirty="0"/>
              <a:t> да то </a:t>
            </a:r>
            <a:r>
              <a:rPr lang="ru-RU" dirty="0" err="1"/>
              <a:t>урадите</a:t>
            </a:r>
            <a:r>
              <a:rPr lang="ru-RU" dirty="0"/>
              <a:t> просто </a:t>
            </a:r>
            <a:r>
              <a:rPr lang="ru-RU" dirty="0" err="1"/>
              <a:t>скениран</a:t>
            </a:r>
            <a:r>
              <a:rPr lang="ru-RU" dirty="0"/>
              <a:t> документ </a:t>
            </a:r>
            <a:r>
              <a:rPr lang="ru-RU" dirty="0" err="1"/>
              <a:t>представља</a:t>
            </a:r>
            <a:r>
              <a:rPr lang="ru-RU" dirty="0"/>
              <a:t> </a:t>
            </a:r>
            <a:r>
              <a:rPr lang="ru-RU" dirty="0" err="1"/>
              <a:t>копију</a:t>
            </a:r>
            <a:r>
              <a:rPr lang="ru-RU" dirty="0"/>
              <a:t> </a:t>
            </a:r>
            <a:r>
              <a:rPr lang="ru-RU" dirty="0" err="1"/>
              <a:t>штампаног</a:t>
            </a:r>
            <a:r>
              <a:rPr lang="ru-RU" dirty="0"/>
              <a:t> </a:t>
            </a:r>
            <a:r>
              <a:rPr lang="ru-RU" dirty="0" smtClean="0"/>
              <a:t>документа. </a:t>
            </a:r>
          </a:p>
          <a:p>
            <a:pPr algn="just"/>
            <a:endParaRPr lang="ru-RU" dirty="0"/>
          </a:p>
          <a:p>
            <a:pPr algn="just"/>
            <a:r>
              <a:rPr lang="ru-RU" dirty="0" err="1" smtClean="0"/>
              <a:t>Уколико</a:t>
            </a:r>
            <a:r>
              <a:rPr lang="ru-RU" dirty="0" smtClean="0"/>
              <a:t> се </a:t>
            </a:r>
            <a:r>
              <a:rPr lang="ru-RU" dirty="0" err="1" smtClean="0"/>
              <a:t>штампани</a:t>
            </a:r>
            <a:r>
              <a:rPr lang="ru-RU" dirty="0" smtClean="0"/>
              <a:t> </a:t>
            </a:r>
            <a:r>
              <a:rPr lang="ru-RU" dirty="0"/>
              <a:t>документ </a:t>
            </a:r>
            <a:r>
              <a:rPr lang="ru-RU" dirty="0" err="1" smtClean="0"/>
              <a:t>дигитализује</a:t>
            </a:r>
            <a:r>
              <a:rPr lang="ru-RU" dirty="0" smtClean="0"/>
              <a:t> </a:t>
            </a:r>
            <a:r>
              <a:rPr lang="ru-RU" dirty="0"/>
              <a:t>на начин </a:t>
            </a:r>
            <a:r>
              <a:rPr lang="ru-RU" dirty="0" err="1" smtClean="0"/>
              <a:t>тако</a:t>
            </a:r>
            <a:r>
              <a:rPr lang="ru-RU" dirty="0" smtClean="0"/>
              <a:t> да </a:t>
            </a:r>
            <a:r>
              <a:rPr lang="ru-RU" dirty="0" err="1"/>
              <a:t>електронски</a:t>
            </a:r>
            <a:r>
              <a:rPr lang="ru-RU" dirty="0"/>
              <a:t> </a:t>
            </a:r>
            <a:r>
              <a:rPr lang="ru-RU" dirty="0" err="1"/>
              <a:t>примерак</a:t>
            </a:r>
            <a:r>
              <a:rPr lang="ru-RU" dirty="0"/>
              <a:t> </a:t>
            </a:r>
            <a:r>
              <a:rPr lang="ru-RU" dirty="0" err="1"/>
              <a:t>представља</a:t>
            </a:r>
            <a:r>
              <a:rPr lang="ru-RU" dirty="0"/>
              <a:t> акт </a:t>
            </a:r>
            <a:r>
              <a:rPr lang="ru-RU" dirty="0" err="1"/>
              <a:t>исте</a:t>
            </a:r>
            <a:r>
              <a:rPr lang="ru-RU" dirty="0"/>
              <a:t> </a:t>
            </a:r>
            <a:r>
              <a:rPr lang="ru-RU" dirty="0" err="1"/>
              <a:t>доказне</a:t>
            </a:r>
            <a:r>
              <a:rPr lang="ru-RU" dirty="0"/>
              <a:t> </a:t>
            </a:r>
            <a:r>
              <a:rPr lang="ru-RU" dirty="0" err="1"/>
              <a:t>снаге</a:t>
            </a:r>
            <a:r>
              <a:rPr lang="ru-RU" dirty="0"/>
              <a:t> </a:t>
            </a:r>
            <a:r>
              <a:rPr lang="ru-RU" dirty="0" err="1"/>
              <a:t>као</a:t>
            </a:r>
            <a:r>
              <a:rPr lang="ru-RU" dirty="0"/>
              <a:t> оригинал, </a:t>
            </a:r>
            <a:r>
              <a:rPr lang="ru-RU" dirty="0" err="1"/>
              <a:t>онда</a:t>
            </a:r>
            <a:r>
              <a:rPr lang="ru-RU" dirty="0"/>
              <a:t> такав акт </a:t>
            </a:r>
            <a:r>
              <a:rPr lang="ru-RU" dirty="0" err="1" smtClean="0"/>
              <a:t>представља</a:t>
            </a:r>
            <a:r>
              <a:rPr lang="ru-RU" dirty="0" smtClean="0"/>
              <a:t> </a:t>
            </a:r>
            <a:r>
              <a:rPr lang="ru-RU" dirty="0" err="1" smtClean="0"/>
              <a:t>електронски</a:t>
            </a:r>
            <a:r>
              <a:rPr lang="ru-RU" dirty="0" smtClean="0"/>
              <a:t> документ </a:t>
            </a:r>
            <a:r>
              <a:rPr lang="ru-RU" dirty="0" err="1" smtClean="0"/>
              <a:t>који</a:t>
            </a:r>
            <a:r>
              <a:rPr lang="ru-RU" dirty="0" smtClean="0"/>
              <a:t> се </a:t>
            </a:r>
            <a:r>
              <a:rPr lang="ru-RU" dirty="0" err="1" smtClean="0"/>
              <a:t>архивира</a:t>
            </a:r>
            <a:r>
              <a:rPr lang="ru-RU" dirty="0" smtClean="0"/>
              <a:t> е-документ. </a:t>
            </a:r>
            <a:r>
              <a:rPr lang="ru-RU" dirty="0" err="1"/>
              <a:t>Овај</a:t>
            </a:r>
            <a:r>
              <a:rPr lang="ru-RU" dirty="0"/>
              <a:t> начин </a:t>
            </a:r>
            <a:r>
              <a:rPr lang="ru-RU" dirty="0" err="1"/>
              <a:t>дигитализације</a:t>
            </a:r>
            <a:r>
              <a:rPr lang="ru-RU" dirty="0"/>
              <a:t> </a:t>
            </a:r>
            <a:r>
              <a:rPr lang="ru-RU" dirty="0" err="1"/>
              <a:t>спроводи</a:t>
            </a:r>
            <a:r>
              <a:rPr lang="ru-RU" dirty="0"/>
              <a:t> се по </a:t>
            </a:r>
            <a:r>
              <a:rPr lang="ru-RU" dirty="0" err="1"/>
              <a:t>посебној</a:t>
            </a:r>
            <a:r>
              <a:rPr lang="ru-RU" dirty="0"/>
              <a:t> </a:t>
            </a:r>
            <a:r>
              <a:rPr lang="ru-RU" dirty="0" err="1"/>
              <a:t>процедури</a:t>
            </a:r>
            <a:r>
              <a:rPr lang="ru-RU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5536" y="548681"/>
            <a:ext cx="820891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6. Да ли </a:t>
            </a:r>
            <a:r>
              <a:rPr lang="ru-RU" sz="2000" b="1" dirty="0" err="1"/>
              <a:t>је</a:t>
            </a:r>
            <a:r>
              <a:rPr lang="ru-RU" sz="2000" b="1" dirty="0"/>
              <a:t> потребно </a:t>
            </a:r>
            <a:r>
              <a:rPr lang="ru-RU" sz="2000" b="1" dirty="0" err="1"/>
              <a:t>користити</a:t>
            </a:r>
            <a:r>
              <a:rPr lang="ru-RU" sz="2000" b="1" dirty="0"/>
              <a:t> </a:t>
            </a:r>
            <a:r>
              <a:rPr lang="ru-RU" sz="2000" b="1" dirty="0" smtClean="0"/>
              <a:t>софтвер </a:t>
            </a:r>
            <a:r>
              <a:rPr lang="ru-RU" sz="2000" b="1" dirty="0"/>
              <a:t>за </a:t>
            </a:r>
            <a:r>
              <a:rPr lang="ru-RU" sz="2000" b="1" dirty="0" err="1"/>
              <a:t>електронско</a:t>
            </a:r>
            <a:r>
              <a:rPr lang="ru-RU" sz="2000" b="1" dirty="0"/>
              <a:t> </a:t>
            </a:r>
            <a:r>
              <a:rPr lang="ru-RU" sz="2000" b="1" dirty="0" err="1"/>
              <a:t>архивирање</a:t>
            </a:r>
            <a:r>
              <a:rPr lang="ru-RU" sz="2000" b="1" dirty="0"/>
              <a:t>?</a:t>
            </a:r>
          </a:p>
          <a:p>
            <a:endParaRPr lang="ru-RU" sz="2000" b="1" dirty="0"/>
          </a:p>
          <a:p>
            <a:pPr algn="just"/>
            <a:r>
              <a:rPr lang="ru-RU" b="1" dirty="0" err="1" smtClean="0"/>
              <a:t>Субјекти</a:t>
            </a:r>
            <a:r>
              <a:rPr lang="ru-RU" b="1" dirty="0" smtClean="0"/>
              <a:t> </a:t>
            </a:r>
            <a:r>
              <a:rPr lang="ru-RU" b="1" dirty="0" err="1"/>
              <a:t>јавног</a:t>
            </a:r>
            <a:r>
              <a:rPr lang="ru-RU" b="1" dirty="0"/>
              <a:t> сектора </a:t>
            </a:r>
            <a:r>
              <a:rPr lang="ru-RU" dirty="0" err="1" smtClean="0"/>
              <a:t>користиће</a:t>
            </a:r>
            <a:r>
              <a:rPr lang="ru-RU" dirty="0" smtClean="0"/>
              <a:t> платформу </a:t>
            </a:r>
            <a:r>
              <a:rPr lang="ru-RU" dirty="0" err="1" smtClean="0"/>
              <a:t>еАрхив</a:t>
            </a:r>
            <a:r>
              <a:rPr lang="ru-RU" dirty="0" smtClean="0"/>
              <a:t> </a:t>
            </a:r>
            <a:r>
              <a:rPr lang="ru-RU" dirty="0" err="1" smtClean="0"/>
              <a:t>када</a:t>
            </a:r>
            <a:r>
              <a:rPr lang="ru-RU" dirty="0" smtClean="0"/>
              <a:t> она буде у </a:t>
            </a:r>
            <a:r>
              <a:rPr lang="ru-RU" dirty="0" err="1" smtClean="0"/>
              <a:t>пуној</a:t>
            </a:r>
            <a:r>
              <a:rPr lang="ru-RU" dirty="0" smtClean="0"/>
              <a:t> </a:t>
            </a:r>
            <a:r>
              <a:rPr lang="ru-RU" dirty="0" err="1" smtClean="0"/>
              <a:t>функцији</a:t>
            </a:r>
            <a:r>
              <a:rPr lang="ru-RU" dirty="0" smtClean="0"/>
              <a:t>. </a:t>
            </a:r>
            <a:r>
              <a:rPr lang="ru-RU" dirty="0" err="1" smtClean="0"/>
              <a:t>Предвиђено</a:t>
            </a:r>
            <a:r>
              <a:rPr lang="ru-RU" dirty="0" smtClean="0"/>
              <a:t> </a:t>
            </a:r>
            <a:r>
              <a:rPr lang="ru-RU" dirty="0" err="1"/>
              <a:t>је</a:t>
            </a:r>
            <a:r>
              <a:rPr lang="ru-RU" dirty="0"/>
              <a:t> да </a:t>
            </a:r>
            <a:r>
              <a:rPr lang="ru-RU" dirty="0" err="1"/>
              <a:t>јавни</a:t>
            </a:r>
            <a:r>
              <a:rPr lang="ru-RU" dirty="0"/>
              <a:t> сектор </a:t>
            </a:r>
            <a:r>
              <a:rPr lang="ru-RU" dirty="0" err="1"/>
              <a:t>своје</a:t>
            </a:r>
            <a:r>
              <a:rPr lang="ru-RU" dirty="0"/>
              <a:t> </a:t>
            </a:r>
            <a:r>
              <a:rPr lang="ru-RU" dirty="0" err="1"/>
              <a:t>обавезе</a:t>
            </a:r>
            <a:r>
              <a:rPr lang="ru-RU" dirty="0"/>
              <a:t> </a:t>
            </a:r>
            <a:r>
              <a:rPr lang="ru-RU" dirty="0" err="1"/>
              <a:t>испуњава</a:t>
            </a:r>
            <a:r>
              <a:rPr lang="ru-RU" dirty="0"/>
              <a:t> </a:t>
            </a:r>
            <a:r>
              <a:rPr lang="ru-RU" dirty="0" err="1"/>
              <a:t>коришћењем</a:t>
            </a:r>
            <a:r>
              <a:rPr lang="ru-RU" dirty="0"/>
              <a:t> платформе </a:t>
            </a:r>
            <a:r>
              <a:rPr lang="ru-RU" dirty="0" err="1"/>
              <a:t>надлежног</a:t>
            </a:r>
            <a:r>
              <a:rPr lang="ru-RU" dirty="0"/>
              <a:t> </a:t>
            </a:r>
            <a:r>
              <a:rPr lang="ru-RU" dirty="0" err="1"/>
              <a:t>министарства</a:t>
            </a:r>
            <a:r>
              <a:rPr lang="ru-RU" dirty="0"/>
              <a:t> под </a:t>
            </a:r>
            <a:r>
              <a:rPr lang="ru-RU" dirty="0" err="1"/>
              <a:t>називом</a:t>
            </a:r>
            <a:r>
              <a:rPr lang="ru-RU" dirty="0"/>
              <a:t> </a:t>
            </a:r>
            <a:r>
              <a:rPr lang="ru-RU" dirty="0" err="1"/>
              <a:t>еАрхив</a:t>
            </a:r>
            <a:r>
              <a:rPr lang="ru-RU" dirty="0"/>
              <a:t>. </a:t>
            </a:r>
            <a:r>
              <a:rPr lang="ru-RU" dirty="0" err="1"/>
              <a:t>Очекује</a:t>
            </a:r>
            <a:r>
              <a:rPr lang="ru-RU" dirty="0"/>
              <a:t> се </a:t>
            </a:r>
            <a:r>
              <a:rPr lang="ru-RU" dirty="0" err="1"/>
              <a:t>скори</a:t>
            </a:r>
            <a:r>
              <a:rPr lang="ru-RU" dirty="0"/>
              <a:t> </a:t>
            </a:r>
            <a:r>
              <a:rPr lang="ru-RU" dirty="0" err="1"/>
              <a:t>почетак</a:t>
            </a:r>
            <a:r>
              <a:rPr lang="ru-RU" dirty="0"/>
              <a:t> рада платформе.</a:t>
            </a:r>
          </a:p>
          <a:p>
            <a:pPr algn="just"/>
            <a:endParaRPr lang="ru-RU" dirty="0"/>
          </a:p>
          <a:p>
            <a:pPr algn="just"/>
            <a:endParaRPr lang="ru-RU" sz="2000" dirty="0"/>
          </a:p>
          <a:p>
            <a:pPr algn="just"/>
            <a:r>
              <a:rPr lang="ru-RU" b="1" dirty="0" err="1"/>
              <a:t>Субјекти</a:t>
            </a:r>
            <a:r>
              <a:rPr lang="ru-RU" b="1" dirty="0"/>
              <a:t> </a:t>
            </a:r>
            <a:r>
              <a:rPr lang="ru-RU" b="1" dirty="0" err="1"/>
              <a:t>приватног</a:t>
            </a:r>
            <a:r>
              <a:rPr lang="ru-RU" b="1" dirty="0"/>
              <a:t> сектора </a:t>
            </a:r>
            <a:r>
              <a:rPr lang="ru-RU" dirty="0"/>
              <a:t>могу </a:t>
            </a:r>
            <a:r>
              <a:rPr lang="ru-RU" dirty="0" err="1" smtClean="0"/>
              <a:t>користити</a:t>
            </a:r>
            <a:r>
              <a:rPr lang="ru-RU" dirty="0" smtClean="0"/>
              <a:t> </a:t>
            </a:r>
            <a:r>
              <a:rPr lang="ru-RU" dirty="0" err="1" smtClean="0"/>
              <a:t>софтверска</a:t>
            </a:r>
            <a:r>
              <a:rPr lang="ru-RU" dirty="0" smtClean="0"/>
              <a:t> </a:t>
            </a:r>
            <a:r>
              <a:rPr lang="ru-RU" dirty="0" err="1" smtClean="0"/>
              <a:t>решења</a:t>
            </a:r>
            <a:r>
              <a:rPr lang="ru-RU" dirty="0" smtClean="0"/>
              <a:t> </a:t>
            </a:r>
            <a:r>
              <a:rPr lang="ru-RU" dirty="0" err="1" smtClean="0"/>
              <a:t>која</a:t>
            </a:r>
            <a:r>
              <a:rPr lang="ru-RU" dirty="0" smtClean="0"/>
              <a:t> се нуде на </a:t>
            </a:r>
            <a:r>
              <a:rPr lang="ru-RU" dirty="0" err="1" smtClean="0"/>
              <a:t>тржишту</a:t>
            </a:r>
            <a:r>
              <a:rPr lang="ru-RU" dirty="0" smtClean="0"/>
              <a:t> ради </a:t>
            </a:r>
            <a:r>
              <a:rPr lang="ru-RU" dirty="0" err="1" smtClean="0"/>
              <a:t>лакшег</a:t>
            </a:r>
            <a:r>
              <a:rPr lang="ru-RU" dirty="0" smtClean="0"/>
              <a:t> </a:t>
            </a:r>
            <a:r>
              <a:rPr lang="ru-RU" dirty="0" err="1" smtClean="0"/>
              <a:t>вођења</a:t>
            </a:r>
            <a:r>
              <a:rPr lang="ru-RU" dirty="0" smtClean="0"/>
              <a:t> е-архиве.</a:t>
            </a:r>
          </a:p>
          <a:p>
            <a:pPr algn="just"/>
            <a:r>
              <a:rPr lang="ru-RU" dirty="0" err="1" smtClean="0"/>
              <a:t>Такође</a:t>
            </a:r>
            <a:r>
              <a:rPr lang="ru-RU" dirty="0" smtClean="0"/>
              <a:t>, </a:t>
            </a:r>
            <a:r>
              <a:rPr lang="ru-RU" dirty="0" err="1" smtClean="0"/>
              <a:t>електронско</a:t>
            </a:r>
            <a:r>
              <a:rPr lang="ru-RU" dirty="0" smtClean="0"/>
              <a:t> </a:t>
            </a:r>
            <a:r>
              <a:rPr lang="ru-RU" dirty="0" err="1"/>
              <a:t>архивирање</a:t>
            </a:r>
            <a:r>
              <a:rPr lang="ru-RU" dirty="0"/>
              <a:t> се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спроводити</a:t>
            </a:r>
            <a:r>
              <a:rPr lang="ru-RU" dirty="0"/>
              <a:t> </a:t>
            </a:r>
            <a:r>
              <a:rPr lang="ru-RU" dirty="0" err="1"/>
              <a:t>ангажовањем</a:t>
            </a:r>
            <a:r>
              <a:rPr lang="ru-RU" dirty="0"/>
              <a:t> </a:t>
            </a:r>
            <a:r>
              <a:rPr lang="ru-RU" dirty="0" err="1" smtClean="0"/>
              <a:t>пружаоца</a:t>
            </a:r>
            <a:r>
              <a:rPr lang="ru-RU" dirty="0" smtClean="0"/>
              <a:t> </a:t>
            </a:r>
            <a:r>
              <a:rPr lang="ru-RU" dirty="0"/>
              <a:t>услуге </a:t>
            </a:r>
            <a:r>
              <a:rPr lang="ru-RU" dirty="0" err="1"/>
              <a:t>квалификованог</a:t>
            </a:r>
            <a:r>
              <a:rPr lang="ru-RU" dirty="0"/>
              <a:t> </a:t>
            </a:r>
            <a:r>
              <a:rPr lang="ru-RU" dirty="0" err="1"/>
              <a:t>електронског</a:t>
            </a:r>
            <a:r>
              <a:rPr lang="ru-RU" dirty="0"/>
              <a:t> </a:t>
            </a:r>
            <a:r>
              <a:rPr lang="ru-RU" dirty="0" err="1"/>
              <a:t>чувања</a:t>
            </a:r>
            <a:r>
              <a:rPr lang="ru-RU" dirty="0"/>
              <a:t> </a:t>
            </a:r>
            <a:r>
              <a:rPr lang="ru-RU" dirty="0" err="1"/>
              <a:t>докумената</a:t>
            </a:r>
            <a:r>
              <a:rPr lang="ru-RU" dirty="0"/>
              <a:t> (</a:t>
            </a:r>
            <a:r>
              <a:rPr lang="ru-RU" dirty="0" err="1"/>
              <a:t>члан</a:t>
            </a:r>
            <a:r>
              <a:rPr lang="ru-RU" dirty="0"/>
              <a:t> 63. </a:t>
            </a:r>
            <a:r>
              <a:rPr lang="ru-RU" i="1" dirty="0"/>
              <a:t>Закона о </a:t>
            </a:r>
            <a:r>
              <a:rPr lang="ru-RU" i="1" dirty="0" err="1"/>
              <a:t>електронском</a:t>
            </a:r>
            <a:r>
              <a:rPr lang="ru-RU" i="1" dirty="0"/>
              <a:t> </a:t>
            </a:r>
            <a:r>
              <a:rPr lang="ru-RU" i="1" dirty="0" smtClean="0"/>
              <a:t>документу, </a:t>
            </a:r>
            <a:r>
              <a:rPr lang="ru-RU" i="1" dirty="0" err="1" smtClean="0"/>
              <a:t>електронкој</a:t>
            </a:r>
            <a:r>
              <a:rPr lang="ru-RU" i="1" dirty="0" smtClean="0"/>
              <a:t> </a:t>
            </a:r>
            <a:r>
              <a:rPr lang="ru-RU" i="1" dirty="0" err="1" smtClean="0"/>
              <a:t>идентификацији</a:t>
            </a:r>
            <a:r>
              <a:rPr lang="ru-RU" i="1" dirty="0" smtClean="0"/>
              <a:t> и </a:t>
            </a:r>
            <a:r>
              <a:rPr lang="ru-RU" i="1" dirty="0" err="1" smtClean="0"/>
              <a:t>услугама</a:t>
            </a:r>
            <a:r>
              <a:rPr lang="ru-RU" i="1" dirty="0" smtClean="0"/>
              <a:t> од </a:t>
            </a:r>
            <a:r>
              <a:rPr lang="ru-RU" i="1" dirty="0" err="1" smtClean="0"/>
              <a:t>поверења</a:t>
            </a:r>
            <a:r>
              <a:rPr lang="ru-RU" i="1" dirty="0" smtClean="0"/>
              <a:t> у </a:t>
            </a:r>
            <a:r>
              <a:rPr lang="ru-RU" i="1" dirty="0" err="1" smtClean="0"/>
              <a:t>електронском</a:t>
            </a:r>
            <a:r>
              <a:rPr lang="ru-RU" i="1" dirty="0" smtClean="0"/>
              <a:t> </a:t>
            </a:r>
            <a:r>
              <a:rPr lang="ru-RU" i="1" dirty="0" err="1" smtClean="0"/>
              <a:t>пословању</a:t>
            </a:r>
            <a:r>
              <a:rPr lang="ru-RU" dirty="0" smtClean="0"/>
              <a:t>) или документе </a:t>
            </a:r>
            <a:r>
              <a:rPr lang="ru-RU" dirty="0" err="1"/>
              <a:t>који</a:t>
            </a:r>
            <a:r>
              <a:rPr lang="ru-RU" dirty="0"/>
              <a:t> се </a:t>
            </a:r>
            <a:r>
              <a:rPr lang="ru-RU" dirty="0" err="1"/>
              <a:t>чувају</a:t>
            </a:r>
            <a:r>
              <a:rPr lang="ru-RU" dirty="0"/>
              <a:t> </a:t>
            </a:r>
            <a:r>
              <a:rPr lang="ru-RU" dirty="0" err="1"/>
              <a:t>трајно</a:t>
            </a:r>
            <a:r>
              <a:rPr lang="ru-RU" dirty="0"/>
              <a:t> можете сами </a:t>
            </a:r>
            <a:r>
              <a:rPr lang="ru-RU" dirty="0" err="1"/>
              <a:t>поуздано</a:t>
            </a:r>
            <a:r>
              <a:rPr lang="ru-RU" dirty="0"/>
              <a:t> </a:t>
            </a:r>
            <a:r>
              <a:rPr lang="ru-RU" dirty="0" err="1"/>
              <a:t>чувати</a:t>
            </a:r>
            <a:r>
              <a:rPr lang="ru-RU" dirty="0"/>
              <a:t> (</a:t>
            </a:r>
            <a:r>
              <a:rPr lang="ru-RU" dirty="0" err="1"/>
              <a:t>електронски</a:t>
            </a:r>
            <a:r>
              <a:rPr lang="ru-RU" dirty="0"/>
              <a:t> </a:t>
            </a:r>
            <a:r>
              <a:rPr lang="ru-RU" dirty="0" err="1"/>
              <a:t>архивирати</a:t>
            </a:r>
            <a:r>
              <a:rPr lang="ru-RU" dirty="0"/>
              <a:t>, пре </a:t>
            </a:r>
            <a:r>
              <a:rPr lang="ru-RU" dirty="0" err="1"/>
              <a:t>предаје</a:t>
            </a:r>
            <a:r>
              <a:rPr lang="ru-RU" dirty="0"/>
              <a:t> </a:t>
            </a:r>
            <a:r>
              <a:rPr lang="ru-RU" dirty="0" err="1"/>
              <a:t>надлежном</a:t>
            </a:r>
            <a:r>
              <a:rPr lang="ru-RU" dirty="0"/>
              <a:t> </a:t>
            </a:r>
            <a:r>
              <a:rPr lang="ru-RU" dirty="0" smtClean="0"/>
              <a:t>органу - </a:t>
            </a:r>
            <a:r>
              <a:rPr lang="ru-RU" dirty="0" err="1" smtClean="0"/>
              <a:t>члан</a:t>
            </a:r>
            <a:r>
              <a:rPr lang="ru-RU" dirty="0" smtClean="0"/>
              <a:t> </a:t>
            </a:r>
            <a:r>
              <a:rPr lang="ru-RU" dirty="0"/>
              <a:t>62. </a:t>
            </a:r>
            <a:r>
              <a:rPr lang="ru-RU" dirty="0" smtClean="0"/>
              <a:t>Закона).</a:t>
            </a:r>
          </a:p>
          <a:p>
            <a:pPr algn="just"/>
            <a:r>
              <a:rPr lang="ru-RU" dirty="0" err="1"/>
              <a:t>Н</a:t>
            </a:r>
            <a:r>
              <a:rPr lang="ru-RU" dirty="0" err="1" smtClean="0"/>
              <a:t>ије</a:t>
            </a:r>
            <a:r>
              <a:rPr lang="ru-RU" dirty="0" smtClean="0"/>
              <a:t> </a:t>
            </a:r>
            <a:r>
              <a:rPr lang="ru-RU" dirty="0" err="1"/>
              <a:t>предвиђено</a:t>
            </a:r>
            <a:r>
              <a:rPr lang="ru-RU" dirty="0"/>
              <a:t> да портал </a:t>
            </a:r>
            <a:r>
              <a:rPr lang="ru-RU" dirty="0" err="1"/>
              <a:t>еАрхив</a:t>
            </a:r>
            <a:r>
              <a:rPr lang="ru-RU" dirty="0"/>
              <a:t> </a:t>
            </a:r>
            <a:r>
              <a:rPr lang="ru-RU" dirty="0" err="1"/>
              <a:t>користи</a:t>
            </a:r>
            <a:r>
              <a:rPr lang="ru-RU" dirty="0"/>
              <a:t> </a:t>
            </a:r>
            <a:r>
              <a:rPr lang="ru-RU" dirty="0" err="1"/>
              <a:t>приватни</a:t>
            </a:r>
            <a:r>
              <a:rPr lang="ru-RU" dirty="0"/>
              <a:t> сектор, </a:t>
            </a:r>
            <a:r>
              <a:rPr lang="ru-RU" dirty="0" err="1"/>
              <a:t>већ</a:t>
            </a:r>
            <a:r>
              <a:rPr lang="ru-RU" dirty="0"/>
              <a:t> </a:t>
            </a:r>
            <a:r>
              <a:rPr lang="ru-RU" dirty="0" err="1"/>
              <a:t>ће</a:t>
            </a:r>
            <a:r>
              <a:rPr lang="ru-RU" dirty="0"/>
              <a:t> </a:t>
            </a:r>
            <a:r>
              <a:rPr lang="ru-RU" dirty="0" err="1"/>
              <a:t>бити</a:t>
            </a:r>
            <a:r>
              <a:rPr lang="ru-RU" dirty="0"/>
              <a:t> </a:t>
            </a:r>
            <a:r>
              <a:rPr lang="ru-RU" dirty="0" err="1"/>
              <a:t>слободан</a:t>
            </a:r>
            <a:r>
              <a:rPr lang="ru-RU" dirty="0"/>
              <a:t> да </a:t>
            </a:r>
            <a:r>
              <a:rPr lang="ru-RU" dirty="0" err="1"/>
              <a:t>изабере</a:t>
            </a:r>
            <a:r>
              <a:rPr lang="ru-RU" dirty="0"/>
              <a:t> </a:t>
            </a:r>
            <a:r>
              <a:rPr lang="ru-RU" dirty="0" err="1"/>
              <a:t>решење</a:t>
            </a:r>
            <a:r>
              <a:rPr lang="ru-RU" dirty="0"/>
              <a:t> </a:t>
            </a:r>
            <a:r>
              <a:rPr lang="ru-RU" dirty="0" err="1"/>
              <a:t>најприкладније</a:t>
            </a:r>
            <a:r>
              <a:rPr lang="ru-RU" dirty="0"/>
              <a:t> </a:t>
            </a:r>
            <a:r>
              <a:rPr lang="ru-RU" dirty="0" err="1"/>
              <a:t>свом</a:t>
            </a:r>
            <a:r>
              <a:rPr lang="ru-RU" dirty="0"/>
              <a:t> </a:t>
            </a:r>
            <a:r>
              <a:rPr lang="ru-RU" dirty="0" err="1"/>
              <a:t>пословању</a:t>
            </a:r>
            <a:r>
              <a:rPr lang="ru-RU" dirty="0"/>
              <a:t>, </a:t>
            </a:r>
            <a:r>
              <a:rPr lang="ru-RU" dirty="0" err="1"/>
              <a:t>односно</a:t>
            </a:r>
            <a:r>
              <a:rPr lang="ru-RU" dirty="0"/>
              <a:t> </a:t>
            </a:r>
            <a:r>
              <a:rPr lang="ru-RU" dirty="0" err="1"/>
              <a:t>моћи</a:t>
            </a:r>
            <a:r>
              <a:rPr lang="ru-RU" dirty="0"/>
              <a:t> </a:t>
            </a:r>
            <a:r>
              <a:rPr lang="ru-RU" dirty="0" err="1"/>
              <a:t>ће</a:t>
            </a:r>
            <a:r>
              <a:rPr lang="ru-RU" dirty="0"/>
              <a:t> да </a:t>
            </a:r>
            <a:r>
              <a:rPr lang="ru-RU" dirty="0" err="1"/>
              <a:t>организује</a:t>
            </a:r>
            <a:r>
              <a:rPr lang="ru-RU" dirty="0"/>
              <a:t> </a:t>
            </a:r>
            <a:r>
              <a:rPr lang="ru-RU" dirty="0" err="1"/>
              <a:t>електронско</a:t>
            </a:r>
            <a:r>
              <a:rPr lang="ru-RU" dirty="0"/>
              <a:t> </a:t>
            </a:r>
            <a:r>
              <a:rPr lang="ru-RU" dirty="0" err="1"/>
              <a:t>архивирање</a:t>
            </a:r>
            <a:r>
              <a:rPr lang="ru-RU" dirty="0"/>
              <a:t> </a:t>
            </a:r>
            <a:r>
              <a:rPr lang="ru-RU" dirty="0" err="1"/>
              <a:t>самостално</a:t>
            </a:r>
            <a:r>
              <a:rPr lang="ru-RU" dirty="0"/>
              <a:t> или </a:t>
            </a:r>
            <a:r>
              <a:rPr lang="ru-RU" dirty="0" err="1"/>
              <a:t>одабиром</a:t>
            </a:r>
            <a:r>
              <a:rPr lang="ru-RU" dirty="0"/>
              <a:t> </a:t>
            </a:r>
            <a:r>
              <a:rPr lang="ru-RU" dirty="0" err="1"/>
              <a:t>неког</a:t>
            </a:r>
            <a:r>
              <a:rPr lang="ru-RU" dirty="0"/>
              <a:t> софтвера на </a:t>
            </a:r>
            <a:r>
              <a:rPr lang="ru-RU" dirty="0" err="1"/>
              <a:t>тржишту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95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5536" y="548681"/>
            <a:ext cx="820891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/>
              <a:t>7. </a:t>
            </a:r>
            <a:r>
              <a:rPr lang="ru-RU" sz="2000" b="1" dirty="0" err="1" smtClean="0"/>
              <a:t>Постоји</a:t>
            </a:r>
            <a:r>
              <a:rPr lang="ru-RU" sz="2000" b="1" dirty="0" smtClean="0"/>
              <a:t> ли </a:t>
            </a:r>
            <a:r>
              <a:rPr lang="ru-RU" sz="2000" b="1" dirty="0" err="1" smtClean="0"/>
              <a:t>разлика</a:t>
            </a:r>
            <a:r>
              <a:rPr lang="ru-RU" sz="2000" b="1" dirty="0" smtClean="0"/>
              <a:t> </a:t>
            </a:r>
            <a:r>
              <a:rPr lang="ru-RU" sz="2000" b="1" dirty="0" err="1"/>
              <a:t>између</a:t>
            </a:r>
            <a:r>
              <a:rPr lang="ru-RU" sz="2000" b="1" dirty="0"/>
              <a:t> </a:t>
            </a:r>
            <a:r>
              <a:rPr lang="ru-RU" sz="2000" b="1" dirty="0" err="1"/>
              <a:t>архивске</a:t>
            </a:r>
            <a:r>
              <a:rPr lang="ru-RU" sz="2000" b="1" dirty="0"/>
              <a:t> </a:t>
            </a:r>
            <a:r>
              <a:rPr lang="ru-RU" sz="2000" b="1" dirty="0" err="1"/>
              <a:t>књиге</a:t>
            </a:r>
            <a:r>
              <a:rPr lang="ru-RU" sz="2000" b="1" dirty="0"/>
              <a:t> и </a:t>
            </a:r>
            <a:r>
              <a:rPr lang="ru-RU" sz="2000" b="1" dirty="0" err="1"/>
              <a:t>електронског</a:t>
            </a:r>
            <a:r>
              <a:rPr lang="ru-RU" sz="2000" b="1" dirty="0"/>
              <a:t> </a:t>
            </a:r>
            <a:r>
              <a:rPr lang="ru-RU" sz="2000" b="1" dirty="0" err="1"/>
              <a:t>архивирања</a:t>
            </a:r>
            <a:r>
              <a:rPr lang="ru-RU" sz="2000" b="1" dirty="0"/>
              <a:t>?</a:t>
            </a:r>
          </a:p>
          <a:p>
            <a:endParaRPr lang="ru-RU" sz="2000" b="1" dirty="0"/>
          </a:p>
          <a:p>
            <a:pPr algn="just"/>
            <a:r>
              <a:rPr lang="ru-RU" sz="2000" dirty="0" err="1"/>
              <a:t>Архивска</a:t>
            </a:r>
            <a:r>
              <a:rPr lang="ru-RU" sz="2000" dirty="0"/>
              <a:t> </a:t>
            </a:r>
            <a:r>
              <a:rPr lang="ru-RU" sz="2000" dirty="0" err="1"/>
              <a:t>књига</a:t>
            </a:r>
            <a:r>
              <a:rPr lang="ru-RU" sz="2000" dirty="0"/>
              <a:t> </a:t>
            </a:r>
            <a:r>
              <a:rPr lang="ru-RU" sz="2000" dirty="0" err="1"/>
              <a:t>представља</a:t>
            </a:r>
            <a:r>
              <a:rPr lang="ru-RU" sz="2000" dirty="0"/>
              <a:t> </a:t>
            </a:r>
            <a:r>
              <a:rPr lang="ru-RU" sz="2000" dirty="0" err="1"/>
              <a:t>евиденцију</a:t>
            </a:r>
            <a:r>
              <a:rPr lang="ru-RU" sz="2000" dirty="0"/>
              <a:t> </a:t>
            </a:r>
            <a:r>
              <a:rPr lang="ru-RU" sz="2000" dirty="0" err="1"/>
              <a:t>тј</a:t>
            </a:r>
            <a:r>
              <a:rPr lang="ru-RU" sz="2000" dirty="0"/>
              <a:t>. </a:t>
            </a:r>
            <a:r>
              <a:rPr lang="ru-RU" sz="2000" dirty="0" err="1"/>
              <a:t>попис</a:t>
            </a:r>
            <a:r>
              <a:rPr lang="ru-RU" sz="2000" dirty="0"/>
              <a:t> </a:t>
            </a:r>
            <a:r>
              <a:rPr lang="ru-RU" sz="2000" dirty="0" err="1"/>
              <a:t>целокупне</a:t>
            </a:r>
            <a:r>
              <a:rPr lang="ru-RU" sz="2000" dirty="0"/>
              <a:t> </a:t>
            </a:r>
            <a:r>
              <a:rPr lang="ru-RU" sz="2000" dirty="0" err="1"/>
              <a:t>документације</a:t>
            </a:r>
            <a:r>
              <a:rPr lang="ru-RU" sz="2000" dirty="0"/>
              <a:t> </a:t>
            </a:r>
            <a:r>
              <a:rPr lang="ru-RU" sz="2000" dirty="0" err="1"/>
              <a:t>настале</a:t>
            </a:r>
            <a:r>
              <a:rPr lang="ru-RU" sz="2000" dirty="0"/>
              <a:t> у </a:t>
            </a:r>
            <a:r>
              <a:rPr lang="ru-RU" sz="2000" dirty="0" err="1"/>
              <a:t>календарској</a:t>
            </a:r>
            <a:r>
              <a:rPr lang="ru-RU" sz="2000" dirty="0"/>
              <a:t> </a:t>
            </a:r>
            <a:r>
              <a:rPr lang="ru-RU" sz="2000" dirty="0" err="1"/>
              <a:t>години</a:t>
            </a:r>
            <a:r>
              <a:rPr lang="ru-RU" sz="2000" dirty="0"/>
              <a:t>, без </a:t>
            </a:r>
            <a:r>
              <a:rPr lang="ru-RU" sz="2000" dirty="0" err="1"/>
              <a:t>обзира</a:t>
            </a:r>
            <a:r>
              <a:rPr lang="ru-RU" sz="2000" dirty="0"/>
              <a:t> да ли су </a:t>
            </a:r>
            <a:r>
              <a:rPr lang="ru-RU" sz="2000" dirty="0" err="1"/>
              <a:t>ти</a:t>
            </a:r>
            <a:r>
              <a:rPr lang="ru-RU" sz="2000" dirty="0"/>
              <a:t> </a:t>
            </a:r>
            <a:r>
              <a:rPr lang="ru-RU" sz="2000" dirty="0" err="1"/>
              <a:t>документи</a:t>
            </a:r>
            <a:r>
              <a:rPr lang="ru-RU" sz="2000" dirty="0"/>
              <a:t> настали у </a:t>
            </a:r>
            <a:r>
              <a:rPr lang="ru-RU" sz="2000" dirty="0" err="1"/>
              <a:t>папирном</a:t>
            </a:r>
            <a:r>
              <a:rPr lang="ru-RU" sz="2000" dirty="0"/>
              <a:t> или </a:t>
            </a:r>
            <a:r>
              <a:rPr lang="ru-RU" sz="2000" dirty="0" err="1"/>
              <a:t>електронском</a:t>
            </a:r>
            <a:r>
              <a:rPr lang="ru-RU" sz="2000" dirty="0"/>
              <a:t> облику.</a:t>
            </a:r>
          </a:p>
          <a:p>
            <a:pPr algn="just"/>
            <a:endParaRPr lang="ru-RU" sz="2000" dirty="0"/>
          </a:p>
          <a:p>
            <a:pPr algn="just"/>
            <a:r>
              <a:rPr lang="ru-RU" sz="2000" dirty="0" err="1"/>
              <a:t>Електронско</a:t>
            </a:r>
            <a:r>
              <a:rPr lang="ru-RU" sz="2000" dirty="0"/>
              <a:t> </a:t>
            </a:r>
            <a:r>
              <a:rPr lang="ru-RU" sz="2000" dirty="0" err="1"/>
              <a:t>архивирање</a:t>
            </a:r>
            <a:r>
              <a:rPr lang="ru-RU" sz="2000" dirty="0"/>
              <a:t> </a:t>
            </a:r>
            <a:r>
              <a:rPr lang="ru-RU" sz="2000" dirty="0" err="1"/>
              <a:t>представља</a:t>
            </a:r>
            <a:r>
              <a:rPr lang="ru-RU" sz="2000" dirty="0"/>
              <a:t> сам чин </a:t>
            </a:r>
            <a:r>
              <a:rPr lang="ru-RU" sz="2000" dirty="0" err="1"/>
              <a:t>архивирања</a:t>
            </a:r>
            <a:r>
              <a:rPr lang="ru-RU" sz="2000" dirty="0"/>
              <a:t> </a:t>
            </a:r>
            <a:r>
              <a:rPr lang="ru-RU" sz="2000" dirty="0" err="1"/>
              <a:t>докумената</a:t>
            </a:r>
            <a:r>
              <a:rPr lang="ru-RU" sz="2000" dirty="0"/>
              <a:t> </a:t>
            </a:r>
            <a:r>
              <a:rPr lang="ru-RU" sz="2000" dirty="0" err="1"/>
              <a:t>насталих</a:t>
            </a:r>
            <a:r>
              <a:rPr lang="ru-RU" sz="2000" dirty="0"/>
              <a:t> у </a:t>
            </a:r>
            <a:r>
              <a:rPr lang="ru-RU" sz="2000" dirty="0" err="1"/>
              <a:t>електронском</a:t>
            </a:r>
            <a:r>
              <a:rPr lang="ru-RU" sz="2000" dirty="0"/>
              <a:t> облику. То </a:t>
            </a:r>
            <a:r>
              <a:rPr lang="ru-RU" sz="2000" dirty="0" err="1"/>
              <a:t>представља</a:t>
            </a:r>
            <a:r>
              <a:rPr lang="ru-RU" sz="2000" dirty="0"/>
              <a:t> </a:t>
            </a:r>
            <a:r>
              <a:rPr lang="ru-RU" sz="2000" dirty="0" err="1"/>
              <a:t>класификовање</a:t>
            </a:r>
            <a:r>
              <a:rPr lang="ru-RU" sz="2000" dirty="0"/>
              <a:t>, </a:t>
            </a:r>
            <a:r>
              <a:rPr lang="ru-RU" sz="2000" dirty="0" err="1"/>
              <a:t>разврставање</a:t>
            </a:r>
            <a:r>
              <a:rPr lang="ru-RU" sz="2000" dirty="0"/>
              <a:t>, </a:t>
            </a:r>
            <a:r>
              <a:rPr lang="ru-RU" sz="2000" dirty="0" err="1"/>
              <a:t>чување</a:t>
            </a:r>
            <a:r>
              <a:rPr lang="ru-RU" sz="2000" dirty="0"/>
              <a:t> и </a:t>
            </a:r>
            <a:r>
              <a:rPr lang="ru-RU" sz="2000" dirty="0" err="1"/>
              <a:t>доступност</a:t>
            </a:r>
            <a:r>
              <a:rPr lang="ru-RU" sz="2000" dirty="0"/>
              <a:t> тих </a:t>
            </a:r>
            <a:r>
              <a:rPr lang="ru-RU" sz="2000" dirty="0" err="1" smtClean="0"/>
              <a:t>докумената</a:t>
            </a:r>
            <a:r>
              <a:rPr lang="ru-RU" sz="2000" dirty="0" smtClean="0"/>
              <a:t>, без </a:t>
            </a:r>
            <a:r>
              <a:rPr lang="ru-RU" sz="2000" dirty="0" err="1" smtClean="0"/>
              <a:t>обзира</a:t>
            </a:r>
            <a:r>
              <a:rPr lang="ru-RU" sz="2000" dirty="0" smtClean="0"/>
              <a:t> на ком носачу </a:t>
            </a:r>
            <a:r>
              <a:rPr lang="ru-RU" sz="2000" dirty="0" err="1" smtClean="0"/>
              <a:t>података</a:t>
            </a:r>
            <a:r>
              <a:rPr lang="ru-RU" sz="2000" dirty="0" smtClean="0"/>
              <a:t> се они </a:t>
            </a:r>
            <a:r>
              <a:rPr lang="ru-RU" sz="2000" dirty="0" err="1" smtClean="0"/>
              <a:t>чувају</a:t>
            </a:r>
            <a:r>
              <a:rPr lang="ru-RU" sz="2000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777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5536" y="548681"/>
            <a:ext cx="820891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/>
              <a:t>8. </a:t>
            </a:r>
            <a:r>
              <a:rPr lang="ru-RU" sz="2000" b="1" dirty="0"/>
              <a:t>Да ли се води </a:t>
            </a:r>
            <a:r>
              <a:rPr lang="ru-RU" sz="2000" b="1" dirty="0" err="1"/>
              <a:t>посебна</a:t>
            </a:r>
            <a:r>
              <a:rPr lang="ru-RU" sz="2000" b="1" dirty="0"/>
              <a:t> </a:t>
            </a:r>
            <a:r>
              <a:rPr lang="ru-RU" sz="2000" b="1" dirty="0" err="1"/>
              <a:t>архивска</a:t>
            </a:r>
            <a:r>
              <a:rPr lang="ru-RU" sz="2000" b="1" dirty="0"/>
              <a:t> </a:t>
            </a:r>
            <a:r>
              <a:rPr lang="ru-RU" sz="2000" b="1" dirty="0" err="1"/>
              <a:t>књига</a:t>
            </a:r>
            <a:r>
              <a:rPr lang="ru-RU" sz="2000" b="1" dirty="0"/>
              <a:t> за </a:t>
            </a:r>
            <a:r>
              <a:rPr lang="ru-RU" sz="2000" b="1" dirty="0" smtClean="0"/>
              <a:t>е-документе</a:t>
            </a:r>
            <a:r>
              <a:rPr lang="ru-RU" sz="2000" b="1" dirty="0"/>
              <a:t>?</a:t>
            </a:r>
          </a:p>
          <a:p>
            <a:endParaRPr lang="ru-RU" sz="2000" b="1" dirty="0" smtClean="0"/>
          </a:p>
          <a:p>
            <a:endParaRPr lang="ru-RU" sz="2000" b="1" dirty="0"/>
          </a:p>
          <a:p>
            <a:endParaRPr lang="ru-RU" sz="2000" b="1" dirty="0"/>
          </a:p>
          <a:p>
            <a:r>
              <a:rPr lang="ru-RU" sz="2000" dirty="0" err="1"/>
              <a:t>Електронска</a:t>
            </a:r>
            <a:r>
              <a:rPr lang="ru-RU" sz="2000" dirty="0"/>
              <a:t> документа се </a:t>
            </a:r>
            <a:r>
              <a:rPr lang="ru-RU" sz="2000" dirty="0" err="1"/>
              <a:t>пописују</a:t>
            </a:r>
            <a:r>
              <a:rPr lang="ru-RU" sz="2000" dirty="0"/>
              <a:t> </a:t>
            </a:r>
            <a:r>
              <a:rPr lang="ru-RU" sz="2000" dirty="0" err="1"/>
              <a:t>збирно</a:t>
            </a:r>
            <a:r>
              <a:rPr lang="ru-RU" sz="2000" dirty="0"/>
              <a:t> у </a:t>
            </a:r>
            <a:r>
              <a:rPr lang="ru-RU" sz="2000" dirty="0" err="1"/>
              <a:t>исту</a:t>
            </a:r>
            <a:r>
              <a:rPr lang="ru-RU" sz="2000" dirty="0"/>
              <a:t>, </a:t>
            </a:r>
            <a:r>
              <a:rPr lang="ru-RU" sz="2000" dirty="0" err="1"/>
              <a:t>јединствену</a:t>
            </a:r>
            <a:r>
              <a:rPr lang="ru-RU" sz="2000" dirty="0"/>
              <a:t> </a:t>
            </a:r>
            <a:r>
              <a:rPr lang="ru-RU" sz="2000" dirty="0" err="1"/>
              <a:t>архивску</a:t>
            </a:r>
            <a:r>
              <a:rPr lang="ru-RU" sz="2000" dirty="0"/>
              <a:t> </a:t>
            </a:r>
            <a:r>
              <a:rPr lang="ru-RU" sz="2000" dirty="0" err="1"/>
              <a:t>књигу</a:t>
            </a:r>
            <a:r>
              <a:rPr lang="ru-RU" sz="2000" dirty="0" smtClean="0"/>
              <a:t>. Уноси се место на </a:t>
            </a:r>
            <a:r>
              <a:rPr lang="ru-RU" sz="2000" dirty="0" err="1" smtClean="0"/>
              <a:t>којем</a:t>
            </a:r>
            <a:r>
              <a:rPr lang="ru-RU" sz="2000" dirty="0" smtClean="0"/>
              <a:t> се они </a:t>
            </a:r>
            <a:r>
              <a:rPr lang="ru-RU" sz="2000" dirty="0" err="1" smtClean="0"/>
              <a:t>чувају</a:t>
            </a:r>
            <a:r>
              <a:rPr lang="ru-RU" sz="2000" dirty="0" smtClean="0"/>
              <a:t> и </a:t>
            </a:r>
            <a:r>
              <a:rPr lang="ru-RU" sz="2000" dirty="0" err="1" smtClean="0"/>
              <a:t>њихова</a:t>
            </a:r>
            <a:r>
              <a:rPr lang="ru-RU" sz="2000" dirty="0" smtClean="0"/>
              <a:t> величина (</a:t>
            </a:r>
            <a:r>
              <a:rPr lang="ru-RU" sz="2000" dirty="0" err="1" smtClean="0"/>
              <a:t>килобајти</a:t>
            </a:r>
            <a:r>
              <a:rPr lang="ru-RU" sz="2000" dirty="0" smtClean="0"/>
              <a:t>, </a:t>
            </a:r>
            <a:r>
              <a:rPr lang="ru-RU" sz="2000" dirty="0" err="1" smtClean="0"/>
              <a:t>мегабајти</a:t>
            </a:r>
            <a:r>
              <a:rPr lang="ru-RU" sz="2000" dirty="0" smtClean="0"/>
              <a:t>, </a:t>
            </a:r>
            <a:r>
              <a:rPr lang="ru-RU" sz="2000" dirty="0" err="1" smtClean="0"/>
              <a:t>гигабајти</a:t>
            </a:r>
            <a:r>
              <a:rPr lang="ru-RU" sz="2000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101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5536" y="188640"/>
            <a:ext cx="8208912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9. </a:t>
            </a:r>
            <a:r>
              <a:rPr lang="ru-RU" b="1" dirty="0" err="1"/>
              <a:t>Како</a:t>
            </a:r>
            <a:r>
              <a:rPr lang="ru-RU" b="1" dirty="0"/>
              <a:t> се </a:t>
            </a:r>
            <a:r>
              <a:rPr lang="ru-RU" b="1" dirty="0" err="1"/>
              <a:t>спроводи</a:t>
            </a:r>
            <a:r>
              <a:rPr lang="ru-RU" b="1" dirty="0"/>
              <a:t> </a:t>
            </a:r>
            <a:r>
              <a:rPr lang="ru-RU" b="1" dirty="0" err="1"/>
              <a:t>поуздано</a:t>
            </a:r>
            <a:r>
              <a:rPr lang="ru-RU" b="1" dirty="0"/>
              <a:t> </a:t>
            </a:r>
            <a:r>
              <a:rPr lang="ru-RU" b="1" dirty="0" err="1" smtClean="0"/>
              <a:t>чување</a:t>
            </a:r>
            <a:r>
              <a:rPr lang="ru-RU" b="1" dirty="0" smtClean="0"/>
              <a:t> е-</a:t>
            </a:r>
            <a:r>
              <a:rPr lang="ru-RU" b="1" dirty="0" err="1" smtClean="0"/>
              <a:t>докумената</a:t>
            </a:r>
            <a:r>
              <a:rPr lang="ru-RU" b="1" dirty="0" smtClean="0"/>
              <a:t>?</a:t>
            </a:r>
            <a:endParaRPr lang="ru-RU" b="1" dirty="0"/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/>
              <a:t>Конвертујте</a:t>
            </a:r>
            <a:r>
              <a:rPr lang="ru-RU" sz="1600" dirty="0"/>
              <a:t> документ у формат </a:t>
            </a:r>
            <a:r>
              <a:rPr lang="ru-RU" sz="1600" dirty="0" err="1"/>
              <a:t>погодан</a:t>
            </a:r>
            <a:r>
              <a:rPr lang="ru-RU" sz="1600" dirty="0"/>
              <a:t> за </a:t>
            </a:r>
            <a:r>
              <a:rPr lang="ru-RU" sz="1600" dirty="0" err="1"/>
              <a:t>трајно</a:t>
            </a:r>
            <a:r>
              <a:rPr lang="ru-RU" sz="1600" dirty="0"/>
              <a:t> </a:t>
            </a:r>
            <a:r>
              <a:rPr lang="ru-RU" sz="1600" dirty="0" err="1"/>
              <a:t>чување</a:t>
            </a:r>
            <a:r>
              <a:rPr lang="ru-RU" sz="1600" dirty="0"/>
              <a:t> (</a:t>
            </a:r>
            <a:r>
              <a:rPr lang="ru-RU" sz="1600" dirty="0" err="1"/>
              <a:t>односи</a:t>
            </a:r>
            <a:r>
              <a:rPr lang="ru-RU" sz="1600" dirty="0"/>
              <a:t> се само на </a:t>
            </a:r>
            <a:r>
              <a:rPr lang="ru-RU" sz="1600" dirty="0" smtClean="0"/>
              <a:t>документе </a:t>
            </a:r>
            <a:r>
              <a:rPr lang="ru-RU" sz="1600" dirty="0" err="1" smtClean="0"/>
              <a:t>који</a:t>
            </a:r>
            <a:r>
              <a:rPr lang="ru-RU" sz="1600" dirty="0" smtClean="0"/>
              <a:t> се </a:t>
            </a:r>
            <a:r>
              <a:rPr lang="ru-RU" sz="1600" dirty="0" err="1" smtClean="0"/>
              <a:t>чувају</a:t>
            </a:r>
            <a:r>
              <a:rPr lang="ru-RU" sz="1600" dirty="0" smtClean="0"/>
              <a:t> </a:t>
            </a:r>
            <a:r>
              <a:rPr lang="ru-RU" sz="1600" dirty="0" err="1" smtClean="0"/>
              <a:t>дуже</a:t>
            </a:r>
            <a:r>
              <a:rPr lang="ru-RU" sz="1600" dirty="0" smtClean="0"/>
              <a:t> од 5 година и </a:t>
            </a:r>
            <a:r>
              <a:rPr lang="ru-RU" sz="1600" dirty="0" err="1" smtClean="0"/>
              <a:t>који</a:t>
            </a:r>
            <a:r>
              <a:rPr lang="ru-RU" sz="1600" dirty="0" smtClean="0"/>
              <a:t> </a:t>
            </a:r>
            <a:r>
              <a:rPr lang="ru-RU" sz="1600" dirty="0"/>
              <a:t>се </a:t>
            </a:r>
            <a:r>
              <a:rPr lang="ru-RU" sz="1600" dirty="0" err="1"/>
              <a:t>чувају</a:t>
            </a:r>
            <a:r>
              <a:rPr lang="ru-RU" sz="1600" dirty="0"/>
              <a:t> </a:t>
            </a:r>
            <a:r>
              <a:rPr lang="ru-RU" sz="1600" dirty="0" err="1"/>
              <a:t>трајно</a:t>
            </a:r>
            <a:r>
              <a:rPr lang="ru-RU" sz="1600" dirty="0" smtClean="0"/>
              <a:t>).</a:t>
            </a: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/>
              <a:t>Придружите</a:t>
            </a:r>
            <a:r>
              <a:rPr lang="ru-RU" sz="1600" dirty="0"/>
              <a:t> </a:t>
            </a:r>
            <a:r>
              <a:rPr lang="ru-RU" sz="1600" dirty="0" err="1"/>
              <a:t>квалификовани</a:t>
            </a:r>
            <a:r>
              <a:rPr lang="ru-RU" sz="1600" dirty="0"/>
              <a:t> </a:t>
            </a:r>
            <a:r>
              <a:rPr lang="ru-RU" sz="1600" dirty="0" err="1"/>
              <a:t>електронски</a:t>
            </a:r>
            <a:r>
              <a:rPr lang="ru-RU" sz="1600" dirty="0"/>
              <a:t> </a:t>
            </a:r>
            <a:r>
              <a:rPr lang="ru-RU" sz="1600" dirty="0" err="1"/>
              <a:t>потпис</a:t>
            </a:r>
            <a:r>
              <a:rPr lang="ru-RU" sz="1600" dirty="0"/>
              <a:t>/</a:t>
            </a:r>
            <a:r>
              <a:rPr lang="ru-RU" sz="1600" dirty="0" err="1"/>
              <a:t>печат</a:t>
            </a:r>
            <a:r>
              <a:rPr lang="ru-RU" sz="1600" dirty="0"/>
              <a:t> лица </a:t>
            </a:r>
            <a:r>
              <a:rPr lang="ru-RU" sz="1600" dirty="0" err="1"/>
              <a:t>овлашћеног</a:t>
            </a:r>
            <a:r>
              <a:rPr lang="ru-RU" sz="1600" dirty="0"/>
              <a:t> за </a:t>
            </a:r>
            <a:r>
              <a:rPr lang="ru-RU" sz="1600" dirty="0" err="1"/>
              <a:t>припрему</a:t>
            </a:r>
            <a:r>
              <a:rPr lang="ru-RU" sz="1600" dirty="0"/>
              <a:t> </a:t>
            </a:r>
            <a:r>
              <a:rPr lang="ru-RU" sz="1600" dirty="0" err="1"/>
              <a:t>докумената</a:t>
            </a:r>
            <a:r>
              <a:rPr lang="ru-RU" sz="1600" dirty="0"/>
              <a:t> за </a:t>
            </a:r>
            <a:r>
              <a:rPr lang="ru-RU" sz="1600" dirty="0" err="1"/>
              <a:t>електронско</a:t>
            </a:r>
            <a:r>
              <a:rPr lang="ru-RU" sz="1600" dirty="0"/>
              <a:t> </a:t>
            </a:r>
            <a:r>
              <a:rPr lang="ru-RU" sz="1600" dirty="0" err="1"/>
              <a:t>чување</a:t>
            </a:r>
            <a:r>
              <a:rPr lang="ru-RU" sz="1600" dirty="0"/>
              <a:t>, без </a:t>
            </a:r>
            <a:r>
              <a:rPr lang="ru-RU" sz="1600" dirty="0" err="1"/>
              <a:t>обзира</a:t>
            </a:r>
            <a:r>
              <a:rPr lang="ru-RU" sz="1600" dirty="0"/>
              <a:t> на то да ли </a:t>
            </a:r>
            <a:r>
              <a:rPr lang="ru-RU" sz="1600" dirty="0" err="1"/>
              <a:t>је</a:t>
            </a:r>
            <a:r>
              <a:rPr lang="ru-RU" sz="1600" dirty="0"/>
              <a:t> у </a:t>
            </a:r>
            <a:r>
              <a:rPr lang="ru-RU" sz="1600" dirty="0" err="1"/>
              <a:t>питању</a:t>
            </a:r>
            <a:r>
              <a:rPr lang="ru-RU" sz="1600" dirty="0"/>
              <a:t> документ </a:t>
            </a:r>
            <a:r>
              <a:rPr lang="ru-RU" sz="1600" dirty="0" err="1"/>
              <a:t>који</a:t>
            </a:r>
            <a:r>
              <a:rPr lang="ru-RU" sz="1600" dirty="0"/>
              <a:t> у </a:t>
            </a:r>
            <a:r>
              <a:rPr lang="ru-RU" sz="1600" dirty="0" err="1"/>
              <a:t>изворном</a:t>
            </a:r>
            <a:r>
              <a:rPr lang="ru-RU" sz="1600" dirty="0"/>
              <a:t> облику </a:t>
            </a:r>
            <a:r>
              <a:rPr lang="ru-RU" sz="1600" dirty="0" err="1"/>
              <a:t>садржи</a:t>
            </a:r>
            <a:r>
              <a:rPr lang="ru-RU" sz="1600" dirty="0"/>
              <a:t> </a:t>
            </a:r>
            <a:r>
              <a:rPr lang="ru-RU" sz="1600" dirty="0" err="1"/>
              <a:t>квалификовани</a:t>
            </a:r>
            <a:r>
              <a:rPr lang="ru-RU" sz="1600" dirty="0"/>
              <a:t> </a:t>
            </a:r>
            <a:r>
              <a:rPr lang="ru-RU" sz="1600" dirty="0" err="1"/>
              <a:t>електронски</a:t>
            </a:r>
            <a:r>
              <a:rPr lang="ru-RU" sz="1600" dirty="0"/>
              <a:t> </a:t>
            </a:r>
            <a:r>
              <a:rPr lang="ru-RU" sz="1600" dirty="0" err="1"/>
              <a:t>потпис</a:t>
            </a:r>
            <a:r>
              <a:rPr lang="ru-RU" sz="1600" dirty="0"/>
              <a:t>/</a:t>
            </a:r>
            <a:r>
              <a:rPr lang="ru-RU" sz="1600" dirty="0" err="1"/>
              <a:t>печат</a:t>
            </a: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/>
              <a:t>Придружите</a:t>
            </a:r>
            <a:r>
              <a:rPr lang="ru-RU" sz="1600" dirty="0"/>
              <a:t> </a:t>
            </a:r>
            <a:r>
              <a:rPr lang="ru-RU" sz="1600" dirty="0" err="1"/>
              <a:t>квалификовани</a:t>
            </a:r>
            <a:r>
              <a:rPr lang="ru-RU" sz="1600" dirty="0"/>
              <a:t> </a:t>
            </a:r>
            <a:r>
              <a:rPr lang="ru-RU" sz="1600" dirty="0" err="1"/>
              <a:t>временски</a:t>
            </a:r>
            <a:r>
              <a:rPr lang="ru-RU" sz="1600" dirty="0"/>
              <a:t> жиг (у складу </a:t>
            </a:r>
            <a:r>
              <a:rPr lang="ru-RU" sz="1600" dirty="0" err="1"/>
              <a:t>са</a:t>
            </a:r>
            <a:r>
              <a:rPr lang="ru-RU" sz="1600" dirty="0"/>
              <a:t> чл. 5. </a:t>
            </a:r>
            <a:r>
              <a:rPr lang="ru-RU" sz="1600" dirty="0" err="1"/>
              <a:t>Правилника</a:t>
            </a:r>
            <a:r>
              <a:rPr lang="ru-RU" sz="1600" dirty="0"/>
              <a:t> о </a:t>
            </a:r>
            <a:r>
              <a:rPr lang="ru-RU" sz="1600" dirty="0" err="1"/>
              <a:t>условима</a:t>
            </a:r>
            <a:r>
              <a:rPr lang="ru-RU" sz="1600" dirty="0"/>
              <a:t> за поступке и </a:t>
            </a:r>
            <a:r>
              <a:rPr lang="ru-RU" sz="1600" dirty="0" err="1"/>
              <a:t>технолошка</a:t>
            </a:r>
            <a:r>
              <a:rPr lang="ru-RU" sz="1600" dirty="0"/>
              <a:t> </a:t>
            </a:r>
            <a:r>
              <a:rPr lang="ru-RU" sz="1600" dirty="0" err="1"/>
              <a:t>решења</a:t>
            </a:r>
            <a:r>
              <a:rPr lang="ru-RU" sz="1600" dirty="0"/>
              <a:t> </a:t>
            </a:r>
            <a:r>
              <a:rPr lang="ru-RU" sz="1600" dirty="0" err="1"/>
              <a:t>који</a:t>
            </a:r>
            <a:r>
              <a:rPr lang="ru-RU" sz="1600" dirty="0"/>
              <a:t> се </a:t>
            </a:r>
            <a:r>
              <a:rPr lang="ru-RU" sz="1600" dirty="0" err="1"/>
              <a:t>користе</a:t>
            </a:r>
            <a:r>
              <a:rPr lang="ru-RU" sz="1600" dirty="0"/>
              <a:t> током </a:t>
            </a:r>
            <a:r>
              <a:rPr lang="ru-RU" sz="1600" dirty="0" err="1"/>
              <a:t>поузданог</a:t>
            </a:r>
            <a:r>
              <a:rPr lang="ru-RU" sz="1600" dirty="0"/>
              <a:t> </a:t>
            </a:r>
            <a:r>
              <a:rPr lang="ru-RU" sz="1600" dirty="0" err="1"/>
              <a:t>електронског</a:t>
            </a:r>
            <a:r>
              <a:rPr lang="ru-RU" sz="1600" dirty="0"/>
              <a:t> </a:t>
            </a:r>
            <a:r>
              <a:rPr lang="ru-RU" sz="1600" dirty="0" err="1"/>
              <a:t>чувања</a:t>
            </a:r>
            <a:r>
              <a:rPr lang="ru-RU" sz="1600" dirty="0"/>
              <a:t> документа)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/>
              <a:t>Спроведите</a:t>
            </a:r>
            <a:r>
              <a:rPr lang="ru-RU" sz="1600" dirty="0"/>
              <a:t> </a:t>
            </a:r>
            <a:r>
              <a:rPr lang="ru-RU" sz="1600" dirty="0" err="1"/>
              <a:t>валидацију</a:t>
            </a:r>
            <a:r>
              <a:rPr lang="ru-RU" sz="1600" dirty="0"/>
              <a:t> </a:t>
            </a:r>
            <a:r>
              <a:rPr lang="ru-RU" sz="1600" dirty="0" err="1"/>
              <a:t>квалификованог</a:t>
            </a:r>
            <a:r>
              <a:rPr lang="ru-RU" sz="1600" dirty="0"/>
              <a:t> </a:t>
            </a:r>
            <a:r>
              <a:rPr lang="ru-RU" sz="1600" dirty="0" err="1"/>
              <a:t>електронског</a:t>
            </a:r>
            <a:r>
              <a:rPr lang="ru-RU" sz="1600" dirty="0"/>
              <a:t> </a:t>
            </a:r>
            <a:r>
              <a:rPr lang="ru-RU" sz="1600" dirty="0" err="1"/>
              <a:t>потписа</a:t>
            </a:r>
            <a:r>
              <a:rPr lang="ru-RU" sz="1600" dirty="0"/>
              <a:t> </a:t>
            </a:r>
            <a:r>
              <a:rPr lang="ru-RU" sz="1600" dirty="0" err="1"/>
              <a:t>односно</a:t>
            </a:r>
            <a:r>
              <a:rPr lang="ru-RU" sz="1600" dirty="0"/>
              <a:t> </a:t>
            </a:r>
            <a:r>
              <a:rPr lang="ru-RU" sz="1600" dirty="0" err="1"/>
              <a:t>печата</a:t>
            </a:r>
            <a:r>
              <a:rPr lang="ru-RU" sz="1600" dirty="0"/>
              <a:t> (</a:t>
            </a:r>
            <a:r>
              <a:rPr lang="ru-RU" sz="1600" dirty="0" err="1"/>
              <a:t>могуће</a:t>
            </a:r>
            <a:r>
              <a:rPr lang="ru-RU" sz="1600" dirty="0"/>
              <a:t> </a:t>
            </a:r>
            <a:r>
              <a:rPr lang="ru-RU" sz="1600" dirty="0" err="1"/>
              <a:t>је</a:t>
            </a:r>
            <a:r>
              <a:rPr lang="ru-RU" sz="1600" dirty="0"/>
              <a:t> да софтвер </a:t>
            </a:r>
            <a:r>
              <a:rPr lang="ru-RU" sz="1600" dirty="0" err="1"/>
              <a:t>који</a:t>
            </a:r>
            <a:r>
              <a:rPr lang="ru-RU" sz="1600" dirty="0"/>
              <a:t> </a:t>
            </a:r>
            <a:r>
              <a:rPr lang="ru-RU" sz="1600" dirty="0" err="1"/>
              <a:t>користите</a:t>
            </a:r>
            <a:r>
              <a:rPr lang="ru-RU" sz="1600" dirty="0"/>
              <a:t> за </a:t>
            </a:r>
            <a:r>
              <a:rPr lang="ru-RU" sz="1600" dirty="0" err="1"/>
              <a:t>поуздано</a:t>
            </a:r>
            <a:r>
              <a:rPr lang="ru-RU" sz="1600" dirty="0"/>
              <a:t> </a:t>
            </a:r>
            <a:r>
              <a:rPr lang="ru-RU" sz="1600" dirty="0" err="1"/>
              <a:t>чување</a:t>
            </a:r>
            <a:r>
              <a:rPr lang="ru-RU" sz="1600" dirty="0"/>
              <a:t> </a:t>
            </a:r>
            <a:r>
              <a:rPr lang="ru-RU" sz="1600" dirty="0" err="1"/>
              <a:t>има</a:t>
            </a:r>
            <a:r>
              <a:rPr lang="ru-RU" sz="1600" dirty="0"/>
              <a:t> </a:t>
            </a:r>
            <a:r>
              <a:rPr lang="ru-RU" sz="1600" dirty="0" err="1"/>
              <a:t>ову</a:t>
            </a:r>
            <a:r>
              <a:rPr lang="ru-RU" sz="1600" dirty="0"/>
              <a:t> </a:t>
            </a:r>
            <a:r>
              <a:rPr lang="ru-RU" sz="1600" dirty="0" err="1"/>
              <a:t>функцију</a:t>
            </a:r>
            <a:r>
              <a:rPr lang="ru-RU" sz="1600" dirty="0"/>
              <a:t>, али </a:t>
            </a:r>
            <a:r>
              <a:rPr lang="ru-RU" sz="1600" dirty="0" err="1"/>
              <a:t>уколико</a:t>
            </a:r>
            <a:r>
              <a:rPr lang="ru-RU" sz="1600" dirty="0"/>
              <a:t> нема можете </a:t>
            </a:r>
            <a:r>
              <a:rPr lang="ru-RU" sz="1600" dirty="0" err="1"/>
              <a:t>посетити</a:t>
            </a:r>
            <a:r>
              <a:rPr lang="ru-RU" sz="1600" dirty="0"/>
              <a:t> </a:t>
            </a:r>
            <a:r>
              <a:rPr lang="ru-RU" sz="1600" dirty="0" err="1"/>
              <a:t>линк</a:t>
            </a:r>
            <a:r>
              <a:rPr lang="ru-RU" sz="1600" dirty="0"/>
              <a:t> за </a:t>
            </a:r>
            <a:r>
              <a:rPr lang="ru-RU" sz="1600" dirty="0" err="1"/>
              <a:t>валидацију</a:t>
            </a:r>
            <a:r>
              <a:rPr lang="ru-RU" sz="1600" dirty="0"/>
              <a:t> на </a:t>
            </a:r>
            <a:r>
              <a:rPr lang="ru-RU" sz="1600" dirty="0" err="1"/>
              <a:t>сајту</a:t>
            </a:r>
            <a:r>
              <a:rPr lang="ru-RU" sz="1600" dirty="0"/>
              <a:t> ПКС или </a:t>
            </a:r>
            <a:r>
              <a:rPr lang="ru-RU" sz="1600" dirty="0" err="1"/>
              <a:t>контактирајте</a:t>
            </a:r>
            <a:r>
              <a:rPr lang="ru-RU" sz="1600" dirty="0"/>
              <a:t> </a:t>
            </a:r>
            <a:r>
              <a:rPr lang="ru-RU" sz="1600" dirty="0" err="1"/>
              <a:t>сертификационо</a:t>
            </a:r>
            <a:r>
              <a:rPr lang="ru-RU" sz="1600" dirty="0"/>
              <a:t> тело </a:t>
            </a:r>
            <a:r>
              <a:rPr lang="ru-RU" sz="1600" dirty="0" err="1"/>
              <a:t>које</a:t>
            </a:r>
            <a:r>
              <a:rPr lang="ru-RU" sz="1600" dirty="0"/>
              <a:t> вам </a:t>
            </a:r>
            <a:r>
              <a:rPr lang="ru-RU" sz="1600" dirty="0" err="1"/>
              <a:t>је</a:t>
            </a:r>
            <a:r>
              <a:rPr lang="ru-RU" sz="1600" dirty="0"/>
              <a:t> издало </a:t>
            </a:r>
            <a:r>
              <a:rPr lang="ru-RU" sz="1600" dirty="0" err="1"/>
              <a:t>квалификовани</a:t>
            </a:r>
            <a:r>
              <a:rPr lang="ru-RU" sz="1600" dirty="0"/>
              <a:t> </a:t>
            </a:r>
            <a:r>
              <a:rPr lang="ru-RU" sz="1600" dirty="0" err="1"/>
              <a:t>електронски</a:t>
            </a:r>
            <a:r>
              <a:rPr lang="ru-RU" sz="1600" dirty="0"/>
              <a:t> </a:t>
            </a:r>
            <a:r>
              <a:rPr lang="ru-RU" sz="1600" dirty="0" err="1"/>
              <a:t>потпис</a:t>
            </a:r>
            <a:r>
              <a:rPr lang="ru-RU" sz="1600" dirty="0"/>
              <a:t>/</a:t>
            </a:r>
            <a:r>
              <a:rPr lang="ru-RU" sz="1600" dirty="0" err="1"/>
              <a:t>печат</a:t>
            </a:r>
            <a:r>
              <a:rPr lang="ru-RU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Документ се </a:t>
            </a:r>
            <a:r>
              <a:rPr lang="ru-RU" sz="1600" dirty="0" err="1"/>
              <a:t>похрањује</a:t>
            </a:r>
            <a:r>
              <a:rPr lang="ru-RU" sz="1600" dirty="0"/>
              <a:t> на безбедно место </a:t>
            </a:r>
            <a:r>
              <a:rPr lang="ru-RU" sz="1600" dirty="0" err="1"/>
              <a:t>тј</a:t>
            </a:r>
            <a:r>
              <a:rPr lang="ru-RU" sz="1600" dirty="0"/>
              <a:t>. </a:t>
            </a:r>
            <a:r>
              <a:rPr lang="ru-RU" sz="1600" dirty="0" err="1"/>
              <a:t>локацију</a:t>
            </a:r>
            <a:r>
              <a:rPr lang="ru-RU" sz="1600" dirty="0"/>
              <a:t>, у складу </a:t>
            </a:r>
            <a:r>
              <a:rPr lang="ru-RU" sz="1600" dirty="0" err="1"/>
              <a:t>са</a:t>
            </a:r>
            <a:r>
              <a:rPr lang="ru-RU" sz="1600" dirty="0"/>
              <a:t> вашим </a:t>
            </a:r>
            <a:r>
              <a:rPr lang="ru-RU" sz="1600" dirty="0" err="1"/>
              <a:t>ресурсима</a:t>
            </a:r>
            <a:r>
              <a:rPr lang="ru-RU" sz="1600" dirty="0"/>
              <a:t>. </a:t>
            </a:r>
            <a:r>
              <a:rPr lang="ru-RU" sz="1600" dirty="0" smtClean="0"/>
              <a:t>То, </a:t>
            </a:r>
            <a:r>
              <a:rPr lang="ru-RU" sz="1600" dirty="0" err="1" smtClean="0"/>
              <a:t>свакако</a:t>
            </a:r>
            <a:r>
              <a:rPr lang="ru-RU" sz="1600" dirty="0" smtClean="0"/>
              <a:t>, </a:t>
            </a:r>
            <a:r>
              <a:rPr lang="ru-RU" sz="1600" dirty="0"/>
              <a:t>мора </a:t>
            </a:r>
            <a:r>
              <a:rPr lang="ru-RU" sz="1600" dirty="0" err="1"/>
              <a:t>бити</a:t>
            </a:r>
            <a:r>
              <a:rPr lang="ru-RU" sz="1600" dirty="0"/>
              <a:t> </a:t>
            </a:r>
            <a:r>
              <a:rPr lang="ru-RU" sz="1600" dirty="0" err="1"/>
              <a:t>нека</a:t>
            </a:r>
            <a:r>
              <a:rPr lang="ru-RU" sz="1600" dirty="0"/>
              <a:t> безбедна </a:t>
            </a:r>
            <a:r>
              <a:rPr lang="ru-RU" sz="1600" dirty="0" err="1"/>
              <a:t>локација</a:t>
            </a:r>
            <a:r>
              <a:rPr lang="ru-RU" sz="1600" dirty="0"/>
              <a:t> </a:t>
            </a:r>
            <a:r>
              <a:rPr lang="ru-RU" sz="1600" dirty="0" err="1"/>
              <a:t>како</a:t>
            </a:r>
            <a:r>
              <a:rPr lang="ru-RU" sz="1600" dirty="0"/>
              <a:t> би се </a:t>
            </a:r>
            <a:r>
              <a:rPr lang="ru-RU" sz="1600" dirty="0" err="1"/>
              <a:t>очувао</a:t>
            </a:r>
            <a:r>
              <a:rPr lang="ru-RU" sz="1600" dirty="0"/>
              <a:t> </a:t>
            </a:r>
            <a:r>
              <a:rPr lang="ru-RU" sz="1600" dirty="0" err="1"/>
              <a:t>интегритет</a:t>
            </a:r>
            <a:r>
              <a:rPr lang="ru-RU" sz="1600" dirty="0"/>
              <a:t> документа. </a:t>
            </a:r>
            <a:r>
              <a:rPr lang="ru-RU" sz="1600" dirty="0" err="1" smtClean="0"/>
              <a:t>Временски</a:t>
            </a:r>
            <a:r>
              <a:rPr lang="ru-RU" sz="1600" dirty="0" smtClean="0"/>
              <a:t> </a:t>
            </a:r>
            <a:r>
              <a:rPr lang="ru-RU" sz="1600" dirty="0"/>
              <a:t>жиг </a:t>
            </a:r>
            <a:r>
              <a:rPr lang="ru-RU" sz="1600" dirty="0" err="1"/>
              <a:t>тј</a:t>
            </a:r>
            <a:r>
              <a:rPr lang="ru-RU" sz="1600" dirty="0"/>
              <a:t>. </a:t>
            </a:r>
            <a:r>
              <a:rPr lang="ru-RU" sz="1600" dirty="0" err="1"/>
              <a:t>његов</a:t>
            </a:r>
            <a:r>
              <a:rPr lang="ru-RU" sz="1600" dirty="0"/>
              <a:t> сертификат </a:t>
            </a:r>
            <a:r>
              <a:rPr lang="ru-RU" sz="1600" dirty="0" err="1"/>
              <a:t>има</a:t>
            </a:r>
            <a:r>
              <a:rPr lang="ru-RU" sz="1600" dirty="0"/>
              <a:t> </a:t>
            </a:r>
            <a:r>
              <a:rPr lang="ru-RU" sz="1600" dirty="0" err="1"/>
              <a:t>ограничени</a:t>
            </a:r>
            <a:r>
              <a:rPr lang="ru-RU" sz="1600" dirty="0"/>
              <a:t> рок </a:t>
            </a:r>
            <a:r>
              <a:rPr lang="ru-RU" sz="1600" dirty="0" err="1"/>
              <a:t>трајања</a:t>
            </a:r>
            <a:r>
              <a:rPr lang="ru-RU" sz="1600" dirty="0"/>
              <a:t> (5 година). Периодично, пре него </a:t>
            </a:r>
            <a:r>
              <a:rPr lang="ru-RU" sz="1600" dirty="0" err="1"/>
              <a:t>што</a:t>
            </a:r>
            <a:r>
              <a:rPr lang="ru-RU" sz="1600" dirty="0"/>
              <a:t> </a:t>
            </a:r>
            <a:r>
              <a:rPr lang="ru-RU" sz="1600" dirty="0" err="1"/>
              <a:t>истекне</a:t>
            </a:r>
            <a:r>
              <a:rPr lang="ru-RU" sz="1600" dirty="0"/>
              <a:t> рок </a:t>
            </a:r>
            <a:r>
              <a:rPr lang="ru-RU" sz="1600" dirty="0" err="1"/>
              <a:t>важења</a:t>
            </a:r>
            <a:r>
              <a:rPr lang="ru-RU" sz="1600" dirty="0"/>
              <a:t> </a:t>
            </a:r>
            <a:r>
              <a:rPr lang="ru-RU" sz="1600" dirty="0" err="1"/>
              <a:t>временског</a:t>
            </a:r>
            <a:r>
              <a:rPr lang="ru-RU" sz="1600" dirty="0"/>
              <a:t> жига, </a:t>
            </a:r>
            <a:r>
              <a:rPr lang="ru-RU" sz="1600" dirty="0" err="1"/>
              <a:t>који</a:t>
            </a:r>
            <a:r>
              <a:rPr lang="ru-RU" sz="1600" dirty="0"/>
              <a:t> </a:t>
            </a:r>
            <a:r>
              <a:rPr lang="ru-RU" sz="1600" dirty="0" err="1"/>
              <a:t>је</a:t>
            </a:r>
            <a:r>
              <a:rPr lang="ru-RU" sz="1600" dirty="0"/>
              <a:t> </a:t>
            </a:r>
            <a:r>
              <a:rPr lang="ru-RU" sz="1600" dirty="0" err="1"/>
              <a:t>непосредно</a:t>
            </a:r>
            <a:r>
              <a:rPr lang="ru-RU" sz="1600" dirty="0"/>
              <a:t> ваш или </a:t>
            </a:r>
            <a:r>
              <a:rPr lang="ru-RU" sz="1600" dirty="0" err="1"/>
              <a:t>временски</a:t>
            </a:r>
            <a:r>
              <a:rPr lang="ru-RU" sz="1600" dirty="0"/>
              <a:t> жиг софтвера </a:t>
            </a:r>
            <a:r>
              <a:rPr lang="ru-RU" sz="1600" dirty="0" err="1"/>
              <a:t>који</a:t>
            </a:r>
            <a:r>
              <a:rPr lang="ru-RU" sz="1600" dirty="0"/>
              <a:t> </a:t>
            </a:r>
            <a:r>
              <a:rPr lang="ru-RU" sz="1600" dirty="0" err="1"/>
              <a:t>користите</a:t>
            </a:r>
            <a:r>
              <a:rPr lang="ru-RU" sz="1600" dirty="0"/>
              <a:t>, потребно </a:t>
            </a:r>
            <a:r>
              <a:rPr lang="ru-RU" sz="1600" dirty="0" err="1"/>
              <a:t>је</a:t>
            </a:r>
            <a:r>
              <a:rPr lang="ru-RU" sz="1600" dirty="0"/>
              <a:t> да </a:t>
            </a:r>
            <a:r>
              <a:rPr lang="ru-RU" sz="1600" dirty="0" err="1"/>
              <a:t>архивиране</a:t>
            </a:r>
            <a:r>
              <a:rPr lang="ru-RU" sz="1600" dirty="0"/>
              <a:t> документе </a:t>
            </a:r>
            <a:r>
              <a:rPr lang="ru-RU" sz="1600" dirty="0" err="1"/>
              <a:t>надоградите</a:t>
            </a:r>
            <a:r>
              <a:rPr lang="ru-RU" sz="1600" dirty="0"/>
              <a:t> </a:t>
            </a:r>
            <a:r>
              <a:rPr lang="ru-RU" sz="1600" dirty="0" err="1"/>
              <a:t>са</a:t>
            </a:r>
            <a:r>
              <a:rPr lang="ru-RU" sz="1600" dirty="0"/>
              <a:t> </a:t>
            </a:r>
            <a:r>
              <a:rPr lang="ru-RU" sz="1600" dirty="0" err="1"/>
              <a:t>новим</a:t>
            </a:r>
            <a:r>
              <a:rPr lang="ru-RU" sz="1600" dirty="0"/>
              <a:t> </a:t>
            </a:r>
            <a:r>
              <a:rPr lang="ru-RU" sz="1600" dirty="0" err="1"/>
              <a:t>временским</a:t>
            </a:r>
            <a:r>
              <a:rPr lang="ru-RU" sz="1600" dirty="0"/>
              <a:t> </a:t>
            </a:r>
            <a:r>
              <a:rPr lang="ru-RU" sz="1600" dirty="0" err="1"/>
              <a:t>жигом</a:t>
            </a:r>
            <a:r>
              <a:rPr lang="ru-RU" sz="1600" dirty="0"/>
              <a:t> (</a:t>
            </a:r>
            <a:r>
              <a:rPr lang="ru-RU" sz="1600" dirty="0" err="1"/>
              <a:t>ово</a:t>
            </a:r>
            <a:r>
              <a:rPr lang="ru-RU" sz="1600" dirty="0"/>
              <a:t> се ради из </a:t>
            </a:r>
            <a:r>
              <a:rPr lang="ru-RU" sz="1600" dirty="0" err="1"/>
              <a:t>безбедносних</a:t>
            </a:r>
            <a:r>
              <a:rPr lang="ru-RU" sz="1600" dirty="0"/>
              <a:t> разлога </a:t>
            </a:r>
            <a:r>
              <a:rPr lang="ru-RU" sz="1600" dirty="0" err="1"/>
              <a:t>због</a:t>
            </a:r>
            <a:r>
              <a:rPr lang="ru-RU" sz="1600" dirty="0"/>
              <a:t> </a:t>
            </a:r>
            <a:r>
              <a:rPr lang="ru-RU" sz="1600" dirty="0" err="1"/>
              <a:t>напретка</a:t>
            </a:r>
            <a:r>
              <a:rPr lang="ru-RU" sz="1600" dirty="0"/>
              <a:t> </a:t>
            </a:r>
            <a:r>
              <a:rPr lang="ru-RU" sz="1600" dirty="0" err="1"/>
              <a:t>технологије</a:t>
            </a:r>
            <a:r>
              <a:rPr lang="ru-RU" sz="1600" dirty="0"/>
              <a:t> и </a:t>
            </a:r>
            <a:r>
              <a:rPr lang="ru-RU" sz="1600" dirty="0" err="1"/>
              <a:t>могућности</a:t>
            </a:r>
            <a:r>
              <a:rPr lang="ru-RU" sz="1600" dirty="0"/>
              <a:t> </a:t>
            </a:r>
            <a:r>
              <a:rPr lang="ru-RU" sz="1600" dirty="0" err="1"/>
              <a:t>малициозних</a:t>
            </a:r>
            <a:r>
              <a:rPr lang="ru-RU" sz="1600" dirty="0"/>
              <a:t> </a:t>
            </a:r>
            <a:r>
              <a:rPr lang="ru-RU" sz="1600" dirty="0" err="1"/>
              <a:t>напада</a:t>
            </a:r>
            <a:r>
              <a:rPr lang="ru-RU" sz="1600" dirty="0"/>
              <a:t> </a:t>
            </a:r>
            <a:r>
              <a:rPr lang="ru-RU" sz="1600" dirty="0" err="1"/>
              <a:t>који</a:t>
            </a:r>
            <a:r>
              <a:rPr lang="ru-RU" sz="1600" dirty="0"/>
              <a:t> могу </a:t>
            </a:r>
            <a:r>
              <a:rPr lang="ru-RU" sz="1600" dirty="0" err="1"/>
              <a:t>компромитовати</a:t>
            </a:r>
            <a:r>
              <a:rPr lang="ru-RU" sz="1600" dirty="0"/>
              <a:t> документ). </a:t>
            </a:r>
            <a:endParaRPr lang="ru-RU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 smtClean="0"/>
              <a:t>Препоручује</a:t>
            </a:r>
            <a:r>
              <a:rPr lang="ru-RU" sz="1600" dirty="0" smtClean="0"/>
              <a:t> се </a:t>
            </a:r>
            <a:r>
              <a:rPr lang="ru-RU" sz="1600" dirty="0" err="1" smtClean="0"/>
              <a:t>софтверско</a:t>
            </a:r>
            <a:r>
              <a:rPr lang="ru-RU" sz="1600" dirty="0" smtClean="0"/>
              <a:t> </a:t>
            </a:r>
            <a:r>
              <a:rPr lang="ru-RU" sz="1600" dirty="0" err="1" smtClean="0"/>
              <a:t>решење</a:t>
            </a:r>
            <a:r>
              <a:rPr lang="ru-RU" sz="1600" dirty="0" smtClean="0"/>
              <a:t> за </a:t>
            </a:r>
            <a:r>
              <a:rPr lang="ru-RU" sz="1600" dirty="0" err="1" smtClean="0"/>
              <a:t>поуздано</a:t>
            </a:r>
            <a:r>
              <a:rPr lang="ru-RU" sz="1600" dirty="0" smtClean="0"/>
              <a:t> </a:t>
            </a:r>
            <a:r>
              <a:rPr lang="ru-RU" sz="1600" dirty="0" err="1" smtClean="0"/>
              <a:t>чување</a:t>
            </a:r>
            <a:r>
              <a:rPr lang="ru-RU" sz="1600" dirty="0" smtClean="0"/>
              <a:t>/</a:t>
            </a:r>
            <a:r>
              <a:rPr lang="ru-RU" sz="1600" dirty="0" err="1" smtClean="0"/>
              <a:t>архивирање</a:t>
            </a:r>
            <a:r>
              <a:rPr lang="ru-RU" sz="1600" dirty="0" smtClean="0"/>
              <a:t>  е-</a:t>
            </a:r>
            <a:r>
              <a:rPr lang="ru-RU" sz="1600" dirty="0" err="1" smtClean="0"/>
              <a:t>докумената</a:t>
            </a:r>
            <a:r>
              <a:rPr lang="ru-RU" sz="1600" dirty="0" smtClean="0"/>
              <a:t>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0005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9139143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r-Latn-RS" sz="1600" b="1" dirty="0" smtClean="0"/>
              <a:t>10. </a:t>
            </a:r>
            <a:r>
              <a:rPr lang="sr-Cyrl-RS" sz="1600" b="1" dirty="0" smtClean="0"/>
              <a:t>Који су </a:t>
            </a:r>
            <a:r>
              <a:rPr lang="ru-RU" sz="1600" b="1" dirty="0" err="1" smtClean="0"/>
              <a:t>формати</a:t>
            </a:r>
            <a:r>
              <a:rPr lang="ru-RU" sz="1600" b="1" dirty="0" smtClean="0"/>
              <a:t> </a:t>
            </a:r>
            <a:r>
              <a:rPr lang="ru-RU" sz="1600" b="1" dirty="0"/>
              <a:t>документа </a:t>
            </a:r>
            <a:r>
              <a:rPr lang="ru-RU" sz="1600" b="1" dirty="0" err="1"/>
              <a:t>погодни</a:t>
            </a:r>
            <a:r>
              <a:rPr lang="ru-RU" sz="1600" b="1" dirty="0"/>
              <a:t> за </a:t>
            </a:r>
            <a:r>
              <a:rPr lang="ru-RU" sz="1600" b="1" dirty="0" err="1"/>
              <a:t>дуготрајно</a:t>
            </a:r>
            <a:r>
              <a:rPr lang="ru-RU" sz="1600" b="1" dirty="0"/>
              <a:t> </a:t>
            </a:r>
            <a:r>
              <a:rPr lang="ru-RU" sz="1600" b="1" dirty="0" err="1" smtClean="0"/>
              <a:t>чување</a:t>
            </a:r>
            <a:r>
              <a:rPr lang="ru-RU" sz="1600" b="1" dirty="0" smtClean="0"/>
              <a:t>?</a:t>
            </a:r>
            <a:endParaRPr lang="ru-RU" sz="1600" b="1" dirty="0"/>
          </a:p>
          <a:p>
            <a:endParaRPr lang="ru-RU" sz="1600" dirty="0"/>
          </a:p>
          <a:p>
            <a:r>
              <a:rPr lang="ru-RU" sz="1600" i="1" dirty="0" err="1"/>
              <a:t>Члан</a:t>
            </a:r>
            <a:r>
              <a:rPr lang="ru-RU" sz="1600" i="1" dirty="0"/>
              <a:t> </a:t>
            </a:r>
            <a:r>
              <a:rPr lang="ru-RU" sz="1600" i="1" dirty="0" smtClean="0"/>
              <a:t>13. </a:t>
            </a:r>
            <a:r>
              <a:rPr lang="ru-RU" sz="1600" i="1" dirty="0" err="1" smtClean="0"/>
              <a:t>Уредбе</a:t>
            </a:r>
            <a:r>
              <a:rPr lang="ru-RU" sz="1600" i="1" dirty="0" smtClean="0"/>
              <a:t> о </a:t>
            </a:r>
            <a:r>
              <a:rPr lang="ru-RU" sz="1600" i="1" dirty="0" err="1" smtClean="0"/>
              <a:t>условима</a:t>
            </a:r>
            <a:r>
              <a:rPr lang="ru-RU" sz="1600" i="1" dirty="0" smtClean="0"/>
              <a:t> за </a:t>
            </a:r>
            <a:r>
              <a:rPr lang="ru-RU" sz="1600" i="1" dirty="0" err="1" smtClean="0"/>
              <a:t>припрему</a:t>
            </a:r>
            <a:r>
              <a:rPr lang="ru-RU" sz="1600" i="1" dirty="0" smtClean="0"/>
              <a:t> документа за </a:t>
            </a:r>
            <a:r>
              <a:rPr lang="ru-RU" sz="1600" i="1" dirty="0" err="1" smtClean="0"/>
              <a:t>поуздано</a:t>
            </a:r>
            <a:r>
              <a:rPr lang="ru-RU" sz="1600" i="1" dirty="0" smtClean="0"/>
              <a:t> </a:t>
            </a:r>
            <a:r>
              <a:rPr lang="ru-RU" sz="1600" i="1" dirty="0" err="1" smtClean="0"/>
              <a:t>електронско</a:t>
            </a:r>
            <a:r>
              <a:rPr lang="ru-RU" sz="1600" i="1" dirty="0" smtClean="0"/>
              <a:t> </a:t>
            </a:r>
            <a:r>
              <a:rPr lang="ru-RU" sz="1600" i="1" dirty="0" err="1" smtClean="0"/>
              <a:t>чување</a:t>
            </a:r>
            <a:r>
              <a:rPr lang="ru-RU" sz="1600" i="1" dirty="0" smtClean="0"/>
              <a:t> и </a:t>
            </a:r>
            <a:r>
              <a:rPr lang="ru-RU" sz="1600" i="1" dirty="0" err="1" smtClean="0"/>
              <a:t>форматима</a:t>
            </a:r>
            <a:r>
              <a:rPr lang="ru-RU" sz="1600" i="1" dirty="0" smtClean="0"/>
              <a:t> документа </a:t>
            </a:r>
            <a:r>
              <a:rPr lang="ru-RU" sz="1600" i="1" dirty="0" err="1" smtClean="0"/>
              <a:t>који</a:t>
            </a:r>
            <a:r>
              <a:rPr lang="ru-RU" sz="1600" i="1" dirty="0" smtClean="0"/>
              <a:t> су </a:t>
            </a:r>
            <a:r>
              <a:rPr lang="ru-RU" sz="1600" i="1" dirty="0" err="1" smtClean="0"/>
              <a:t>погодни</a:t>
            </a:r>
            <a:r>
              <a:rPr lang="ru-RU" sz="1600" i="1" dirty="0" smtClean="0"/>
              <a:t> за </a:t>
            </a:r>
            <a:r>
              <a:rPr lang="ru-RU" sz="1600" i="1" dirty="0" err="1" smtClean="0"/>
              <a:t>дуготрајно</a:t>
            </a:r>
            <a:r>
              <a:rPr lang="ru-RU" sz="1600" i="1" dirty="0" smtClean="0"/>
              <a:t> </a:t>
            </a:r>
            <a:r>
              <a:rPr lang="ru-RU" sz="1600" i="1" dirty="0" err="1" smtClean="0"/>
              <a:t>чување</a:t>
            </a:r>
            <a:r>
              <a:rPr lang="ru-RU" sz="1600" i="1" dirty="0" smtClean="0"/>
              <a:t> ("</a:t>
            </a:r>
            <a:r>
              <a:rPr lang="ru-RU" sz="1600" i="1" dirty="0"/>
              <a:t>Сл. </a:t>
            </a:r>
            <a:r>
              <a:rPr lang="ru-RU" sz="1600" i="1" dirty="0" err="1"/>
              <a:t>гласник</a:t>
            </a:r>
            <a:r>
              <a:rPr lang="ru-RU" sz="1600" i="1" dirty="0"/>
              <a:t> РС", </a:t>
            </a:r>
            <a:r>
              <a:rPr lang="ru-RU" sz="1600" i="1" dirty="0" err="1"/>
              <a:t>бр</a:t>
            </a:r>
            <a:r>
              <a:rPr lang="ru-RU" sz="1600" i="1" dirty="0"/>
              <a:t>. 86/2018)</a:t>
            </a:r>
          </a:p>
          <a:p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u="sng" dirty="0"/>
              <a:t>Формат документа </a:t>
            </a:r>
            <a:r>
              <a:rPr lang="ru-RU" sz="1600" u="sng" dirty="0" err="1"/>
              <a:t>погодан</a:t>
            </a:r>
            <a:r>
              <a:rPr lang="ru-RU" sz="1600" u="sng" dirty="0"/>
              <a:t> за </a:t>
            </a:r>
            <a:r>
              <a:rPr lang="ru-RU" sz="1600" u="sng" dirty="0" err="1"/>
              <a:t>дуготрајно</a:t>
            </a:r>
            <a:r>
              <a:rPr lang="ru-RU" sz="1600" u="sng" dirty="0"/>
              <a:t> </a:t>
            </a:r>
            <a:r>
              <a:rPr lang="ru-RU" sz="1600" u="sng" dirty="0" err="1"/>
              <a:t>чување</a:t>
            </a:r>
            <a:r>
              <a:rPr lang="ru-RU" sz="1600" u="sng" dirty="0"/>
              <a:t> </a:t>
            </a:r>
            <a:r>
              <a:rPr lang="ru-RU" sz="1600" u="sng" dirty="0" err="1"/>
              <a:t>докумената</a:t>
            </a:r>
            <a:r>
              <a:rPr lang="ru-RU" sz="1600" u="sng" dirty="0"/>
              <a:t> </a:t>
            </a:r>
            <a:r>
              <a:rPr lang="ru-RU" sz="1600" u="sng" dirty="0" err="1"/>
              <a:t>који</a:t>
            </a:r>
            <a:r>
              <a:rPr lang="ru-RU" sz="1600" u="sng" dirty="0"/>
              <a:t> </a:t>
            </a:r>
            <a:r>
              <a:rPr lang="ru-RU" sz="1600" u="sng" dirty="0" err="1"/>
              <a:t>садржи</a:t>
            </a:r>
            <a:r>
              <a:rPr lang="ru-RU" sz="1600" u="sng" dirty="0"/>
              <a:t> </a:t>
            </a:r>
            <a:r>
              <a:rPr lang="ru-RU" sz="1600" b="1" u="sng" dirty="0"/>
              <a:t>текст и </a:t>
            </a:r>
            <a:r>
              <a:rPr lang="ru-RU" sz="1600" b="1" u="sng" dirty="0" err="1"/>
              <a:t>слике</a:t>
            </a:r>
            <a:r>
              <a:rPr lang="ru-RU" sz="1600" b="1" u="sng" dirty="0"/>
              <a:t> </a:t>
            </a:r>
            <a:r>
              <a:rPr lang="ru-RU" sz="1600" u="sng" dirty="0" err="1"/>
              <a:t>је</a:t>
            </a:r>
            <a:r>
              <a:rPr lang="ru-RU" sz="1600" u="sng" dirty="0"/>
              <a:t>:</a:t>
            </a:r>
          </a:p>
          <a:p>
            <a:endParaRPr lang="ru-RU" sz="1600" dirty="0"/>
          </a:p>
          <a:p>
            <a:pPr marL="342900" indent="-342900">
              <a:buAutoNum type="arabicParenR"/>
            </a:pPr>
            <a:r>
              <a:rPr lang="ru-RU" sz="1600" dirty="0" smtClean="0"/>
              <a:t>ПДФ/А </a:t>
            </a:r>
            <a:r>
              <a:rPr lang="ru-RU" sz="1600" dirty="0"/>
              <a:t>у складу </a:t>
            </a:r>
            <a:r>
              <a:rPr lang="ru-RU" sz="1600" dirty="0" err="1"/>
              <a:t>са</a:t>
            </a:r>
            <a:r>
              <a:rPr lang="ru-RU" sz="1600" dirty="0"/>
              <a:t> </a:t>
            </a:r>
            <a:r>
              <a:rPr lang="ru-RU" sz="1600" dirty="0" err="1"/>
              <a:t>стандардом</a:t>
            </a:r>
            <a:r>
              <a:rPr lang="ru-RU" sz="1600" dirty="0"/>
              <a:t> ИСО 19005 </a:t>
            </a:r>
            <a:r>
              <a:rPr lang="en-GB" sz="1600" dirty="0"/>
              <a:t>"Electronic document file format for long-term </a:t>
            </a:r>
            <a:r>
              <a:rPr lang="en-GB" sz="1600" dirty="0" smtClean="0"/>
              <a:t>preservation</a:t>
            </a:r>
            <a:r>
              <a:rPr lang="sr-Cyrl-RS" sz="1600" dirty="0" smtClean="0"/>
              <a:t>“</a:t>
            </a:r>
          </a:p>
          <a:p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u="sng" dirty="0"/>
              <a:t>Формат документа </a:t>
            </a:r>
            <a:r>
              <a:rPr lang="ru-RU" sz="1600" u="sng" dirty="0" err="1"/>
              <a:t>погодан</a:t>
            </a:r>
            <a:r>
              <a:rPr lang="ru-RU" sz="1600" u="sng" dirty="0"/>
              <a:t> за </a:t>
            </a:r>
            <a:r>
              <a:rPr lang="ru-RU" sz="1600" u="sng" dirty="0" err="1"/>
              <a:t>дуготрајно</a:t>
            </a:r>
            <a:r>
              <a:rPr lang="ru-RU" sz="1600" u="sng" dirty="0"/>
              <a:t> </a:t>
            </a:r>
            <a:r>
              <a:rPr lang="ru-RU" sz="1600" u="sng" dirty="0" err="1"/>
              <a:t>електронско</a:t>
            </a:r>
            <a:r>
              <a:rPr lang="ru-RU" sz="1600" u="sng" dirty="0"/>
              <a:t> </a:t>
            </a:r>
            <a:r>
              <a:rPr lang="ru-RU" sz="1600" u="sng" dirty="0" err="1"/>
              <a:t>чување</a:t>
            </a:r>
            <a:r>
              <a:rPr lang="ru-RU" sz="1600" u="sng" dirty="0"/>
              <a:t> </a:t>
            </a:r>
            <a:r>
              <a:rPr lang="ru-RU" sz="1600" b="1" u="sng" dirty="0" err="1"/>
              <a:t>чистог</a:t>
            </a:r>
            <a:r>
              <a:rPr lang="ru-RU" sz="1600" b="1" u="sng" dirty="0"/>
              <a:t> текста </a:t>
            </a:r>
            <a:r>
              <a:rPr lang="ru-RU" sz="1600" u="sng" dirty="0" err="1"/>
              <a:t>је</a:t>
            </a:r>
            <a:r>
              <a:rPr lang="ru-RU" sz="1600" u="sng" dirty="0"/>
              <a:t>:</a:t>
            </a:r>
          </a:p>
          <a:p>
            <a:endParaRPr lang="ru-RU" sz="1600" dirty="0"/>
          </a:p>
          <a:p>
            <a:pPr marL="342900" indent="-342900">
              <a:buAutoNum type="arabicParenR"/>
            </a:pPr>
            <a:r>
              <a:rPr lang="ru-RU" sz="1600" dirty="0" smtClean="0"/>
              <a:t>УТФ-8 </a:t>
            </a:r>
            <a:r>
              <a:rPr lang="ru-RU" sz="1600" dirty="0"/>
              <a:t>у складу </a:t>
            </a:r>
            <a:r>
              <a:rPr lang="ru-RU" sz="1600" dirty="0" err="1"/>
              <a:t>са</a:t>
            </a:r>
            <a:r>
              <a:rPr lang="ru-RU" sz="1600" dirty="0"/>
              <a:t> </a:t>
            </a:r>
            <a:r>
              <a:rPr lang="ru-RU" sz="1600" dirty="0" err="1"/>
              <a:t>стандардом</a:t>
            </a:r>
            <a:r>
              <a:rPr lang="ru-RU" sz="1600" dirty="0"/>
              <a:t> ИСО 10646 </a:t>
            </a:r>
            <a:r>
              <a:rPr lang="en-US" sz="1600" dirty="0"/>
              <a:t>"Information technology - Universal Coded Character Set (UCS</a:t>
            </a:r>
            <a:r>
              <a:rPr lang="en-US" sz="1600" dirty="0" smtClean="0"/>
              <a:t>)".</a:t>
            </a:r>
            <a:endParaRPr lang="sr-Cyrl-RS" sz="1600" dirty="0" smtClean="0"/>
          </a:p>
          <a:p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u="sng" dirty="0" err="1"/>
              <a:t>Формати</a:t>
            </a:r>
            <a:r>
              <a:rPr lang="ru-RU" sz="1600" u="sng" dirty="0"/>
              <a:t> документа </a:t>
            </a:r>
            <a:r>
              <a:rPr lang="ru-RU" sz="1600" u="sng" dirty="0" err="1"/>
              <a:t>погодни</a:t>
            </a:r>
            <a:r>
              <a:rPr lang="ru-RU" sz="1600" u="sng" dirty="0"/>
              <a:t> за </a:t>
            </a:r>
            <a:r>
              <a:rPr lang="ru-RU" sz="1600" u="sng" dirty="0" err="1"/>
              <a:t>дуготрајно</a:t>
            </a:r>
            <a:r>
              <a:rPr lang="ru-RU" sz="1600" u="sng" dirty="0"/>
              <a:t> </a:t>
            </a:r>
            <a:r>
              <a:rPr lang="ru-RU" sz="1600" u="sng" dirty="0" err="1"/>
              <a:t>чување</a:t>
            </a:r>
            <a:r>
              <a:rPr lang="ru-RU" sz="1600" u="sng" dirty="0"/>
              <a:t> за документе </a:t>
            </a:r>
            <a:r>
              <a:rPr lang="ru-RU" sz="1600" b="1" u="sng" dirty="0" err="1"/>
              <a:t>који</a:t>
            </a:r>
            <a:r>
              <a:rPr lang="ru-RU" sz="1600" b="1" u="sng" dirty="0"/>
              <a:t> </a:t>
            </a:r>
            <a:r>
              <a:rPr lang="ru-RU" sz="1600" b="1" u="sng" dirty="0" err="1"/>
              <a:t>представљају</a:t>
            </a:r>
            <a:r>
              <a:rPr lang="ru-RU" sz="1600" b="1" u="sng" dirty="0"/>
              <a:t> </a:t>
            </a:r>
            <a:r>
              <a:rPr lang="ru-RU" sz="1600" b="1" u="sng" dirty="0" err="1"/>
              <a:t>слику</a:t>
            </a:r>
            <a:r>
              <a:rPr lang="ru-RU" sz="1600" b="1" u="sng" dirty="0"/>
              <a:t> </a:t>
            </a:r>
            <a:r>
              <a:rPr lang="ru-RU" sz="1600" u="sng" dirty="0"/>
              <a:t>су:</a:t>
            </a:r>
          </a:p>
          <a:p>
            <a:endParaRPr lang="ru-RU" sz="1600" dirty="0"/>
          </a:p>
          <a:p>
            <a:r>
              <a:rPr lang="ru-RU" sz="1600" dirty="0"/>
              <a:t>1) ТИФФ у складу </a:t>
            </a:r>
            <a:r>
              <a:rPr lang="ru-RU" sz="1600" dirty="0" err="1"/>
              <a:t>са</a:t>
            </a:r>
            <a:r>
              <a:rPr lang="ru-RU" sz="1600" dirty="0"/>
              <a:t> </a:t>
            </a:r>
            <a:r>
              <a:rPr lang="ru-RU" sz="1600" dirty="0" err="1"/>
              <a:t>стандардом</a:t>
            </a:r>
            <a:r>
              <a:rPr lang="ru-RU" sz="1600" dirty="0"/>
              <a:t> ИСО 12639:2004 </a:t>
            </a:r>
            <a:r>
              <a:rPr lang="en-GB" sz="1600" dirty="0"/>
              <a:t>"Prepress digital data exchange - Tag image file format for image technology (TIFF/IT)"</a:t>
            </a:r>
            <a:endParaRPr lang="ru-RU" sz="1600" dirty="0"/>
          </a:p>
          <a:p>
            <a:r>
              <a:rPr lang="ru-RU" sz="1600" dirty="0"/>
              <a:t>2) ЈПЕГ у складу </a:t>
            </a:r>
            <a:r>
              <a:rPr lang="ru-RU" sz="1600" dirty="0" err="1"/>
              <a:t>са</a:t>
            </a:r>
            <a:r>
              <a:rPr lang="ru-RU" sz="1600" dirty="0"/>
              <a:t> </a:t>
            </a:r>
            <a:r>
              <a:rPr lang="ru-RU" sz="1600" dirty="0" err="1"/>
              <a:t>стандардом</a:t>
            </a:r>
            <a:r>
              <a:rPr lang="ru-RU" sz="1600" dirty="0"/>
              <a:t> ИСО 10918-1:1994 </a:t>
            </a:r>
            <a:r>
              <a:rPr lang="en-GB" sz="1600" dirty="0"/>
              <a:t>"Digital compression and coding of continuous-tone still images: Requirements and guidelines";</a:t>
            </a:r>
            <a:endParaRPr lang="ru-RU" sz="1600" dirty="0"/>
          </a:p>
          <a:p>
            <a:r>
              <a:rPr lang="ru-RU" sz="1600" dirty="0"/>
              <a:t>3) ПНГ у складу </a:t>
            </a:r>
            <a:r>
              <a:rPr lang="ru-RU" sz="1600" dirty="0" err="1"/>
              <a:t>са</a:t>
            </a:r>
            <a:r>
              <a:rPr lang="ru-RU" sz="1600" dirty="0"/>
              <a:t> </a:t>
            </a:r>
            <a:r>
              <a:rPr lang="ru-RU" sz="1600" dirty="0" err="1"/>
              <a:t>стандардом</a:t>
            </a:r>
            <a:r>
              <a:rPr lang="ru-RU" sz="1600" dirty="0"/>
              <a:t> ИСО 15948:2004 </a:t>
            </a:r>
            <a:r>
              <a:rPr lang="en-GB" sz="1600" dirty="0"/>
              <a:t>"Information technology - Computer graphics and image processing - Portable Network Graphics (PNG): Functional specification";</a:t>
            </a:r>
            <a:endParaRPr lang="ru-RU" sz="1600" dirty="0"/>
          </a:p>
          <a:p>
            <a:r>
              <a:rPr lang="ru-RU" sz="1600" dirty="0"/>
              <a:t>4) ЈПЕГ2000 у складу </a:t>
            </a:r>
            <a:r>
              <a:rPr lang="ru-RU" sz="1600" dirty="0" err="1"/>
              <a:t>са</a:t>
            </a:r>
            <a:r>
              <a:rPr lang="ru-RU" sz="1600" dirty="0"/>
              <a:t> </a:t>
            </a:r>
            <a:r>
              <a:rPr lang="ru-RU" sz="1600" dirty="0" err="1"/>
              <a:t>стандардом</a:t>
            </a:r>
            <a:r>
              <a:rPr lang="ru-RU" sz="1600" dirty="0"/>
              <a:t> ИСО/ИЕЦ 15444-1 </a:t>
            </a:r>
            <a:r>
              <a:rPr lang="en-GB" sz="1600" dirty="0"/>
              <a:t>"Information technology - JPEG 2000 image coding system: Core coding </a:t>
            </a:r>
            <a:r>
              <a:rPr lang="en-GB" sz="1600" dirty="0" smtClean="0"/>
              <a:t>system„</a:t>
            </a:r>
            <a:endParaRPr lang="sr-Cyrl-RS" sz="1600" dirty="0" smtClean="0"/>
          </a:p>
          <a:p>
            <a:r>
              <a:rPr lang="ru-RU" sz="1600" dirty="0" smtClean="0"/>
              <a:t>5</a:t>
            </a:r>
            <a:r>
              <a:rPr lang="ru-RU" sz="1600" dirty="0"/>
              <a:t>) СВГ у складу </a:t>
            </a:r>
            <a:r>
              <a:rPr lang="ru-RU" sz="1600" dirty="0" err="1"/>
              <a:t>са</a:t>
            </a:r>
            <a:r>
              <a:rPr lang="ru-RU" sz="1600" dirty="0"/>
              <a:t> </a:t>
            </a:r>
            <a:r>
              <a:rPr lang="ru-RU" sz="1600" dirty="0" err="1"/>
              <a:t>стандардом</a:t>
            </a:r>
            <a:r>
              <a:rPr lang="ru-RU" sz="1600" dirty="0"/>
              <a:t> </a:t>
            </a:r>
            <a:r>
              <a:rPr lang="en-US" sz="1600" dirty="0"/>
              <a:t>W3C "Scalable Vector Graphics (SVG) 1.1 (Second Edition)".</a:t>
            </a:r>
            <a:endParaRPr lang="ru-RU" sz="1600" dirty="0"/>
          </a:p>
        </p:txBody>
      </p:sp>
      <p:sp>
        <p:nvSpPr>
          <p:cNvPr id="3" name="Right Arrow 2"/>
          <p:cNvSpPr/>
          <p:nvPr/>
        </p:nvSpPr>
        <p:spPr>
          <a:xfrm>
            <a:off x="8172400" y="6381328"/>
            <a:ext cx="86409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7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188640"/>
            <a:ext cx="835292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Формат документа </a:t>
            </a:r>
            <a:r>
              <a:rPr lang="ru-RU" dirty="0" err="1"/>
              <a:t>погодан</a:t>
            </a:r>
            <a:r>
              <a:rPr lang="ru-RU" dirty="0"/>
              <a:t> за </a:t>
            </a:r>
            <a:r>
              <a:rPr lang="ru-RU" dirty="0" err="1"/>
              <a:t>дуготрајно</a:t>
            </a:r>
            <a:r>
              <a:rPr lang="ru-RU" dirty="0"/>
              <a:t> </a:t>
            </a:r>
            <a:r>
              <a:rPr lang="ru-RU" dirty="0" err="1"/>
              <a:t>чување</a:t>
            </a:r>
            <a:r>
              <a:rPr lang="ru-RU" dirty="0"/>
              <a:t> </a:t>
            </a:r>
            <a:r>
              <a:rPr lang="ru-RU" b="1" dirty="0" err="1"/>
              <a:t>геодетске</a:t>
            </a:r>
            <a:r>
              <a:rPr lang="ru-RU" b="1" dirty="0"/>
              <a:t>, </a:t>
            </a:r>
            <a:r>
              <a:rPr lang="ru-RU" b="1" dirty="0" err="1"/>
              <a:t>грађевинске</a:t>
            </a:r>
            <a:r>
              <a:rPr lang="ru-RU" b="1" dirty="0"/>
              <a:t> и друге </a:t>
            </a:r>
            <a:r>
              <a:rPr lang="ru-RU" b="1" dirty="0" err="1"/>
              <a:t>пројектне</a:t>
            </a:r>
            <a:r>
              <a:rPr lang="ru-RU" b="1" dirty="0"/>
              <a:t> </a:t>
            </a:r>
            <a:r>
              <a:rPr lang="ru-RU" b="1" dirty="0" err="1"/>
              <a:t>документације</a:t>
            </a:r>
            <a:r>
              <a:rPr lang="ru-RU" b="1" dirty="0"/>
              <a:t> </a:t>
            </a:r>
            <a:r>
              <a:rPr lang="ru-RU" b="1" dirty="0" err="1"/>
              <a:t>која</a:t>
            </a:r>
            <a:r>
              <a:rPr lang="ru-RU" b="1" dirty="0"/>
              <a:t> </a:t>
            </a:r>
            <a:r>
              <a:rPr lang="ru-RU" b="1" dirty="0" err="1"/>
              <a:t>садржи</a:t>
            </a:r>
            <a:r>
              <a:rPr lang="ru-RU" b="1" dirty="0"/>
              <a:t> техничке </a:t>
            </a:r>
            <a:r>
              <a:rPr lang="ru-RU" b="1" dirty="0" err="1"/>
              <a:t>нацр</a:t>
            </a:r>
            <a:r>
              <a:rPr lang="ru-RU" dirty="0" err="1"/>
              <a:t>те</a:t>
            </a:r>
            <a:r>
              <a:rPr lang="ru-RU" dirty="0"/>
              <a:t> </a:t>
            </a:r>
            <a:r>
              <a:rPr lang="ru-RU" dirty="0" err="1"/>
              <a:t>је</a:t>
            </a:r>
            <a:r>
              <a:rPr lang="ru-RU" dirty="0"/>
              <a:t>:</a:t>
            </a:r>
          </a:p>
          <a:p>
            <a:endParaRPr lang="ru-RU" dirty="0"/>
          </a:p>
          <a:p>
            <a:pPr marL="342900" indent="-342900">
              <a:buAutoNum type="arabicParenR"/>
            </a:pPr>
            <a:r>
              <a:rPr lang="ru-RU" dirty="0" smtClean="0"/>
              <a:t>ПДФ/Е </a:t>
            </a:r>
            <a:r>
              <a:rPr lang="ru-RU" dirty="0"/>
              <a:t>у складу </a:t>
            </a:r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 err="1"/>
              <a:t>стандардом</a:t>
            </a:r>
            <a:r>
              <a:rPr lang="ru-RU" dirty="0"/>
              <a:t> ИСО 24517-1 </a:t>
            </a:r>
            <a:r>
              <a:rPr lang="en-US" dirty="0"/>
              <a:t>"Document Management - Engineering document format using PDF</a:t>
            </a:r>
            <a:r>
              <a:rPr lang="en-US" dirty="0" smtClean="0"/>
              <a:t>".</a:t>
            </a:r>
            <a:endParaRPr lang="sr-Cyrl-RS" dirty="0" smtClean="0"/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u="sng" dirty="0" err="1"/>
              <a:t>Бинарни</a:t>
            </a:r>
            <a:r>
              <a:rPr lang="ru-RU" b="1" u="sng" dirty="0"/>
              <a:t> формат документа </a:t>
            </a:r>
            <a:r>
              <a:rPr lang="ru-RU" b="1" u="sng" dirty="0" err="1"/>
              <a:t>који</a:t>
            </a:r>
            <a:r>
              <a:rPr lang="ru-RU" b="1" u="sng" dirty="0"/>
              <a:t> </a:t>
            </a:r>
            <a:r>
              <a:rPr lang="ru-RU" b="1" u="sng" dirty="0" err="1"/>
              <a:t>представља</a:t>
            </a:r>
            <a:r>
              <a:rPr lang="ru-RU" b="1" u="sng" dirty="0"/>
              <a:t> </a:t>
            </a:r>
            <a:r>
              <a:rPr lang="ru-RU" b="1" u="sng" dirty="0" err="1"/>
              <a:t>секвенцу</a:t>
            </a:r>
            <a:r>
              <a:rPr lang="ru-RU" b="1" u="sng" dirty="0"/>
              <a:t> </a:t>
            </a:r>
            <a:r>
              <a:rPr lang="ru-RU" b="1" u="sng" dirty="0" err="1"/>
              <a:t>бинарних</a:t>
            </a:r>
            <a:r>
              <a:rPr lang="ru-RU" b="1" u="sng" dirty="0"/>
              <a:t> октета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бити</a:t>
            </a:r>
            <a:r>
              <a:rPr lang="ru-RU" dirty="0"/>
              <a:t> </a:t>
            </a:r>
            <a:r>
              <a:rPr lang="ru-RU" dirty="0" err="1"/>
              <a:t>погодан</a:t>
            </a:r>
            <a:r>
              <a:rPr lang="ru-RU" dirty="0"/>
              <a:t> за </a:t>
            </a:r>
            <a:r>
              <a:rPr lang="ru-RU" dirty="0" err="1"/>
              <a:t>дуготрајно</a:t>
            </a:r>
            <a:r>
              <a:rPr lang="ru-RU" dirty="0"/>
              <a:t> </a:t>
            </a:r>
            <a:r>
              <a:rPr lang="ru-RU" dirty="0" err="1"/>
              <a:t>чување</a:t>
            </a:r>
            <a:r>
              <a:rPr lang="ru-RU" dirty="0"/>
              <a:t> </a:t>
            </a:r>
            <a:r>
              <a:rPr lang="ru-RU" dirty="0" err="1"/>
              <a:t>уколико</a:t>
            </a:r>
            <a:r>
              <a:rPr lang="ru-RU" dirty="0"/>
              <a:t>:</a:t>
            </a:r>
          </a:p>
          <a:p>
            <a:endParaRPr lang="ru-RU" dirty="0"/>
          </a:p>
          <a:p>
            <a:r>
              <a:rPr lang="ru-RU" dirty="0"/>
              <a:t>1) документ у бинарном формату </a:t>
            </a:r>
            <a:r>
              <a:rPr lang="ru-RU" dirty="0" err="1"/>
              <a:t>није</a:t>
            </a:r>
            <a:r>
              <a:rPr lang="ru-RU" dirty="0"/>
              <a:t> </a:t>
            </a:r>
            <a:r>
              <a:rPr lang="ru-RU" dirty="0" err="1"/>
              <a:t>резултат</a:t>
            </a:r>
            <a:r>
              <a:rPr lang="ru-RU" dirty="0"/>
              <a:t> </a:t>
            </a:r>
            <a:r>
              <a:rPr lang="ru-RU" dirty="0" err="1"/>
              <a:t>дигитализације</a:t>
            </a:r>
            <a:r>
              <a:rPr lang="ru-RU" dirty="0"/>
              <a:t> или </a:t>
            </a:r>
            <a:r>
              <a:rPr lang="ru-RU" dirty="0" err="1"/>
              <a:t>конверзије</a:t>
            </a:r>
            <a:r>
              <a:rPr lang="ru-RU" dirty="0"/>
              <a:t> </a:t>
            </a:r>
            <a:r>
              <a:rPr lang="ru-RU" dirty="0" err="1"/>
              <a:t>која</a:t>
            </a:r>
            <a:r>
              <a:rPr lang="ru-RU" dirty="0"/>
              <a:t> </a:t>
            </a:r>
            <a:r>
              <a:rPr lang="ru-RU" dirty="0" err="1"/>
              <a:t>је</a:t>
            </a:r>
            <a:r>
              <a:rPr lang="ru-RU" dirty="0"/>
              <a:t> </a:t>
            </a:r>
            <a:r>
              <a:rPr lang="ru-RU" dirty="0" err="1"/>
              <a:t>вршена</a:t>
            </a:r>
            <a:r>
              <a:rPr lang="ru-RU" dirty="0"/>
              <a:t> у току </a:t>
            </a:r>
            <a:r>
              <a:rPr lang="ru-RU" dirty="0" err="1"/>
              <a:t>припреме</a:t>
            </a:r>
            <a:r>
              <a:rPr lang="ru-RU" dirty="0"/>
              <a:t> документа за </a:t>
            </a:r>
            <a:r>
              <a:rPr lang="ru-RU" dirty="0" err="1"/>
              <a:t>електронско</a:t>
            </a:r>
            <a:r>
              <a:rPr lang="ru-RU" dirty="0"/>
              <a:t> </a:t>
            </a:r>
            <a:r>
              <a:rPr lang="ru-RU" dirty="0" err="1"/>
              <a:t>чување</a:t>
            </a:r>
            <a:r>
              <a:rPr lang="ru-RU" dirty="0"/>
              <a:t>;</a:t>
            </a:r>
          </a:p>
          <a:p>
            <a:endParaRPr lang="ru-RU" dirty="0"/>
          </a:p>
          <a:p>
            <a:r>
              <a:rPr lang="ru-RU" dirty="0"/>
              <a:t>2) под документом </a:t>
            </a:r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 err="1"/>
              <a:t>истоветним</a:t>
            </a:r>
            <a:r>
              <a:rPr lang="ru-RU" dirty="0"/>
              <a:t> </a:t>
            </a:r>
            <a:r>
              <a:rPr lang="ru-RU" dirty="0" err="1"/>
              <a:t>садржајем</a:t>
            </a:r>
            <a:r>
              <a:rPr lang="ru-RU" dirty="0"/>
              <a:t> се </a:t>
            </a:r>
            <a:r>
              <a:rPr lang="ru-RU" dirty="0" err="1"/>
              <a:t>сматра</a:t>
            </a:r>
            <a:r>
              <a:rPr lang="ru-RU" dirty="0"/>
              <a:t> само документ </a:t>
            </a:r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 err="1"/>
              <a:t>истоветним</a:t>
            </a:r>
            <a:r>
              <a:rPr lang="ru-RU" dirty="0"/>
              <a:t> </a:t>
            </a:r>
            <a:r>
              <a:rPr lang="ru-RU" dirty="0" err="1"/>
              <a:t>бинарним</a:t>
            </a:r>
            <a:r>
              <a:rPr lang="ru-RU" dirty="0"/>
              <a:t> </a:t>
            </a:r>
            <a:r>
              <a:rPr lang="ru-RU" dirty="0" err="1"/>
              <a:t>садржајем</a:t>
            </a:r>
            <a:r>
              <a:rPr lang="ru-RU" dirty="0"/>
              <a:t>, </a:t>
            </a:r>
            <a:r>
              <a:rPr lang="ru-RU" dirty="0" err="1"/>
              <a:t>тј</a:t>
            </a:r>
            <a:r>
              <a:rPr lang="ru-RU" dirty="0"/>
              <a:t>. </a:t>
            </a:r>
            <a:r>
              <a:rPr lang="ru-RU" dirty="0" err="1"/>
              <a:t>који</a:t>
            </a:r>
            <a:r>
              <a:rPr lang="ru-RU" dirty="0"/>
              <a:t> </a:t>
            </a:r>
            <a:r>
              <a:rPr lang="ru-RU" dirty="0" err="1"/>
              <a:t>представља</a:t>
            </a:r>
            <a:r>
              <a:rPr lang="ru-RU" dirty="0"/>
              <a:t> </a:t>
            </a:r>
            <a:r>
              <a:rPr lang="ru-RU" dirty="0" err="1"/>
              <a:t>истоветну</a:t>
            </a:r>
            <a:r>
              <a:rPr lang="ru-RU" dirty="0"/>
              <a:t> </a:t>
            </a:r>
            <a:r>
              <a:rPr lang="ru-RU" dirty="0" err="1"/>
              <a:t>секвенцу</a:t>
            </a:r>
            <a:r>
              <a:rPr lang="ru-RU" dirty="0"/>
              <a:t> </a:t>
            </a:r>
            <a:r>
              <a:rPr lang="ru-RU" dirty="0" err="1"/>
              <a:t>бинарних</a:t>
            </a:r>
            <a:r>
              <a:rPr lang="ru-RU" dirty="0"/>
              <a:t> октета.</a:t>
            </a:r>
          </a:p>
          <a:p>
            <a:endParaRPr lang="ru-RU" dirty="0"/>
          </a:p>
          <a:p>
            <a:r>
              <a:rPr lang="ru-RU" dirty="0" err="1"/>
              <a:t>Министарство</a:t>
            </a:r>
            <a:r>
              <a:rPr lang="ru-RU" dirty="0"/>
              <a:t> </a:t>
            </a:r>
            <a:r>
              <a:rPr lang="ru-RU" dirty="0" err="1"/>
              <a:t>унутрашњих</a:t>
            </a:r>
            <a:r>
              <a:rPr lang="ru-RU" dirty="0"/>
              <a:t> </a:t>
            </a:r>
            <a:r>
              <a:rPr lang="ru-RU" dirty="0" err="1"/>
              <a:t>послова</a:t>
            </a:r>
            <a:r>
              <a:rPr lang="ru-RU" dirty="0"/>
              <a:t>, </a:t>
            </a:r>
            <a:r>
              <a:rPr lang="ru-RU" dirty="0" err="1"/>
              <a:t>поред</a:t>
            </a:r>
            <a:r>
              <a:rPr lang="ru-RU" dirty="0"/>
              <a:t> формата из </a:t>
            </a:r>
            <a:r>
              <a:rPr lang="ru-RU" dirty="0" err="1"/>
              <a:t>овог</a:t>
            </a:r>
            <a:r>
              <a:rPr lang="ru-RU" dirty="0"/>
              <a:t> </a:t>
            </a:r>
            <a:r>
              <a:rPr lang="ru-RU" dirty="0" err="1"/>
              <a:t>члана</a:t>
            </a:r>
            <a:r>
              <a:rPr lang="ru-RU" dirty="0"/>
              <a:t>, </a:t>
            </a:r>
            <a:r>
              <a:rPr lang="ru-RU" dirty="0" err="1"/>
              <a:t>може</a:t>
            </a:r>
            <a:r>
              <a:rPr lang="ru-RU" dirty="0"/>
              <a:t> да у </a:t>
            </a:r>
            <a:r>
              <a:rPr lang="ru-RU" dirty="0" err="1"/>
              <a:t>поступцима</a:t>
            </a:r>
            <a:r>
              <a:rPr lang="ru-RU" dirty="0"/>
              <a:t> </a:t>
            </a:r>
            <a:r>
              <a:rPr lang="ru-RU" dirty="0" err="1"/>
              <a:t>које</a:t>
            </a:r>
            <a:r>
              <a:rPr lang="ru-RU" dirty="0"/>
              <a:t> </a:t>
            </a:r>
            <a:r>
              <a:rPr lang="ru-RU" dirty="0" err="1"/>
              <a:t>спроводи</a:t>
            </a:r>
            <a:r>
              <a:rPr lang="ru-RU" dirty="0"/>
              <a:t> </a:t>
            </a:r>
            <a:r>
              <a:rPr lang="ru-RU" dirty="0" err="1"/>
              <a:t>користи</a:t>
            </a:r>
            <a:r>
              <a:rPr lang="ru-RU" dirty="0"/>
              <a:t> и друге формате </a:t>
            </a:r>
            <a:r>
              <a:rPr lang="ru-RU" dirty="0" err="1"/>
              <a:t>докумената</a:t>
            </a:r>
            <a:r>
              <a:rPr lang="ru-RU" dirty="0"/>
              <a:t> </a:t>
            </a:r>
            <a:r>
              <a:rPr lang="ru-RU" dirty="0" err="1"/>
              <a:t>погодне</a:t>
            </a:r>
            <a:r>
              <a:rPr lang="ru-RU" dirty="0"/>
              <a:t> за </a:t>
            </a:r>
            <a:r>
              <a:rPr lang="ru-RU" dirty="0" err="1"/>
              <a:t>дуготрајно</a:t>
            </a:r>
            <a:r>
              <a:rPr lang="ru-RU" dirty="0"/>
              <a:t> </a:t>
            </a:r>
            <a:r>
              <a:rPr lang="ru-RU" dirty="0" err="1"/>
              <a:t>чување</a:t>
            </a:r>
            <a:r>
              <a:rPr lang="ru-RU" dirty="0"/>
              <a:t> </a:t>
            </a:r>
            <a:r>
              <a:rPr lang="ru-RU" dirty="0" err="1"/>
              <a:t>докумената</a:t>
            </a:r>
            <a:r>
              <a:rPr lang="ru-RU" dirty="0"/>
              <a:t> </a:t>
            </a:r>
            <a:r>
              <a:rPr lang="ru-RU" dirty="0" err="1"/>
              <a:t>који</a:t>
            </a:r>
            <a:r>
              <a:rPr lang="ru-RU" dirty="0"/>
              <a:t> </a:t>
            </a:r>
            <a:r>
              <a:rPr lang="ru-RU" dirty="0" err="1"/>
              <a:t>садрже</a:t>
            </a:r>
            <a:r>
              <a:rPr lang="ru-RU" dirty="0"/>
              <a:t> текст и </a:t>
            </a:r>
            <a:r>
              <a:rPr lang="ru-RU" dirty="0" err="1"/>
              <a:t>слику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775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060848"/>
            <a:ext cx="5066170" cy="345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629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5962</TotalTime>
  <Words>7200</Words>
  <Application>Microsoft Office PowerPoint</Application>
  <PresentationFormat>On-screen Show (4:3)</PresentationFormat>
  <Paragraphs>565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6" baseType="lpstr">
      <vt:lpstr>Arial</vt:lpstr>
      <vt:lpstr>Calibri</vt:lpstr>
      <vt:lpstr>Calibri Light</vt:lpstr>
      <vt:lpstr>Courier New</vt:lpstr>
      <vt:lpstr>Symbol</vt:lpstr>
      <vt:lpstr>Times New Roman</vt:lpstr>
      <vt:lpstr>Verdana</vt:lpstr>
      <vt:lpstr>Wingdings</vt:lpstr>
      <vt:lpstr>Retrospect</vt:lpstr>
      <vt:lpstr>PowerPoint Presentation</vt:lpstr>
      <vt:lpstr>САДРЖАЈ</vt:lpstr>
      <vt:lpstr>ПРОПИСИ ОД ЗНАЧАЈА</vt:lpstr>
      <vt:lpstr>Прописи од значаја</vt:lpstr>
      <vt:lpstr>е-Писарница и предуслови за рад у е-Писарници</vt:lpstr>
      <vt:lpstr>   Технички предуслови за вођење е-канцеларијског пословања </vt:lpstr>
      <vt:lpstr> Коришћење електронског потписа у cloud-у  </vt:lpstr>
      <vt:lpstr>    Именовање Администратора  органа Писарнице</vt:lpstr>
      <vt:lpstr>Портал е-Управа</vt:lpstr>
      <vt:lpstr>Регистрација корисника услуга електронске управе</vt:lpstr>
      <vt:lpstr>Употреба електронског потписа и  безбедност података у електронском облику</vt:lpstr>
      <vt:lpstr>PowerPoint Presentation</vt:lpstr>
      <vt:lpstr>Напредни електронски потпис</vt:lpstr>
      <vt:lpstr>Квалификовани е-потпис</vt:lpstr>
      <vt:lpstr>     Изузеци – када не користимо е-потпис   </vt:lpstr>
      <vt:lpstr>Eлектронско архивирање</vt:lpstr>
      <vt:lpstr>PowerPoint Presentation</vt:lpstr>
      <vt:lpstr>Обавезе ствараоца и имаоца архивске грађе и документарног материјала по Закону о архивској грађи и архивској делатности</vt:lpstr>
      <vt:lpstr>PowerPoint Presentation</vt:lpstr>
      <vt:lpstr>PowerPoint Presentation</vt:lpstr>
      <vt:lpstr>Управљање документима (Чл. 14 Закона)</vt:lpstr>
      <vt:lpstr>Чување и заштита архивске грађе и документарног материјала у електронском облику  </vt:lpstr>
      <vt:lpstr>PowerPoint Presentation</vt:lpstr>
      <vt:lpstr>Правилник о обрасцу архивске књиге („Сл. гласник РС”, бр. 34/22), ступио је на снагу 24. марта 2022. године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Промењен је назив и члан 2. Уредбе, који је раније гласио Сходна примена прописа о електронском чувању Чување електронског документа</vt:lpstr>
      <vt:lpstr>Промењен је назив и члан 3. Уредбе</vt:lpstr>
      <vt:lpstr>PowerPoint Presentation</vt:lpstr>
      <vt:lpstr>  ПОУЗДАНО ЕЛЕКТРОНСКО ЧУВАЊЕ ДОКУМЕНАТА   Закон о електронском документу, електронској идентификацији и услугама од поверења у електронском пословању </vt:lpstr>
      <vt:lpstr>  ПОУЗДАНО ЕЛЕКТРОНСКО ЧУВАЊЕ ДОКУМЕНАТА   Закон о електронском документу, електронској идентификацији и услугама од поверења у електронском пословању </vt:lpstr>
      <vt:lpstr>ПОУЗДАНО ЕЛЕКТРОНСКО ЧУВАЊЕ ДОКУМЕНАТА  Закон о електронском документу, електронској идентификацији и услугама од поверења у електронском пословању</vt:lpstr>
      <vt:lpstr>ПОСТУПЦИ КОЈИМА СЕ ОБЕЗБЕЂУЈЕ ПОУЗДАНО ЧУВАЊЕ/АРХИВИРАЊЕ ЕЛЕКТРОНСКОГ ДОКУМЕНТА</vt:lpstr>
      <vt:lpstr>Како субјекти приватног сектора (ствараоци и имаоци) врше поуздано електронско чување/архивирање </vt:lpstr>
      <vt:lpstr>Одобравање Листе категорија архивске грађе и документарног материјала са роковима чувања</vt:lpstr>
      <vt:lpstr>Дужности ствараоца и имаоца пре предаје надлежном архиву</vt:lpstr>
      <vt:lpstr>PowerPoint Presentation</vt:lpstr>
      <vt:lpstr>PowerPoint Presentation</vt:lpstr>
      <vt:lpstr>Издвајања електронског документарног  материјала који се уништава</vt:lpstr>
      <vt:lpstr>Издвајање електронског документарног материјала који се трајно чува (измене у ставу 1. члана 8. Уредбе)</vt:lpstr>
      <vt:lpstr>Мере заштите софтверског решења  у којем се врши електронско архивирање</vt:lpstr>
      <vt:lpstr>Означавање регистратурских јединица</vt:lpstr>
      <vt:lpstr>Издавање архивске грађе из архивског депоа код ствараоца </vt:lpstr>
      <vt:lpstr>АРХИВСКИ ДЕПО</vt:lpstr>
      <vt:lpstr>Обавезе у вези Плана мера заштите (чл.21) Закона о архивској грађи и архивској делатности</vt:lpstr>
      <vt:lpstr>Садржај листе категорија докуменатарног материјала  са роковима чувања</vt:lpstr>
      <vt:lpstr>Уредба о класификацији документарног материјала са роковима чувања („Сл. гласник РС“, бр. 14/2023)</vt:lpstr>
      <vt:lpstr>PowerPoint Presentation</vt:lpstr>
      <vt:lpstr>     Рокови чувања у складу са Уредбом о класификацији документарног материјала са роковима чувања („Сл. гласник РС“, бр. 14/2023) </vt:lpstr>
      <vt:lpstr>Попис безвредног регистратурског материјала</vt:lpstr>
      <vt:lpstr>PowerPoint Presentation</vt:lpstr>
      <vt:lpstr>Предаја архивске грађе надлежном архиву</vt:lpstr>
      <vt:lpstr>PowerPoint Presentation</vt:lpstr>
      <vt:lpstr>PowerPoint Presentation</vt:lpstr>
      <vt:lpstr>Интерна нормативна акта</vt:lpstr>
      <vt:lpstr>PowerPoint Presentation</vt:lpstr>
      <vt:lpstr>Безбедност е-архиве</vt:lpstr>
      <vt:lpstr>PowerPoint Presentation</vt:lpstr>
      <vt:lpstr>ОСНОВНИ ЗАХТЕВИ БЕЗБЕДНОСТИ ИКТ СИСТЕМА  Спречавање: 1. Угрожавања безбедности лица, пословања и државе 2. Крађе, проневере, губитци, измене информација 3. Неовлашћене активности (унутрашњих испољих фактора) 4. Повреда интелектуалне својине 5. Повреда приватности и поверљивости података о личности 6. Повреда пословне тајне....  Обезбеђивање: 1. Заштите 2. Континуираног управљања заштитом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PC</cp:lastModifiedBy>
  <cp:revision>681</cp:revision>
  <dcterms:created xsi:type="dcterms:W3CDTF">2010-05-23T14:28:12Z</dcterms:created>
  <dcterms:modified xsi:type="dcterms:W3CDTF">2026-10-02T06:36:49Z</dcterms:modified>
</cp:coreProperties>
</file>